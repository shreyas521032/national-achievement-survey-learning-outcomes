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7" r:id="rId2"/>
    <p:sldId id="258" r:id="rId3"/>
    <p:sldId id="259" r:id="rId4"/>
    <p:sldId id="270" r:id="rId5"/>
    <p:sldId id="284" r:id="rId6"/>
    <p:sldId id="285" r:id="rId7"/>
    <p:sldId id="286" r:id="rId8"/>
    <p:sldId id="287" r:id="rId9"/>
    <p:sldId id="289" r:id="rId10"/>
    <p:sldId id="290" r:id="rId11"/>
    <p:sldId id="291" r:id="rId12"/>
    <p:sldId id="292" r:id="rId13"/>
    <p:sldId id="294" r:id="rId14"/>
    <p:sldId id="293" r:id="rId15"/>
    <p:sldId id="295" r:id="rId16"/>
    <p:sldId id="296" r:id="rId17"/>
    <p:sldId id="297" r:id="rId18"/>
    <p:sldId id="298" r:id="rId19"/>
    <p:sldId id="299" r:id="rId20"/>
    <p:sldId id="300" r:id="rId21"/>
    <p:sldId id="301" r:id="rId22"/>
    <p:sldId id="302" r:id="rId23"/>
    <p:sldId id="303" r:id="rId24"/>
    <p:sldId id="304" r:id="rId25"/>
    <p:sldId id="308" r:id="rId26"/>
    <p:sldId id="307" r:id="rId27"/>
    <p:sldId id="305" r:id="rId28"/>
    <p:sldId id="306" r:id="rId29"/>
    <p:sldId id="309" r:id="rId30"/>
    <p:sldId id="283" r:id="rId31"/>
    <p:sldId id="26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91992E-1D20-4884-A7E6-F5DB2A8A536C}" type="datetimeFigureOut">
              <a:rPr lang="en-IN" smtClean="0"/>
              <a:t>29-10-2025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DEEF5-3A2C-45A4-999B-05D47CC6F097}" type="slidenum">
              <a:rPr lang="en-IN" smtClean="0"/>
              <a:t>‹#›</a:t>
            </a:fld>
            <a:endParaRPr lang="en-IN" dirty="0"/>
          </a:p>
        </p:txBody>
      </p:sp>
    </p:spTree>
    <p:extLst>
      <p:ext uri="{BB962C8B-B14F-4D97-AF65-F5344CB8AC3E}">
        <p14:creationId xmlns:p14="http://schemas.microsoft.com/office/powerpoint/2010/main" val="1840934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51" name="Google Shape;1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Tree>
    <p:extLst>
      <p:ext uri="{BB962C8B-B14F-4D97-AF65-F5344CB8AC3E}">
        <p14:creationId xmlns:p14="http://schemas.microsoft.com/office/powerpoint/2010/main" val="3224229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8DEEC-0C4F-91E5-46FA-19950A24D5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D8D51C-B607-EBCF-71EE-08B68A3C27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6B2EA7E-BC1B-E817-94AC-DF29287A6B23}"/>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5" name="Footer Placeholder 4">
            <a:extLst>
              <a:ext uri="{FF2B5EF4-FFF2-40B4-BE49-F238E27FC236}">
                <a16:creationId xmlns:a16="http://schemas.microsoft.com/office/drawing/2014/main" id="{5E0C14F2-3C72-861E-7935-107031F6988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5E7E6A4-A0E1-6148-CA30-4A7BB7F96E4A}"/>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2556611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A974F-CD2A-F370-9AC6-307346825D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7683C9-8976-D9C2-DD9F-F5EC9DE515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5D4C0C-B175-70F4-6AA7-C0D90546A453}"/>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5" name="Footer Placeholder 4">
            <a:extLst>
              <a:ext uri="{FF2B5EF4-FFF2-40B4-BE49-F238E27FC236}">
                <a16:creationId xmlns:a16="http://schemas.microsoft.com/office/drawing/2014/main" id="{B5C04173-349A-7B7F-F27C-6EC212A069D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4CF8E77-A28C-BD27-9E05-819FAFFF67C0}"/>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1859137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83080-C981-86AE-9243-9771EB478D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918A4E-08B9-78C7-994D-1108252FD9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C1C921-37D1-4433-9C53-9D05810D1C91}"/>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5" name="Footer Placeholder 4">
            <a:extLst>
              <a:ext uri="{FF2B5EF4-FFF2-40B4-BE49-F238E27FC236}">
                <a16:creationId xmlns:a16="http://schemas.microsoft.com/office/drawing/2014/main" id="{B3CD5191-BCF5-8BB9-B4E7-D2E68A88699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C4D9E09-53BB-5E98-1D14-5D3C93E16775}"/>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1437886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149BA-9096-AABB-4DDE-E0FB96087D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6D07E-0D77-D2C7-E0F4-8C2496203C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3325D8-9AF7-5C8C-BA4E-57B95750E0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E0400DA-248F-5CD4-81EB-7A15E9037D05}"/>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6" name="Footer Placeholder 5">
            <a:extLst>
              <a:ext uri="{FF2B5EF4-FFF2-40B4-BE49-F238E27FC236}">
                <a16:creationId xmlns:a16="http://schemas.microsoft.com/office/drawing/2014/main" id="{F9492D64-83B6-D394-8033-2564FD9B465E}"/>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1481D3D-6BF3-03AA-A753-347F90699561}"/>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3858422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786A1-D757-391E-653B-9039B1514A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6AFFE2-B9E1-6432-9348-ACED6B1BB6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D94D89-3DC9-74EA-1599-34E03DC91D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F58ECC-7F91-7DBE-3A6C-9E2F3EC6ED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7F3B15-6721-F7E4-F929-F3FADA3085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7B7C22-906A-D62B-BDFA-0336F495AA9D}"/>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8" name="Footer Placeholder 7">
            <a:extLst>
              <a:ext uri="{FF2B5EF4-FFF2-40B4-BE49-F238E27FC236}">
                <a16:creationId xmlns:a16="http://schemas.microsoft.com/office/drawing/2014/main" id="{5034A0AA-354D-F921-07A0-F94C8DD529F0}"/>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DA13C758-4104-AEF9-30BA-ADDA004EF10A}"/>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1540490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2B0BF-E3FB-6EC9-70DA-DE31FE118E7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E4EA1D-2684-BB4A-79E7-E99E8C960E59}"/>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4" name="Footer Placeholder 3">
            <a:extLst>
              <a:ext uri="{FF2B5EF4-FFF2-40B4-BE49-F238E27FC236}">
                <a16:creationId xmlns:a16="http://schemas.microsoft.com/office/drawing/2014/main" id="{9863B5B3-52F1-FE34-E053-FF1FB31470E9}"/>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34963724-6661-4E1B-6404-CC5B21EDDEA8}"/>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200397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8B898F-DF5D-6E4E-6ED1-9FC52C2C8C3D}"/>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3" name="Footer Placeholder 2">
            <a:extLst>
              <a:ext uri="{FF2B5EF4-FFF2-40B4-BE49-F238E27FC236}">
                <a16:creationId xmlns:a16="http://schemas.microsoft.com/office/drawing/2014/main" id="{FBFA5525-8C2E-588B-48EA-C656EC5A3685}"/>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45558C53-CDD4-A919-7872-B5DEAA516B93}"/>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1650791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3B7A5-B383-50EF-98BA-59BC238DEA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91F9EA-81FF-EAFF-37E9-7076E217AA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273D88-F53C-00BE-AC59-3C328DAF57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FBC20D-DE02-A762-1EB6-5C9DFA64B9FB}"/>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6" name="Footer Placeholder 5">
            <a:extLst>
              <a:ext uri="{FF2B5EF4-FFF2-40B4-BE49-F238E27FC236}">
                <a16:creationId xmlns:a16="http://schemas.microsoft.com/office/drawing/2014/main" id="{87454010-48E0-7482-DEF5-B7D54EDEBB6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CD8FD553-B8D5-6A13-44D6-17C3C4F6DA6A}"/>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372898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3B5E7-04D8-2D85-3993-DAB1A2E18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4613F3F-1358-5229-5397-99F4D0C583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32D87353-37DE-D0E8-98B3-483A230DA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9E2CEB-D268-7FA3-4BE7-992A01591FC8}"/>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6" name="Footer Placeholder 5">
            <a:extLst>
              <a:ext uri="{FF2B5EF4-FFF2-40B4-BE49-F238E27FC236}">
                <a16:creationId xmlns:a16="http://schemas.microsoft.com/office/drawing/2014/main" id="{E7527BD2-AB26-3048-77B8-09EC537006D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716FF999-D503-A9EE-B2B8-215128B31A01}"/>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1798433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605FE-C2D0-07C6-1551-12B5F957233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219D94-CCF5-6C02-061A-8ADB3F4EA4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9B62A7-8867-A832-B9F5-15D1A23492DD}"/>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5" name="Footer Placeholder 4">
            <a:extLst>
              <a:ext uri="{FF2B5EF4-FFF2-40B4-BE49-F238E27FC236}">
                <a16:creationId xmlns:a16="http://schemas.microsoft.com/office/drawing/2014/main" id="{C756744B-A347-A10E-B71E-6ED997C439B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5742989-B784-3FE2-56BD-E1DFE7469538}"/>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3628365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17013A-5780-AEE6-B09A-6C672C6424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7994DE-269D-CFF2-30FF-49931A0272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D6B363-C1F6-B9EF-08C0-8E4E22D36DB2}"/>
              </a:ext>
            </a:extLst>
          </p:cNvPr>
          <p:cNvSpPr>
            <a:spLocks noGrp="1"/>
          </p:cNvSpPr>
          <p:nvPr>
            <p:ph type="dt" sz="half" idx="10"/>
          </p:nvPr>
        </p:nvSpPr>
        <p:spPr/>
        <p:txBody>
          <a:bodyPr/>
          <a:lstStyle/>
          <a:p>
            <a:fld id="{642ECB5C-0D7F-46EC-9C44-2DE12748A440}" type="datetimeFigureOut">
              <a:rPr lang="en-IN" smtClean="0"/>
              <a:t>29-10-2025</a:t>
            </a:fld>
            <a:endParaRPr lang="en-IN" dirty="0"/>
          </a:p>
        </p:txBody>
      </p:sp>
      <p:sp>
        <p:nvSpPr>
          <p:cNvPr id="5" name="Footer Placeholder 4">
            <a:extLst>
              <a:ext uri="{FF2B5EF4-FFF2-40B4-BE49-F238E27FC236}">
                <a16:creationId xmlns:a16="http://schemas.microsoft.com/office/drawing/2014/main" id="{CFA29E82-4555-49CD-25C7-BF3DA3776F0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AE45458-6405-EA53-A2D6-8D8310F0164F}"/>
              </a:ext>
            </a:extLst>
          </p:cNvPr>
          <p:cNvSpPr>
            <a:spLocks noGrp="1"/>
          </p:cNvSpPr>
          <p:nvPr>
            <p:ph type="sldNum" sz="quarter" idx="12"/>
          </p:nvPr>
        </p:nvSpPr>
        <p:spPr/>
        <p:txBody>
          <a:bodyPr/>
          <a:lstStyle/>
          <a:p>
            <a:fld id="{22EA0B4F-8A56-4871-8393-2F283215A5EB}" type="slidenum">
              <a:rPr lang="en-IN" smtClean="0"/>
              <a:t>‹#›</a:t>
            </a:fld>
            <a:endParaRPr lang="en-IN" dirty="0"/>
          </a:p>
        </p:txBody>
      </p:sp>
    </p:spTree>
    <p:extLst>
      <p:ext uri="{BB962C8B-B14F-4D97-AF65-F5344CB8AC3E}">
        <p14:creationId xmlns:p14="http://schemas.microsoft.com/office/powerpoint/2010/main" val="1259819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33CAEF-C4C2-514B-0CCE-601882C92F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B2A06D-5B3E-D7F7-C56D-50C0EAF66F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071571-4689-22AB-C899-BC60CD4296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2ECB5C-0D7F-46EC-9C44-2DE12748A440}" type="datetimeFigureOut">
              <a:rPr lang="en-IN" smtClean="0"/>
              <a:t>29-10-2025</a:t>
            </a:fld>
            <a:endParaRPr lang="en-IN" dirty="0"/>
          </a:p>
        </p:txBody>
      </p:sp>
      <p:sp>
        <p:nvSpPr>
          <p:cNvPr id="5" name="Footer Placeholder 4">
            <a:extLst>
              <a:ext uri="{FF2B5EF4-FFF2-40B4-BE49-F238E27FC236}">
                <a16:creationId xmlns:a16="http://schemas.microsoft.com/office/drawing/2014/main" id="{825C4F90-0D2D-B480-0071-C54DC8393D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7F88A7BD-94ED-DB6D-4016-8DC84DBD88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EA0B4F-8A56-4871-8393-2F283215A5EB}" type="slidenum">
              <a:rPr lang="en-IN" smtClean="0"/>
              <a:t>‹#›</a:t>
            </a:fld>
            <a:endParaRPr lang="en-IN" dirty="0"/>
          </a:p>
        </p:txBody>
      </p:sp>
    </p:spTree>
    <p:extLst>
      <p:ext uri="{BB962C8B-B14F-4D97-AF65-F5344CB8AC3E}">
        <p14:creationId xmlns:p14="http://schemas.microsoft.com/office/powerpoint/2010/main" val="221561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xml"/><Relationship Id="rId5" Type="http://schemas.openxmlformats.org/officeDocument/2006/relationships/image" Target="../media/image4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ndap.niti.gov.in/dataset/7056" TargetMode="External"/><Relationship Id="rId7" Type="http://schemas.openxmlformats.org/officeDocument/2006/relationships/hyperlink" Target="https://shreyas-national-achievement-survey.streamlit.app/" TargetMode="External"/><Relationship Id="rId2" Type="http://schemas.openxmlformats.org/officeDocument/2006/relationships/hyperlink" Target="https://ndap.niti.gov.in/dataset/7057" TargetMode="External"/><Relationship Id="rId1" Type="http://schemas.openxmlformats.org/officeDocument/2006/relationships/slideLayout" Target="../slideLayouts/slideLayout3.xml"/><Relationship Id="rId6" Type="http://schemas.openxmlformats.org/officeDocument/2006/relationships/hyperlink" Target="https://github.com/Shreyas521032/National-Achievement-Survey-learning-outcomes" TargetMode="External"/><Relationship Id="rId5" Type="http://schemas.openxmlformats.org/officeDocument/2006/relationships/hyperlink" Target="https://indiadataportal.com/p/crime-statistics/r/ncrb-cii_sll_crimes-dt-yr-aaa" TargetMode="External"/><Relationship Id="rId4" Type="http://schemas.openxmlformats.org/officeDocument/2006/relationships/hyperlink" Target="https://ndap.niti.gov.in/dataset/7055"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
          <p:cNvSpPr txBox="1"/>
          <p:nvPr/>
        </p:nvSpPr>
        <p:spPr>
          <a:xfrm>
            <a:off x="2618502" y="5933496"/>
            <a:ext cx="6579900" cy="3693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000099"/>
                </a:solidFill>
                <a:latin typeface="Times New Roman"/>
                <a:ea typeface="Times New Roman"/>
                <a:cs typeface="Times New Roman"/>
                <a:sym typeface="Times New Roman"/>
              </a:rPr>
              <a:t>Symbiosis Institute of Technology, Nagpur Campus (SIT-N)</a:t>
            </a:r>
            <a:endParaRPr sz="1800" b="1" i="0" u="none" strike="noStrike" cap="none" dirty="0">
              <a:solidFill>
                <a:srgbClr val="000099"/>
              </a:solidFill>
              <a:latin typeface="Times New Roman"/>
              <a:ea typeface="Times New Roman"/>
              <a:cs typeface="Times New Roman"/>
              <a:sym typeface="Times New Roman"/>
            </a:endParaRPr>
          </a:p>
        </p:txBody>
      </p:sp>
      <p:sp>
        <p:nvSpPr>
          <p:cNvPr id="154" name="Google Shape;154;p1"/>
          <p:cNvSpPr txBox="1"/>
          <p:nvPr/>
        </p:nvSpPr>
        <p:spPr>
          <a:xfrm>
            <a:off x="1119843" y="751384"/>
            <a:ext cx="9927236" cy="2677616"/>
          </a:xfrm>
          <a:prstGeom prst="rect">
            <a:avLst/>
          </a:prstGeom>
          <a:noFill/>
          <a:ln>
            <a:noFill/>
          </a:ln>
        </p:spPr>
        <p:txBody>
          <a:bodyPr spcFirstLastPara="1" wrap="square" lIns="91425" tIns="45700" rIns="91425" bIns="45700" anchor="ctr" anchorCtr="0">
            <a:spAutoFit/>
          </a:bodyPr>
          <a:lstStyle/>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Department of Computer Science and Engineering</a:t>
            </a:r>
          </a:p>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CA4: Mini Project</a:t>
            </a:r>
          </a:p>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Data Science (0705210707) </a:t>
            </a:r>
          </a:p>
          <a:p>
            <a:pPr algn="ctr" eaLnBrk="0" hangingPunct="0">
              <a:defRPr/>
            </a:pPr>
            <a:r>
              <a:rPr lang="en-US" sz="2400" b="1" dirty="0">
                <a:solidFill>
                  <a:srgbClr val="FF0000"/>
                </a:solidFill>
                <a:latin typeface="Times New Roman" panose="02020603050405020304" pitchFamily="18" charset="0"/>
                <a:cs typeface="Times New Roman" panose="02020603050405020304" pitchFamily="18" charset="0"/>
              </a:rPr>
              <a:t>Session: 2025-26</a:t>
            </a:r>
          </a:p>
          <a:p>
            <a:pPr algn="ctr"/>
            <a:endParaRPr lang="en-US" sz="2400" b="1" dirty="0">
              <a:solidFill>
                <a:srgbClr val="FF0000"/>
              </a:solidFill>
              <a:latin typeface="Times New Roman" panose="02020603050405020304" pitchFamily="18" charset="0"/>
              <a:cs typeface="Times New Roman" panose="02020603050405020304" pitchFamily="18" charset="0"/>
            </a:endParaRPr>
          </a:p>
          <a:p>
            <a:pPr algn="ctr"/>
            <a:r>
              <a:rPr lang="en-US" sz="2400" b="1" dirty="0">
                <a:solidFill>
                  <a:srgbClr val="FF0000"/>
                </a:solidFill>
                <a:latin typeface="Times New Roman" panose="02020603050405020304" pitchFamily="18" charset="0"/>
                <a:cs typeface="Times New Roman" panose="02020603050405020304" pitchFamily="18" charset="0"/>
              </a:rPr>
              <a:t>TITLE OF PROJECT - Vidya Insights: Transforming Educational Data into Actionable Insights</a:t>
            </a:r>
          </a:p>
        </p:txBody>
      </p:sp>
      <p:sp>
        <p:nvSpPr>
          <p:cNvPr id="155" name="Google Shape;155;p1"/>
          <p:cNvSpPr txBox="1"/>
          <p:nvPr/>
        </p:nvSpPr>
        <p:spPr>
          <a:xfrm>
            <a:off x="1008178" y="3526876"/>
            <a:ext cx="3235524" cy="1631175"/>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Presented By:</a:t>
            </a:r>
          </a:p>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Name: Shreyas Kasture</a:t>
            </a:r>
          </a:p>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PRN: 22070521032</a:t>
            </a:r>
          </a:p>
          <a:p>
            <a:pPr marL="0" marR="0" lvl="0" indent="0" rtl="0">
              <a:lnSpc>
                <a:spcPct val="100000"/>
              </a:lnSpc>
              <a:spcBef>
                <a:spcPts val="0"/>
              </a:spcBef>
              <a:spcAft>
                <a:spcPts val="0"/>
              </a:spcAft>
              <a:buClr>
                <a:srgbClr val="000000"/>
              </a:buClr>
              <a:buSzPts val="2000"/>
              <a:buFont typeface="Arial"/>
              <a:buNone/>
            </a:pPr>
            <a:endParaRPr lang="en-US" sz="2000" dirty="0">
              <a:solidFill>
                <a:srgbClr val="000099"/>
              </a:solidFill>
              <a:latin typeface="Times New Roman"/>
              <a:ea typeface="Times New Roman"/>
              <a:cs typeface="Times New Roman"/>
              <a:sym typeface="Times New Roman"/>
            </a:endParaRPr>
          </a:p>
          <a:p>
            <a:pPr marL="0" marR="0" lvl="0" indent="0" rtl="0">
              <a:lnSpc>
                <a:spcPct val="100000"/>
              </a:lnSpc>
              <a:spcBef>
                <a:spcPts val="0"/>
              </a:spcBef>
              <a:spcAft>
                <a:spcPts val="0"/>
              </a:spcAft>
              <a:buClr>
                <a:srgbClr val="000000"/>
              </a:buClr>
              <a:buSzPts val="2000"/>
              <a:buFont typeface="Arial"/>
              <a:buNone/>
            </a:pPr>
            <a:endParaRPr sz="2000" b="0" i="0" u="none" strike="noStrike" cap="none" dirty="0">
              <a:solidFill>
                <a:srgbClr val="000099"/>
              </a:solidFill>
              <a:latin typeface="Times New Roman"/>
              <a:ea typeface="Times New Roman"/>
              <a:cs typeface="Times New Roman"/>
              <a:sym typeface="Times New Roman"/>
            </a:endParaRPr>
          </a:p>
        </p:txBody>
      </p:sp>
      <p:grpSp>
        <p:nvGrpSpPr>
          <p:cNvPr id="156" name="Google Shape;156;p1"/>
          <p:cNvGrpSpPr/>
          <p:nvPr/>
        </p:nvGrpSpPr>
        <p:grpSpPr>
          <a:xfrm>
            <a:off x="4232" y="6382984"/>
            <a:ext cx="12192000" cy="476250"/>
            <a:chOff x="0" y="6381750"/>
            <a:chExt cx="12192000" cy="476250"/>
          </a:xfrm>
        </p:grpSpPr>
        <p:sp>
          <p:nvSpPr>
            <p:cNvPr id="157" name="Google Shape;157;p1"/>
            <p:cNvSpPr/>
            <p:nvPr/>
          </p:nvSpPr>
          <p:spPr>
            <a:xfrm>
              <a:off x="0" y="6381750"/>
              <a:ext cx="12192000" cy="47625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grpSp>
          <p:nvGrpSpPr>
            <p:cNvPr id="158" name="Google Shape;158;p1"/>
            <p:cNvGrpSpPr/>
            <p:nvPr/>
          </p:nvGrpSpPr>
          <p:grpSpPr>
            <a:xfrm>
              <a:off x="160089" y="6467143"/>
              <a:ext cx="4087748" cy="273466"/>
              <a:chOff x="4366684" y="2926127"/>
              <a:chExt cx="3278335" cy="2571063"/>
            </a:xfrm>
          </p:grpSpPr>
          <p:sp>
            <p:nvSpPr>
              <p:cNvPr id="159" name="Google Shape;159;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0" name="Google Shape;160;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1" name="Google Shape;161;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2" name="Google Shape;162;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3" name="Google Shape;163;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4" name="Google Shape;164;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5" name="Google Shape;165;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6" name="Google Shape;166;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7" name="Google Shape;167;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8" name="Google Shape;168;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9" name="Google Shape;169;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0" name="Google Shape;170;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1" name="Google Shape;171;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2" name="Google Shape;172;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3" name="Google Shape;173;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4" name="Google Shape;174;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5" name="Google Shape;175;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6" name="Google Shape;176;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7" name="Google Shape;177;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8" name="Google Shape;178;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9" name="Google Shape;179;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0" name="Google Shape;180;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1" name="Google Shape;181;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2" name="Google Shape;182;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3" name="Google Shape;183;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4" name="Google Shape;184;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5" name="Google Shape;185;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6" name="Google Shape;186;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7" name="Google Shape;187;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8" name="Google Shape;188;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9" name="Google Shape;189;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0" name="Google Shape;190;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1" name="Google Shape;191;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2" name="Google Shape;192;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3" name="Google Shape;193;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grpSp>
      </p:grpSp>
      <p:pic>
        <p:nvPicPr>
          <p:cNvPr id="194" name="Google Shape;194;p1"/>
          <p:cNvPicPr preferRelativeResize="0"/>
          <p:nvPr/>
        </p:nvPicPr>
        <p:blipFill rotWithShape="1">
          <a:blip r:embed="rId3">
            <a:alphaModFix/>
          </a:blip>
          <a:srcRect l="2498" t="10584" r="1906" b="14835"/>
          <a:stretch/>
        </p:blipFill>
        <p:spPr>
          <a:xfrm>
            <a:off x="5014703" y="6416910"/>
            <a:ext cx="7150100" cy="431360"/>
          </a:xfrm>
          <a:prstGeom prst="rect">
            <a:avLst/>
          </a:prstGeom>
          <a:noFill/>
          <a:ln>
            <a:noFill/>
          </a:ln>
        </p:spPr>
      </p:pic>
      <p:grpSp>
        <p:nvGrpSpPr>
          <p:cNvPr id="195" name="Google Shape;195;p1"/>
          <p:cNvGrpSpPr/>
          <p:nvPr/>
        </p:nvGrpSpPr>
        <p:grpSpPr>
          <a:xfrm>
            <a:off x="166248" y="6490548"/>
            <a:ext cx="4247655" cy="273466"/>
            <a:chOff x="4366684" y="2926127"/>
            <a:chExt cx="3278335" cy="2571063"/>
          </a:xfrm>
        </p:grpSpPr>
        <p:sp>
          <p:nvSpPr>
            <p:cNvPr id="196" name="Google Shape;196;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197" name="Google Shape;197;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198" name="Google Shape;198;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199" name="Google Shape;199;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0" name="Google Shape;200;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1" name="Google Shape;201;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2" name="Google Shape;202;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3" name="Google Shape;203;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4" name="Google Shape;204;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5" name="Google Shape;205;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6" name="Google Shape;206;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7" name="Google Shape;207;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8" name="Google Shape;208;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09" name="Google Shape;209;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0" name="Google Shape;210;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1" name="Google Shape;211;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2" name="Google Shape;212;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3" name="Google Shape;213;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4" name="Google Shape;214;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5" name="Google Shape;215;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6" name="Google Shape;216;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7" name="Google Shape;217;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8" name="Google Shape;218;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19" name="Google Shape;219;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0" name="Google Shape;220;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1" name="Google Shape;221;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2" name="Google Shape;222;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3" name="Google Shape;223;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4" name="Google Shape;224;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5" name="Google Shape;225;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6" name="Google Shape;226;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7" name="Google Shape;227;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8" name="Google Shape;228;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29" name="Google Shape;229;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30" name="Google Shape;230;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grpSp>
      <p:pic>
        <p:nvPicPr>
          <p:cNvPr id="232" name="Google Shape;232;p1" descr="SCSCR"/>
          <p:cNvPicPr preferRelativeResize="0"/>
          <p:nvPr/>
        </p:nvPicPr>
        <p:blipFill rotWithShape="1">
          <a:blip r:embed="rId4">
            <a:alphaModFix/>
          </a:blip>
          <a:srcRect/>
          <a:stretch/>
        </p:blipFill>
        <p:spPr>
          <a:xfrm>
            <a:off x="11112500" y="62669"/>
            <a:ext cx="1047277" cy="1074253"/>
          </a:xfrm>
          <a:prstGeom prst="rect">
            <a:avLst/>
          </a:prstGeom>
          <a:noFill/>
          <a:ln>
            <a:noFill/>
          </a:ln>
        </p:spPr>
      </p:pic>
      <p:grpSp>
        <p:nvGrpSpPr>
          <p:cNvPr id="233" name="Google Shape;233;p1"/>
          <p:cNvGrpSpPr/>
          <p:nvPr/>
        </p:nvGrpSpPr>
        <p:grpSpPr>
          <a:xfrm>
            <a:off x="4232" y="6382984"/>
            <a:ext cx="12192000" cy="476250"/>
            <a:chOff x="0" y="6381750"/>
            <a:chExt cx="12192000" cy="476250"/>
          </a:xfrm>
        </p:grpSpPr>
        <p:sp>
          <p:nvSpPr>
            <p:cNvPr id="234" name="Google Shape;234;p1"/>
            <p:cNvSpPr/>
            <p:nvPr/>
          </p:nvSpPr>
          <p:spPr>
            <a:xfrm>
              <a:off x="0" y="6381750"/>
              <a:ext cx="12192000" cy="47625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grpSp>
          <p:nvGrpSpPr>
            <p:cNvPr id="235" name="Google Shape;235;p1"/>
            <p:cNvGrpSpPr/>
            <p:nvPr/>
          </p:nvGrpSpPr>
          <p:grpSpPr>
            <a:xfrm>
              <a:off x="160089" y="6467143"/>
              <a:ext cx="4087748" cy="273466"/>
              <a:chOff x="4366684" y="2926127"/>
              <a:chExt cx="3278335" cy="2571063"/>
            </a:xfrm>
          </p:grpSpPr>
          <p:sp>
            <p:nvSpPr>
              <p:cNvPr id="236" name="Google Shape;236;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37" name="Google Shape;237;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38" name="Google Shape;238;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39" name="Google Shape;239;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0" name="Google Shape;240;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1" name="Google Shape;241;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2" name="Google Shape;242;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3" name="Google Shape;243;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4" name="Google Shape;244;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5" name="Google Shape;245;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6" name="Google Shape;246;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7" name="Google Shape;247;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8" name="Google Shape;248;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9" name="Google Shape;249;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0" name="Google Shape;250;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1" name="Google Shape;251;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2" name="Google Shape;252;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3" name="Google Shape;253;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4" name="Google Shape;254;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5" name="Google Shape;255;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6" name="Google Shape;256;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7" name="Google Shape;257;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8" name="Google Shape;258;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9" name="Google Shape;259;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0" name="Google Shape;260;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1" name="Google Shape;261;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2" name="Google Shape;262;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3" name="Google Shape;263;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4" name="Google Shape;264;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5" name="Google Shape;265;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6" name="Google Shape;266;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7" name="Google Shape;267;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8" name="Google Shape;268;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9" name="Google Shape;269;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70" name="Google Shape;270;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C00000"/>
                  </a:solidFill>
                  <a:latin typeface="Times New Roman"/>
                  <a:ea typeface="Times New Roman"/>
                  <a:cs typeface="Times New Roman"/>
                  <a:sym typeface="Times New Roman"/>
                </a:endParaRPr>
              </a:p>
            </p:txBody>
          </p:sp>
        </p:grpSp>
      </p:grpSp>
      <p:grpSp>
        <p:nvGrpSpPr>
          <p:cNvPr id="271" name="Google Shape;271;p1"/>
          <p:cNvGrpSpPr/>
          <p:nvPr/>
        </p:nvGrpSpPr>
        <p:grpSpPr>
          <a:xfrm>
            <a:off x="450920" y="6490548"/>
            <a:ext cx="4247655" cy="273466"/>
            <a:chOff x="4366684" y="2926127"/>
            <a:chExt cx="3278335" cy="2571063"/>
          </a:xfrm>
        </p:grpSpPr>
        <p:sp>
          <p:nvSpPr>
            <p:cNvPr id="272" name="Google Shape;272;p1"/>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3" name="Google Shape;273;p1"/>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4" name="Google Shape;274;p1"/>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5" name="Google Shape;275;p1"/>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6" name="Google Shape;276;p1"/>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7" name="Google Shape;277;p1"/>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8" name="Google Shape;278;p1"/>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79" name="Google Shape;279;p1"/>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0" name="Google Shape;280;p1"/>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1" name="Google Shape;281;p1"/>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2" name="Google Shape;282;p1"/>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3" name="Google Shape;283;p1"/>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4" name="Google Shape;284;p1"/>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5" name="Google Shape;285;p1"/>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6" name="Google Shape;286;p1"/>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7" name="Google Shape;287;p1"/>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8" name="Google Shape;288;p1"/>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89" name="Google Shape;289;p1"/>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0" name="Google Shape;290;p1"/>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1" name="Google Shape;291;p1"/>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2" name="Google Shape;292;p1"/>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3" name="Google Shape;293;p1"/>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4" name="Google Shape;294;p1"/>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5" name="Google Shape;295;p1"/>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6" name="Google Shape;296;p1"/>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7" name="Google Shape;297;p1"/>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8" name="Google Shape;298;p1"/>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299" name="Google Shape;299;p1"/>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0" name="Google Shape;300;p1"/>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1" name="Google Shape;301;p1"/>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2" name="Google Shape;302;p1"/>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3" name="Google Shape;303;p1"/>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4" name="Google Shape;304;p1"/>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5" name="Google Shape;305;p1"/>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306" name="Google Shape;306;p1"/>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grpSp>
      <p:pic>
        <p:nvPicPr>
          <p:cNvPr id="308" name="Picture 307">
            <a:extLst>
              <a:ext uri="{FF2B5EF4-FFF2-40B4-BE49-F238E27FC236}">
                <a16:creationId xmlns:a16="http://schemas.microsoft.com/office/drawing/2014/main" id="{A095A2E8-533C-7DF9-5C5D-9BAF98CB5E5D}"/>
              </a:ext>
            </a:extLst>
          </p:cNvPr>
          <p:cNvPicPr>
            <a:picLocks noChangeAspect="1"/>
          </p:cNvPicPr>
          <p:nvPr/>
        </p:nvPicPr>
        <p:blipFill>
          <a:blip r:embed="rId5"/>
          <a:stretch>
            <a:fillRect/>
          </a:stretch>
        </p:blipFill>
        <p:spPr>
          <a:xfrm>
            <a:off x="1070691" y="165315"/>
            <a:ext cx="10025540" cy="488193"/>
          </a:xfrm>
          <a:prstGeom prst="rect">
            <a:avLst/>
          </a:prstGeom>
        </p:spPr>
      </p:pic>
      <p:pic>
        <p:nvPicPr>
          <p:cNvPr id="309" name="Picture 308">
            <a:extLst>
              <a:ext uri="{FF2B5EF4-FFF2-40B4-BE49-F238E27FC236}">
                <a16:creationId xmlns:a16="http://schemas.microsoft.com/office/drawing/2014/main" id="{1D6B6D71-EB36-E192-D618-E38FFDDA937E}"/>
              </a:ext>
            </a:extLst>
          </p:cNvPr>
          <p:cNvPicPr>
            <a:picLocks noChangeAspect="1"/>
          </p:cNvPicPr>
          <p:nvPr/>
        </p:nvPicPr>
        <p:blipFill>
          <a:blip r:embed="rId6"/>
          <a:stretch>
            <a:fillRect/>
          </a:stretch>
        </p:blipFill>
        <p:spPr>
          <a:xfrm>
            <a:off x="162115" y="83039"/>
            <a:ext cx="751095" cy="830622"/>
          </a:xfrm>
          <a:prstGeom prst="rect">
            <a:avLst/>
          </a:prstGeom>
        </p:spPr>
      </p:pic>
      <p:sp>
        <p:nvSpPr>
          <p:cNvPr id="231" name="Google Shape;307;p1"/>
          <p:cNvSpPr txBox="1"/>
          <p:nvPr/>
        </p:nvSpPr>
        <p:spPr>
          <a:xfrm>
            <a:off x="7948299" y="3429000"/>
            <a:ext cx="3687839" cy="2246729"/>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Mentor: </a:t>
            </a:r>
          </a:p>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Name: Dr. Piyush Chauhan</a:t>
            </a:r>
          </a:p>
          <a:p>
            <a:pPr marL="0" marR="0" lvl="0" indent="0" algn="ctr" rtl="0">
              <a:lnSpc>
                <a:spcPct val="100000"/>
              </a:lnSpc>
              <a:spcBef>
                <a:spcPts val="0"/>
              </a:spcBef>
              <a:spcAft>
                <a:spcPts val="0"/>
              </a:spcAft>
              <a:buClr>
                <a:srgbClr val="000000"/>
              </a:buClr>
              <a:buSzPts val="2000"/>
              <a:buFont typeface="Arial"/>
              <a:buNone/>
            </a:pPr>
            <a:r>
              <a:rPr lang="en-US" sz="2000" dirty="0">
                <a:solidFill>
                  <a:srgbClr val="000099"/>
                </a:solidFill>
                <a:latin typeface="Times New Roman"/>
                <a:ea typeface="Times New Roman"/>
                <a:cs typeface="Times New Roman"/>
                <a:sym typeface="Times New Roman"/>
              </a:rPr>
              <a:t>Designation: Associate Professor  (Examination Incharge)</a:t>
            </a:r>
          </a:p>
          <a:p>
            <a:pPr algn="ctr">
              <a:buSzPts val="2000"/>
            </a:pPr>
            <a:r>
              <a:rPr lang="en-US" sz="2000" dirty="0">
                <a:solidFill>
                  <a:srgbClr val="000099"/>
                </a:solidFill>
                <a:latin typeface="Times New Roman"/>
                <a:ea typeface="Times New Roman"/>
                <a:cs typeface="Times New Roman"/>
                <a:sym typeface="Times New Roman"/>
              </a:rPr>
              <a:t>Department of Computer Science &amp; Engineering</a:t>
            </a:r>
          </a:p>
          <a:p>
            <a:pPr marL="0" marR="0" lvl="0" indent="0" algn="ctr" rtl="0">
              <a:lnSpc>
                <a:spcPct val="100000"/>
              </a:lnSpc>
              <a:spcBef>
                <a:spcPts val="0"/>
              </a:spcBef>
              <a:spcAft>
                <a:spcPts val="0"/>
              </a:spcAft>
              <a:buClr>
                <a:srgbClr val="000000"/>
              </a:buClr>
              <a:buSzPts val="2000"/>
              <a:buFont typeface="Arial"/>
              <a:buNone/>
            </a:pPr>
            <a:endParaRPr lang="en-US" sz="2000" b="0" i="0" u="none" strike="noStrike" cap="none" dirty="0">
              <a:solidFill>
                <a:srgbClr val="000099"/>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09981" y="955688"/>
            <a:ext cx="10515600" cy="5157408"/>
          </a:xfrm>
        </p:spPr>
        <p:txBody>
          <a:bodyPr>
            <a:normAutofit fontScale="92500" lnSpcReduction="20000"/>
          </a:bodyPr>
          <a:lstStyle/>
          <a:p>
            <a:pPr marL="457200" indent="-457200">
              <a:lnSpc>
                <a:spcPct val="150000"/>
              </a:lnSpc>
              <a:spcBef>
                <a:spcPts val="480"/>
              </a:spcBef>
              <a:buClr>
                <a:schemeClr val="dk1"/>
              </a:buClr>
              <a:buFont typeface="+mj-lt"/>
              <a:buAutoNum type="arabicPeriod"/>
            </a:pPr>
            <a:r>
              <a:rPr lang="en-US" sz="1400" dirty="0">
                <a:solidFill>
                  <a:schemeClr val="tx2">
                    <a:lumMod val="10000"/>
                  </a:schemeClr>
                </a:solidFill>
                <a:latin typeface="Times New Roman" panose="02020603050405020304" pitchFamily="18" charset="0"/>
                <a:cs typeface="Times New Roman" panose="02020603050405020304" pitchFamily="18" charset="0"/>
              </a:rPr>
              <a:t>Problem Statement</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Dataset Overview</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Data Structure and Indicators</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Data Preprocessing</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Exploratory Data Analysis (EDA)</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Key Findings and Insights of EDA</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Simple Linear Regression Plots</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Multiple Linear Regression Plots</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K-Means Clustering Plots</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Classification Model Plots</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Deep Learning Plots</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Comparison of Model Results</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Major Insights and Relationships</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Collaborated Dataset Overview</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Collaborated Dataset Insights</a:t>
            </a:r>
          </a:p>
          <a:p>
            <a:pPr marL="457200" indent="-457200">
              <a:lnSpc>
                <a:spcPct val="150000"/>
              </a:lnSpc>
              <a:spcBef>
                <a:spcPts val="480"/>
              </a:spcBef>
              <a:buClr>
                <a:schemeClr val="dk1"/>
              </a:buClr>
              <a:buFont typeface="+mj-lt"/>
              <a:buAutoNum type="arabicPeriod"/>
            </a:pPr>
            <a:r>
              <a:rPr lang="en-US" sz="1400" dirty="0">
                <a:solidFill>
                  <a:schemeClr val="tx1"/>
                </a:solidFill>
                <a:latin typeface="Times New Roman" panose="02020603050405020304" pitchFamily="18" charset="0"/>
                <a:cs typeface="Times New Roman" panose="02020603050405020304" pitchFamily="18" charset="0"/>
              </a:rPr>
              <a:t>References</a:t>
            </a:r>
          </a:p>
        </p:txBody>
      </p:sp>
      <p:pic>
        <p:nvPicPr>
          <p:cNvPr id="4" name="Google Shape;461;g276d8240beb_2_4298"/>
          <p:cNvPicPr preferRelativeResize="0"/>
          <p:nvPr/>
        </p:nvPicPr>
        <p:blipFill rotWithShape="1">
          <a:blip r:embed="rId2">
            <a:alphaModFix/>
          </a:blip>
          <a:srcRect/>
          <a:stretch/>
        </p:blipFill>
        <p:spPr>
          <a:xfrm>
            <a:off x="10785927" y="27613"/>
            <a:ext cx="1378885" cy="590424"/>
          </a:xfrm>
          <a:prstGeom prst="rect">
            <a:avLst/>
          </a:prstGeom>
          <a:noFill/>
          <a:ln>
            <a:noFill/>
          </a:ln>
        </p:spPr>
      </p:pic>
      <p:grpSp>
        <p:nvGrpSpPr>
          <p:cNvPr id="5" name="Google Shape;312;g276d8240beb_2_4298"/>
          <p:cNvGrpSpPr/>
          <p:nvPr/>
        </p:nvGrpSpPr>
        <p:grpSpPr>
          <a:xfrm>
            <a:off x="4232" y="6382984"/>
            <a:ext cx="12192000" cy="476250"/>
            <a:chOff x="0" y="6381750"/>
            <a:chExt cx="12192000" cy="476250"/>
          </a:xfrm>
        </p:grpSpPr>
        <p:sp>
          <p:nvSpPr>
            <p:cNvPr id="6" name="Google Shape;313;g276d8240beb_2_4298"/>
            <p:cNvSpPr/>
            <p:nvPr/>
          </p:nvSpPr>
          <p:spPr>
            <a:xfrm>
              <a:off x="0" y="6381750"/>
              <a:ext cx="12192000" cy="47625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grpSp>
          <p:nvGrpSpPr>
            <p:cNvPr id="7" name="Google Shape;314;g276d8240beb_2_4298"/>
            <p:cNvGrpSpPr/>
            <p:nvPr/>
          </p:nvGrpSpPr>
          <p:grpSpPr>
            <a:xfrm>
              <a:off x="160089" y="6467143"/>
              <a:ext cx="4087748" cy="273466"/>
              <a:chOff x="4366684" y="2926127"/>
              <a:chExt cx="3278335" cy="2571063"/>
            </a:xfrm>
          </p:grpSpPr>
          <p:sp>
            <p:nvSpPr>
              <p:cNvPr id="8" name="Google Shape;315;g276d8240beb_2_4298"/>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9" name="Google Shape;316;g276d8240beb_2_4298"/>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0" name="Google Shape;317;g276d8240beb_2_4298"/>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1" name="Google Shape;318;g276d8240beb_2_4298"/>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2" name="Google Shape;319;g276d8240beb_2_4298"/>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3" name="Google Shape;320;g276d8240beb_2_4298"/>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4" name="Google Shape;321;g276d8240beb_2_4298"/>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5" name="Google Shape;322;g276d8240beb_2_4298"/>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 name="Google Shape;323;g276d8240beb_2_4298"/>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 name="Google Shape;324;g276d8240beb_2_4298"/>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 name="Google Shape;325;g276d8240beb_2_4298"/>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 name="Google Shape;326;g276d8240beb_2_4298"/>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0" name="Google Shape;327;g276d8240beb_2_4298"/>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1" name="Google Shape;328;g276d8240beb_2_4298"/>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2" name="Google Shape;329;g276d8240beb_2_4298"/>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3" name="Google Shape;330;g276d8240beb_2_4298"/>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 name="Google Shape;331;g276d8240beb_2_4298"/>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 name="Google Shape;332;g276d8240beb_2_4298"/>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 name="Google Shape;333;g276d8240beb_2_4298"/>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7" name="Google Shape;334;g276d8240beb_2_4298"/>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8" name="Google Shape;335;g276d8240beb_2_4298"/>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9" name="Google Shape;336;g276d8240beb_2_4298"/>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0" name="Google Shape;337;g276d8240beb_2_4298"/>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1" name="Google Shape;338;g276d8240beb_2_4298"/>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2" name="Google Shape;339;g276d8240beb_2_4298"/>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3" name="Google Shape;340;g276d8240beb_2_4298"/>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4" name="Google Shape;341;g276d8240beb_2_4298"/>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5" name="Google Shape;342;g276d8240beb_2_4298"/>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6" name="Google Shape;343;g276d8240beb_2_4298"/>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7" name="Google Shape;344;g276d8240beb_2_4298"/>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8" name="Google Shape;345;g276d8240beb_2_4298"/>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9" name="Google Shape;346;g276d8240beb_2_4298"/>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40" name="Google Shape;347;g276d8240beb_2_4298"/>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41" name="Google Shape;348;g276d8240beb_2_4298"/>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42" name="Google Shape;349;g276d8240beb_2_4298"/>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grpSp>
      </p:grpSp>
      <p:grpSp>
        <p:nvGrpSpPr>
          <p:cNvPr id="43" name="Google Shape;351;g276d8240beb_2_4298"/>
          <p:cNvGrpSpPr/>
          <p:nvPr/>
        </p:nvGrpSpPr>
        <p:grpSpPr>
          <a:xfrm>
            <a:off x="166248" y="6490548"/>
            <a:ext cx="4247655" cy="273466"/>
            <a:chOff x="4366684" y="2926127"/>
            <a:chExt cx="3278335" cy="2571063"/>
          </a:xfrm>
        </p:grpSpPr>
        <p:sp>
          <p:nvSpPr>
            <p:cNvPr id="44" name="Google Shape;352;g276d8240beb_2_4298"/>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5" name="Google Shape;353;g276d8240beb_2_4298"/>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6" name="Google Shape;354;g276d8240beb_2_4298"/>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7" name="Google Shape;355;g276d8240beb_2_4298"/>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8" name="Google Shape;356;g276d8240beb_2_4298"/>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9" name="Google Shape;357;g276d8240beb_2_4298"/>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0" name="Google Shape;358;g276d8240beb_2_4298"/>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1" name="Google Shape;359;g276d8240beb_2_4298"/>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2" name="Google Shape;360;g276d8240beb_2_4298"/>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3" name="Google Shape;361;g276d8240beb_2_4298"/>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4" name="Google Shape;362;g276d8240beb_2_4298"/>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5" name="Google Shape;363;g276d8240beb_2_4298"/>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6" name="Google Shape;364;g276d8240beb_2_4298"/>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7" name="Google Shape;365;g276d8240beb_2_4298"/>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8" name="Google Shape;366;g276d8240beb_2_4298"/>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9" name="Google Shape;367;g276d8240beb_2_4298"/>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0" name="Google Shape;368;g276d8240beb_2_4298"/>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1" name="Google Shape;369;g276d8240beb_2_4298"/>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2" name="Google Shape;370;g276d8240beb_2_4298"/>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3" name="Google Shape;371;g276d8240beb_2_4298"/>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4" name="Google Shape;372;g276d8240beb_2_4298"/>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5" name="Google Shape;373;g276d8240beb_2_4298"/>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6" name="Google Shape;374;g276d8240beb_2_4298"/>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7" name="Google Shape;375;g276d8240beb_2_4298"/>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8" name="Google Shape;376;g276d8240beb_2_4298"/>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9" name="Google Shape;377;g276d8240beb_2_4298"/>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0" name="Google Shape;378;g276d8240beb_2_4298"/>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1" name="Google Shape;379;g276d8240beb_2_4298"/>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2" name="Google Shape;380;g276d8240beb_2_4298"/>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3" name="Google Shape;381;g276d8240beb_2_4298"/>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4" name="Google Shape;382;g276d8240beb_2_4298"/>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5" name="Google Shape;383;g276d8240beb_2_4298"/>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6" name="Google Shape;384;g276d8240beb_2_4298"/>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7" name="Google Shape;385;g276d8240beb_2_4298"/>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8" name="Google Shape;386;g276d8240beb_2_4298"/>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grpSp>
      <p:sp>
        <p:nvSpPr>
          <p:cNvPr id="79" name="Rectangle 78">
            <a:extLst>
              <a:ext uri="{FF2B5EF4-FFF2-40B4-BE49-F238E27FC236}">
                <a16:creationId xmlns:a16="http://schemas.microsoft.com/office/drawing/2014/main" id="{5663B7E7-57B5-02EE-44F2-352E5CD5360E}"/>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Presentation Outline:</a:t>
            </a:r>
          </a:p>
        </p:txBody>
      </p:sp>
    </p:spTree>
    <p:extLst>
      <p:ext uri="{BB962C8B-B14F-4D97-AF65-F5344CB8AC3E}">
        <p14:creationId xmlns:p14="http://schemas.microsoft.com/office/powerpoint/2010/main" val="780604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Problem Statement</a:t>
            </a:r>
          </a:p>
        </p:txBody>
      </p:sp>
      <p:sp>
        <p:nvSpPr>
          <p:cNvPr id="7" name="TextBox 6">
            <a:extLst>
              <a:ext uri="{FF2B5EF4-FFF2-40B4-BE49-F238E27FC236}">
                <a16:creationId xmlns:a16="http://schemas.microsoft.com/office/drawing/2014/main" id="{08D3F5ED-3EEE-A044-92DC-46C868F813A4}"/>
              </a:ext>
            </a:extLst>
          </p:cNvPr>
          <p:cNvSpPr txBox="1"/>
          <p:nvPr/>
        </p:nvSpPr>
        <p:spPr>
          <a:xfrm>
            <a:off x="553593" y="1390880"/>
            <a:ext cx="11084814" cy="3785652"/>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India’s vast and diverse educational landscape, ensuring uniform learning outcomes across regions remains a major challenge. The </a:t>
            </a:r>
            <a:r>
              <a:rPr lang="en-US" sz="2000" b="1" dirty="0">
                <a:latin typeface="Times New Roman" panose="02020603050405020304" pitchFamily="18" charset="0"/>
                <a:cs typeface="Times New Roman" panose="02020603050405020304" pitchFamily="18" charset="0"/>
              </a:rPr>
              <a:t>National Achievement Survey (NAS) </a:t>
            </a:r>
            <a:r>
              <a:rPr lang="en-US" sz="2000" dirty="0">
                <a:latin typeface="Times New Roman" panose="02020603050405020304" pitchFamily="18" charset="0"/>
                <a:cs typeface="Times New Roman" panose="02020603050405020304" pitchFamily="18" charset="0"/>
              </a:rPr>
              <a:t>highlights significant disparities in student performance across districts and states, with certain subjects and learning outcomes consistently underperforming despite national educational reforms. However, the current analysis often </a:t>
            </a:r>
            <a:r>
              <a:rPr lang="en-US" sz="2000" b="1" dirty="0">
                <a:latin typeface="Times New Roman" panose="02020603050405020304" pitchFamily="18" charset="0"/>
                <a:cs typeface="Times New Roman" panose="02020603050405020304" pitchFamily="18" charset="0"/>
              </a:rPr>
              <a:t>stops at descriptive statistics, lacking predictive foresight</a:t>
            </a:r>
            <a:r>
              <a:rPr lang="en-US" sz="2000" dirty="0">
                <a:latin typeface="Times New Roman" panose="02020603050405020304" pitchFamily="18" charset="0"/>
                <a:cs typeface="Times New Roman" panose="02020603050405020304" pitchFamily="18" charset="0"/>
              </a:rPr>
              <a:t>. There is a critical need for an intelligent, data-driven solution that can not only identify low-performing regions but also </a:t>
            </a:r>
            <a:r>
              <a:rPr lang="en-US" sz="2000" b="1" dirty="0">
                <a:latin typeface="Times New Roman" panose="02020603050405020304" pitchFamily="18" charset="0"/>
                <a:cs typeface="Times New Roman" panose="02020603050405020304" pitchFamily="18" charset="0"/>
              </a:rPr>
              <a:t>predict future student performance </a:t>
            </a:r>
            <a:r>
              <a:rPr lang="en-US" sz="2000" dirty="0">
                <a:latin typeface="Times New Roman" panose="02020603050405020304" pitchFamily="18" charset="0"/>
                <a:cs typeface="Times New Roman" panose="02020603050405020304" pitchFamily="18" charset="0"/>
              </a:rPr>
              <a:t>based on factors like the number of schools, students surveyed, past performance trends, and subject-specific competencies. By leveraging machine learning techniques on the NAS dataset, we can develop predictive models that forecast educational outcomes, uncover key drivers of performance gaps, and inform targeted interventions, ultimately </a:t>
            </a:r>
            <a:r>
              <a:rPr lang="en-US" sz="2000" b="1" dirty="0">
                <a:latin typeface="Times New Roman" panose="02020603050405020304" pitchFamily="18" charset="0"/>
                <a:cs typeface="Times New Roman" panose="02020603050405020304" pitchFamily="18" charset="0"/>
              </a:rPr>
              <a:t>helping policymakers, educators, and stakeholders design effective, evidence-based strategies </a:t>
            </a:r>
            <a:r>
              <a:rPr lang="en-US" sz="2000" dirty="0">
                <a:latin typeface="Times New Roman" panose="02020603050405020304" pitchFamily="18" charset="0"/>
                <a:cs typeface="Times New Roman" panose="02020603050405020304" pitchFamily="18" charset="0"/>
              </a:rPr>
              <a:t>to improve learning outcomes and bridge regional disparities in education.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243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C5F3F-10ED-2DCC-C3F9-4B49ABC6200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1B11681-EEE0-66A0-6F09-71769925C37C}"/>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Dataset Overview</a:t>
            </a:r>
          </a:p>
        </p:txBody>
      </p:sp>
      <p:sp>
        <p:nvSpPr>
          <p:cNvPr id="9" name="Rectangle 6">
            <a:extLst>
              <a:ext uri="{FF2B5EF4-FFF2-40B4-BE49-F238E27FC236}">
                <a16:creationId xmlns:a16="http://schemas.microsoft.com/office/drawing/2014/main" id="{2719C456-FE07-EBED-A7CF-340B94CEDFEE}"/>
              </a:ext>
            </a:extLst>
          </p:cNvPr>
          <p:cNvSpPr>
            <a:spLocks noChangeArrowheads="1"/>
          </p:cNvSpPr>
          <p:nvPr/>
        </p:nvSpPr>
        <p:spPr bwMode="auto">
          <a:xfrm>
            <a:off x="661944" y="768096"/>
            <a:ext cx="10868111"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National Achievement Survey (NAS) is a large-scale assessment conducted across India to evaluate the learning outcomes of students in various classes. This dataset provides a detailed analysis of student performance in </a:t>
            </a:r>
            <a:r>
              <a:rPr lang="en-US" sz="2000" b="1" dirty="0">
                <a:latin typeface="Times New Roman" panose="02020603050405020304" pitchFamily="18" charset="0"/>
                <a:cs typeface="Times New Roman" panose="02020603050405020304" pitchFamily="18" charset="0"/>
              </a:rPr>
              <a:t>key subjects like Language, Mathematics, Science, and Social Science </a:t>
            </a:r>
            <a:r>
              <a:rPr lang="en-US" sz="2000" dirty="0">
                <a:latin typeface="Times New Roman" panose="02020603050405020304" pitchFamily="18" charset="0"/>
                <a:cs typeface="Times New Roman" panose="02020603050405020304" pitchFamily="18" charset="0"/>
              </a:rPr>
              <a:t>for class 3, 5 and 8.</a:t>
            </a:r>
          </a:p>
          <a:p>
            <a:pPr marL="285750" indent="-285750" algn="just" eaLnBrk="0" fontAlgn="base" hangingPunct="0">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highlights areas where students are excelling and identifies gaps that need intervention. By analyzing trends and patterns in learning outcomes, this report supports the </a:t>
            </a:r>
            <a:r>
              <a:rPr lang="en-US" sz="2000" b="1" dirty="0">
                <a:latin typeface="Times New Roman" panose="02020603050405020304" pitchFamily="18" charset="0"/>
                <a:cs typeface="Times New Roman" panose="02020603050405020304" pitchFamily="18" charset="0"/>
              </a:rPr>
              <a:t>National Education Policy (NEP) 2020</a:t>
            </a:r>
            <a:r>
              <a:rPr lang="en-US" sz="2000" dirty="0">
                <a:latin typeface="Times New Roman" panose="02020603050405020304" pitchFamily="18" charset="0"/>
                <a:cs typeface="Times New Roman" panose="02020603050405020304" pitchFamily="18" charset="0"/>
              </a:rPr>
              <a:t> in shaping targeted improvements in teaching methodologies It also aids in designing </a:t>
            </a:r>
            <a:r>
              <a:rPr lang="en-US" sz="2000" b="1" dirty="0">
                <a:latin typeface="Times New Roman" panose="02020603050405020304" pitchFamily="18" charset="0"/>
                <a:cs typeface="Times New Roman" panose="02020603050405020304" pitchFamily="18" charset="0"/>
              </a:rPr>
              <a:t>remedial measures </a:t>
            </a:r>
            <a:r>
              <a:rPr lang="en-US" sz="2000" dirty="0">
                <a:latin typeface="Times New Roman" panose="02020603050405020304" pitchFamily="18" charset="0"/>
                <a:cs typeface="Times New Roman" panose="02020603050405020304" pitchFamily="18" charset="0"/>
              </a:rPr>
              <a:t>to strengthen foundational literacy and numeracy, which are crucial for students' future academic success.</a:t>
            </a:r>
          </a:p>
          <a:p>
            <a:pPr marL="285750" indent="-285750" algn="just" eaLnBrk="0" fontAlgn="base" hangingPunct="0">
              <a:spcBef>
                <a:spcPct val="0"/>
              </a:spcBef>
              <a:spcAft>
                <a:spcPct val="0"/>
              </a:spcAf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Dataset Profile</a:t>
            </a:r>
          </a:p>
          <a:p>
            <a:pPr marL="342900" indent="-342900" algn="just" eaLnBrk="0" fontAlgn="base" hangingPunct="0">
              <a:spcBef>
                <a:spcPct val="0"/>
              </a:spcBef>
              <a:spcAft>
                <a:spcPct val="0"/>
              </a:spcAf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Data Published By: </a:t>
            </a:r>
            <a:r>
              <a:rPr lang="en-US" sz="2000" dirty="0">
                <a:latin typeface="Times New Roman" panose="02020603050405020304" pitchFamily="18" charset="0"/>
                <a:cs typeface="Times New Roman" panose="02020603050405020304" pitchFamily="18" charset="0"/>
              </a:rPr>
              <a:t>Ministry of Education</a:t>
            </a:r>
          </a:p>
          <a:p>
            <a:pPr marL="342900" indent="-342900" algn="just" eaLnBrk="0" fontAlgn="base" hangingPunct="0">
              <a:spcBef>
                <a:spcPct val="0"/>
              </a:spcBef>
              <a:spcAft>
                <a:spcPct val="0"/>
              </a:spcAf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Sector: </a:t>
            </a:r>
            <a:r>
              <a:rPr lang="en-US" sz="2000" dirty="0">
                <a:latin typeface="Times New Roman" panose="02020603050405020304" pitchFamily="18" charset="0"/>
                <a:cs typeface="Times New Roman" panose="02020603050405020304" pitchFamily="18" charset="0"/>
              </a:rPr>
              <a:t>Education and Training</a:t>
            </a:r>
          </a:p>
          <a:p>
            <a:pPr marL="342900" indent="-342900" algn="just" eaLnBrk="0" fontAlgn="base" hangingPunct="0">
              <a:spcBef>
                <a:spcPct val="0"/>
              </a:spcBef>
              <a:spcAft>
                <a:spcPct val="0"/>
              </a:spcAf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Dataset Hosted By: </a:t>
            </a:r>
            <a:r>
              <a:rPr lang="en-US" sz="2000" dirty="0">
                <a:latin typeface="Times New Roman" panose="02020603050405020304" pitchFamily="18" charset="0"/>
                <a:cs typeface="Times New Roman" panose="02020603050405020304" pitchFamily="18" charset="0"/>
              </a:rPr>
              <a:t>National Data and Analytics Platform (NDAP)</a:t>
            </a:r>
          </a:p>
          <a:p>
            <a:pPr marL="342900" indent="-342900" algn="just" eaLnBrk="0" fontAlgn="base" hangingPunct="0">
              <a:spcBef>
                <a:spcPct val="0"/>
              </a:spcBef>
              <a:spcAft>
                <a:spcPct val="0"/>
              </a:spcAf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Geographical Coverage: </a:t>
            </a:r>
            <a:r>
              <a:rPr lang="en-US" sz="2000" dirty="0">
                <a:latin typeface="Times New Roman" panose="02020603050405020304" pitchFamily="18" charset="0"/>
                <a:cs typeface="Times New Roman" panose="02020603050405020304" pitchFamily="18" charset="0"/>
              </a:rPr>
              <a:t>State, District</a:t>
            </a:r>
          </a:p>
          <a:p>
            <a:pPr marL="342900" indent="-342900" algn="just" eaLnBrk="0" fontAlgn="base" hangingPunct="0">
              <a:spcBef>
                <a:spcPct val="0"/>
              </a:spcBef>
              <a:spcAft>
                <a:spcPct val="0"/>
              </a:spcAf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Time Granularity: </a:t>
            </a:r>
            <a:r>
              <a:rPr lang="en-US" sz="2000" dirty="0">
                <a:latin typeface="Times New Roman" panose="02020603050405020304" pitchFamily="18" charset="0"/>
                <a:cs typeface="Times New Roman" panose="02020603050405020304" pitchFamily="18" charset="0"/>
              </a:rPr>
              <a:t>Yearly</a:t>
            </a:r>
          </a:p>
          <a:p>
            <a:pPr marL="342900" indent="-342900" algn="just" eaLnBrk="0" fontAlgn="base" hangingPunct="0">
              <a:spcBef>
                <a:spcPct val="0"/>
              </a:spcBef>
              <a:spcAft>
                <a:spcPct val="0"/>
              </a:spcAf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Frequency: </a:t>
            </a:r>
            <a:r>
              <a:rPr lang="en-US" sz="2000" dirty="0">
                <a:latin typeface="Times New Roman" panose="02020603050405020304" pitchFamily="18" charset="0"/>
                <a:cs typeface="Times New Roman" panose="02020603050405020304" pitchFamily="18" charset="0"/>
              </a:rPr>
              <a:t>Yearly</a:t>
            </a:r>
          </a:p>
          <a:p>
            <a:pPr marL="342900" indent="-342900" algn="just" eaLnBrk="0" fontAlgn="base" hangingPunct="0">
              <a:spcBef>
                <a:spcPct val="0"/>
              </a:spcBef>
              <a:spcAft>
                <a:spcPct val="0"/>
              </a:spcAf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Year Range: </a:t>
            </a:r>
            <a:r>
              <a:rPr lang="en-US" sz="2000" dirty="0">
                <a:latin typeface="Times New Roman" panose="02020603050405020304" pitchFamily="18" charset="0"/>
                <a:cs typeface="Times New Roman" panose="02020603050405020304" pitchFamily="18" charset="0"/>
              </a:rPr>
              <a:t>CY(Calendar Year) 2017 - CY (Calendar Year) 2021</a:t>
            </a:r>
          </a:p>
          <a:p>
            <a:pPr marL="342900" indent="-342900" algn="just" eaLnBrk="0" fontAlgn="base" hangingPunct="0">
              <a:spcBef>
                <a:spcPct val="0"/>
              </a:spcBef>
              <a:spcAft>
                <a:spcPct val="0"/>
              </a:spcAf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Date Updated: </a:t>
            </a:r>
            <a:r>
              <a:rPr lang="en-US" sz="2000" dirty="0">
                <a:latin typeface="Times New Roman" panose="02020603050405020304" pitchFamily="18" charset="0"/>
                <a:cs typeface="Times New Roman" panose="02020603050405020304" pitchFamily="18" charset="0"/>
              </a:rPr>
              <a:t>July 09, 2025</a:t>
            </a:r>
          </a:p>
        </p:txBody>
      </p:sp>
    </p:spTree>
    <p:extLst>
      <p:ext uri="{BB962C8B-B14F-4D97-AF65-F5344CB8AC3E}">
        <p14:creationId xmlns:p14="http://schemas.microsoft.com/office/powerpoint/2010/main" val="2494342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51E24-3BDB-8950-0BCE-E5A183EA98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4CB2A8-4B8E-B774-B974-F51874E4D9EB}"/>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Data Structure and Indicators</a:t>
            </a:r>
          </a:p>
        </p:txBody>
      </p:sp>
      <p:sp>
        <p:nvSpPr>
          <p:cNvPr id="9" name="Rectangle 6">
            <a:extLst>
              <a:ext uri="{FF2B5EF4-FFF2-40B4-BE49-F238E27FC236}">
                <a16:creationId xmlns:a16="http://schemas.microsoft.com/office/drawing/2014/main" id="{A7586DA2-D96E-88C0-5908-93ADC77A5597}"/>
              </a:ext>
            </a:extLst>
          </p:cNvPr>
          <p:cNvSpPr>
            <a:spLocks noChangeArrowheads="1"/>
          </p:cNvSpPr>
          <p:nvPr/>
        </p:nvSpPr>
        <p:spPr bwMode="auto">
          <a:xfrm>
            <a:off x="661944" y="737319"/>
            <a:ext cx="10868111"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spcBef>
                <a:spcPct val="0"/>
              </a:spcBef>
              <a:spcAft>
                <a:spcPct val="0"/>
              </a:spcAf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dataset comprises 1405 rows, with the following structure:</a:t>
            </a:r>
          </a:p>
          <a:p>
            <a:pPr marL="285750" lvl="0" indent="-285750" algn="just" eaLnBrk="0" fontAlgn="base" hangingPunct="0">
              <a:spcBef>
                <a:spcPct val="0"/>
              </a:spcBef>
              <a:spcAft>
                <a:spcPct val="0"/>
              </a:spcAf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Key Dimensions</a:t>
            </a:r>
          </a:p>
          <a:p>
            <a:pPr marL="800100" lvl="1" indent="-342900" algn="just" eaLnBrk="0" fontAlgn="base" hangingPunct="0">
              <a:spcBef>
                <a:spcPct val="0"/>
              </a:spcBef>
              <a:spcAft>
                <a:spcPct val="0"/>
              </a:spcAf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Location:</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Country (1 unique value)</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State (36 unique values)</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District (737 unique values)</a:t>
            </a:r>
          </a:p>
          <a:p>
            <a:pPr marL="800100" lvl="1" indent="-342900" algn="just" eaLnBrk="0" fontAlgn="base" hangingPunct="0">
              <a:spcBef>
                <a:spcPct val="0"/>
              </a:spcBef>
              <a:spcAft>
                <a:spcPct val="0"/>
              </a:spcAf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Time:</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Year (2 unique values)</a:t>
            </a:r>
          </a:p>
          <a:p>
            <a:pPr marL="800100" lvl="1" indent="-342900" algn="just" eaLnBrk="0" fontAlgn="base" hangingPunct="0">
              <a:spcBef>
                <a:spcPct val="0"/>
              </a:spcBef>
              <a:spcAft>
                <a:spcPct val="0"/>
              </a:spcAft>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Other Dimensions:</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Class (1 unique value: Class 8)</a:t>
            </a:r>
          </a:p>
          <a:p>
            <a:pPr marL="1257300" lvl="2" indent="-342900" algn="just" eaLnBrk="0" fontAlgn="base" hangingPunct="0">
              <a:spcBef>
                <a:spcPct val="0"/>
              </a:spcBef>
              <a:spcAft>
                <a:spcPct val="0"/>
              </a:spcAft>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Key Indicators</a:t>
            </a:r>
          </a:p>
          <a:p>
            <a:pPr marL="800100" lvl="1" indent="-342900" algn="just" eaLnBrk="0" fontAlgn="base" hangingPunct="0">
              <a:spcBef>
                <a:spcPct val="0"/>
              </a:spcBef>
              <a:spcAft>
                <a:spcPct val="0"/>
              </a:spcAft>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Number of schools surveyed: </a:t>
            </a:r>
            <a:r>
              <a:rPr lang="en-US" sz="1600" dirty="0">
                <a:latin typeface="Times New Roman" panose="02020603050405020304" pitchFamily="18" charset="0"/>
                <a:cs typeface="Times New Roman" panose="02020603050405020304" pitchFamily="18" charset="0"/>
              </a:rPr>
              <a:t>The count of schools that participated in the survey within a district.</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Min: 8</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Max: 1380</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Mean: 223.14</a:t>
            </a:r>
          </a:p>
          <a:p>
            <a:pPr marL="800100" lvl="1" indent="-342900" algn="just" eaLnBrk="0" fontAlgn="base" hangingPunct="0">
              <a:spcBef>
                <a:spcPct val="0"/>
              </a:spcBef>
              <a:spcAft>
                <a:spcPct val="0"/>
              </a:spcAft>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Number of students surveyed: </a:t>
            </a:r>
            <a:r>
              <a:rPr lang="en-US" sz="1600" dirty="0">
                <a:latin typeface="Times New Roman" panose="02020603050405020304" pitchFamily="18" charset="0"/>
                <a:cs typeface="Times New Roman" panose="02020603050405020304" pitchFamily="18" charset="0"/>
              </a:rPr>
              <a:t>The total number of students who were assessed in a district.</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Min: 96</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Max: 36224</a:t>
            </a:r>
          </a:p>
          <a:p>
            <a:pPr marL="1257300" lvl="2" indent="-342900" algn="just" eaLnBrk="0" fontAlgn="base" hangingPunct="0">
              <a:spcBef>
                <a:spcPct val="0"/>
              </a:spcBef>
              <a:spcAft>
                <a:spcPct val="0"/>
              </a:spcAft>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Mean: 5188.01</a:t>
            </a:r>
          </a:p>
          <a:p>
            <a:pPr marL="800100" lvl="1" indent="-342900" algn="just" eaLnBrk="0" fontAlgn="base" hangingPunct="0">
              <a:spcBef>
                <a:spcPct val="0"/>
              </a:spcBef>
              <a:spcAft>
                <a:spcPct val="0"/>
              </a:spcAft>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Average performance of students (%):</a:t>
            </a:r>
            <a:r>
              <a:rPr lang="en-US" sz="1600" dirty="0">
                <a:latin typeface="Times New Roman" panose="02020603050405020304" pitchFamily="18" charset="0"/>
                <a:cs typeface="Times New Roman" panose="02020603050405020304" pitchFamily="18" charset="0"/>
              </a:rPr>
              <a:t> The dataset contains dozens of indicators measuring the average performance (in percentage) on specific learning outcomes across different subjects. These are calculated as a weighted average based on the total population from the census. Performance varies significantly across different competencies and districts.</a:t>
            </a:r>
          </a:p>
        </p:txBody>
      </p:sp>
    </p:spTree>
    <p:extLst>
      <p:ext uri="{BB962C8B-B14F-4D97-AF65-F5344CB8AC3E}">
        <p14:creationId xmlns:p14="http://schemas.microsoft.com/office/powerpoint/2010/main" val="231671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17138-E9DF-6960-FE1E-5D631FC12D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A8F8EF2-10D5-3C95-8B53-B89D4E812438}"/>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Data Preprocessing</a:t>
            </a:r>
          </a:p>
        </p:txBody>
      </p:sp>
      <p:sp>
        <p:nvSpPr>
          <p:cNvPr id="9" name="Rectangle 6">
            <a:extLst>
              <a:ext uri="{FF2B5EF4-FFF2-40B4-BE49-F238E27FC236}">
                <a16:creationId xmlns:a16="http://schemas.microsoft.com/office/drawing/2014/main" id="{AEED8118-497D-561C-83E4-63A308AE0E57}"/>
              </a:ext>
            </a:extLst>
          </p:cNvPr>
          <p:cNvSpPr>
            <a:spLocks noChangeArrowheads="1"/>
          </p:cNvSpPr>
          <p:nvPr/>
        </p:nvSpPr>
        <p:spPr bwMode="auto">
          <a:xfrm>
            <a:off x="311217" y="1051929"/>
            <a:ext cx="380032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mj-lt"/>
              <a:buAutoNum type="arabicPeriod"/>
            </a:pPr>
            <a:r>
              <a:rPr lang="en-IN" sz="1600" b="1" dirty="0">
                <a:latin typeface="Times New Roman" panose="02020603050405020304" pitchFamily="18" charset="0"/>
                <a:cs typeface="Times New Roman" panose="02020603050405020304" pitchFamily="18" charset="0"/>
              </a:rPr>
              <a:t>Introduction </a:t>
            </a:r>
          </a:p>
          <a:p>
            <a:pPr algn="just"/>
            <a:r>
              <a:rPr lang="en-IN" sz="1600" dirty="0">
                <a:latin typeface="Times New Roman" panose="02020603050405020304" pitchFamily="18" charset="0"/>
                <a:cs typeface="Times New Roman" panose="02020603050405020304" pitchFamily="18" charset="0"/>
              </a:rPr>
              <a:t>This project analyzes educational performance data across different districts and states in India. The dataset is based on Annual Status of Education Report (ASER) - like surveys, focusing on student learning outcomes in various subjects. This documentation outlines the process from data loading and cleaning to exploratory data analysis, with a specific focus on data from the Calendar Year 2021.</a:t>
            </a:r>
          </a:p>
          <a:p>
            <a:pPr algn="just"/>
            <a:endParaRPr lang="en-IN"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2"/>
            </a:pPr>
            <a:r>
              <a:rPr lang="en-IN" sz="1600" b="1" dirty="0">
                <a:latin typeface="Times New Roman" panose="02020603050405020304" pitchFamily="18" charset="0"/>
                <a:cs typeface="Times New Roman" panose="02020603050405020304" pitchFamily="18" charset="0"/>
              </a:rPr>
              <a:t>Data Loading</a:t>
            </a:r>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This section details how the raw data was loaded into a pandas DataFrame. The data was read from the CSV file named /content/DATASETDATASCIENCE.csv using the pd.read_csv function. The initial shape of the DataFrame and the first few rows were displayed to confirm successful loading and to get a preliminary look at the data structure.</a:t>
            </a:r>
          </a:p>
        </p:txBody>
      </p:sp>
      <p:pic>
        <p:nvPicPr>
          <p:cNvPr id="2" name="Picture 1">
            <a:extLst>
              <a:ext uri="{FF2B5EF4-FFF2-40B4-BE49-F238E27FC236}">
                <a16:creationId xmlns:a16="http://schemas.microsoft.com/office/drawing/2014/main" id="{B6C979F5-C21D-37C2-2EB4-A8DDBC8CDD86}"/>
              </a:ext>
            </a:extLst>
          </p:cNvPr>
          <p:cNvPicPr>
            <a:picLocks noChangeAspect="1"/>
          </p:cNvPicPr>
          <p:nvPr/>
        </p:nvPicPr>
        <p:blipFill>
          <a:blip r:embed="rId2"/>
          <a:stretch>
            <a:fillRect/>
          </a:stretch>
        </p:blipFill>
        <p:spPr>
          <a:xfrm>
            <a:off x="4215383" y="1175039"/>
            <a:ext cx="7665400" cy="5247513"/>
          </a:xfrm>
          <a:prstGeom prst="rect">
            <a:avLst/>
          </a:prstGeom>
        </p:spPr>
      </p:pic>
    </p:spTree>
    <p:extLst>
      <p:ext uri="{BB962C8B-B14F-4D97-AF65-F5344CB8AC3E}">
        <p14:creationId xmlns:p14="http://schemas.microsoft.com/office/powerpoint/2010/main" val="3607286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D56F2-0D94-311B-CED4-33AB6C0622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AAA3D70-5DA7-DDB2-EB72-7283CDD6E1ED}"/>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Data Preprocessing</a:t>
            </a:r>
          </a:p>
        </p:txBody>
      </p:sp>
      <p:sp>
        <p:nvSpPr>
          <p:cNvPr id="9" name="Rectangle 6">
            <a:extLst>
              <a:ext uri="{FF2B5EF4-FFF2-40B4-BE49-F238E27FC236}">
                <a16:creationId xmlns:a16="http://schemas.microsoft.com/office/drawing/2014/main" id="{17DFDA43-A407-725F-BF30-FCD4910E739F}"/>
              </a:ext>
            </a:extLst>
          </p:cNvPr>
          <p:cNvSpPr>
            <a:spLocks noChangeArrowheads="1"/>
          </p:cNvSpPr>
          <p:nvPr/>
        </p:nvSpPr>
        <p:spPr bwMode="auto">
          <a:xfrm>
            <a:off x="6529137" y="901387"/>
            <a:ext cx="5431215"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mj-lt"/>
              <a:buAutoNum type="arabicPeriod" startAt="3"/>
            </a:pPr>
            <a:r>
              <a:rPr lang="en-IN" sz="1600" b="1" dirty="0">
                <a:latin typeface="Times New Roman" panose="02020603050405020304" pitchFamily="18" charset="0"/>
                <a:cs typeface="Times New Roman" panose="02020603050405020304" pitchFamily="18" charset="0"/>
              </a:rPr>
              <a:t>Data Cleaning and Preparation</a:t>
            </a:r>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This section describes the crucial steps taken to prepare the data for analysis:</a:t>
            </a:r>
          </a:p>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Cleaning Column Names: A custom function clean_col_names was used to simplify the long and complex column names by removing parenthetical information and replacing spaces with underscores. This makes the columns easier to reference in code.</a:t>
            </a:r>
          </a:p>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Extracting Year: The year was extracted from the 'Year' column, which contained descriptive text, and converted into an integer format for easier filtering and analysis.</a:t>
            </a:r>
          </a:p>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Creating Summary Scores: Average performance scores were calculated for key subjects (Math, Science, and Social Studies - SST) by averaging the scores across the various learning outcome columns related to each subject.</a:t>
            </a:r>
          </a:p>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Calculating Overall Performance: An 'Overall_Performance' score was computed for each district by taking the average of the Math, Science, and SST summary scores.</a:t>
            </a:r>
          </a:p>
          <a:p>
            <a:pPr marL="342900" indent="-342900" algn="just">
              <a:buFont typeface="+mj-lt"/>
              <a:buAutoNum type="arabicPeriod"/>
            </a:pPr>
            <a:r>
              <a:rPr lang="en-IN" sz="1600" dirty="0">
                <a:latin typeface="Times New Roman" panose="02020603050405020304" pitchFamily="18" charset="0"/>
                <a:cs typeface="Times New Roman" panose="02020603050405020304" pitchFamily="18" charset="0"/>
              </a:rPr>
              <a:t>Filtering for 2017-21 Data: The analysis was focused specifically on the data from the year 2017-2021 by creating a new DataFrame df_2021, which is a subset of the cleaned data.</a:t>
            </a:r>
          </a:p>
        </p:txBody>
      </p:sp>
      <p:pic>
        <p:nvPicPr>
          <p:cNvPr id="3" name="Picture 2">
            <a:extLst>
              <a:ext uri="{FF2B5EF4-FFF2-40B4-BE49-F238E27FC236}">
                <a16:creationId xmlns:a16="http://schemas.microsoft.com/office/drawing/2014/main" id="{1F64566D-E870-B9BA-3414-C79EC4673D2E}"/>
              </a:ext>
            </a:extLst>
          </p:cNvPr>
          <p:cNvPicPr>
            <a:picLocks noChangeAspect="1"/>
          </p:cNvPicPr>
          <p:nvPr/>
        </p:nvPicPr>
        <p:blipFill>
          <a:blip r:embed="rId2"/>
          <a:stretch>
            <a:fillRect/>
          </a:stretch>
        </p:blipFill>
        <p:spPr>
          <a:xfrm>
            <a:off x="419354" y="1037716"/>
            <a:ext cx="5963158" cy="5413485"/>
          </a:xfrm>
          <a:prstGeom prst="rect">
            <a:avLst/>
          </a:prstGeom>
        </p:spPr>
      </p:pic>
    </p:spTree>
    <p:extLst>
      <p:ext uri="{BB962C8B-B14F-4D97-AF65-F5344CB8AC3E}">
        <p14:creationId xmlns:p14="http://schemas.microsoft.com/office/powerpoint/2010/main" val="3432992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9741E-82A5-AB8B-9906-EA7AA9A99F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92E749-476F-B759-5F82-D461512DF0B7}"/>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Exploratory Data Analysis (EDA)</a:t>
            </a:r>
          </a:p>
        </p:txBody>
      </p:sp>
      <p:sp>
        <p:nvSpPr>
          <p:cNvPr id="9" name="Rectangle 6">
            <a:extLst>
              <a:ext uri="{FF2B5EF4-FFF2-40B4-BE49-F238E27FC236}">
                <a16:creationId xmlns:a16="http://schemas.microsoft.com/office/drawing/2014/main" id="{7CDE7A87-BB4F-AA71-599A-E3013EA753C2}"/>
              </a:ext>
            </a:extLst>
          </p:cNvPr>
          <p:cNvSpPr>
            <a:spLocks noChangeArrowheads="1"/>
          </p:cNvSpPr>
          <p:nvPr/>
        </p:nvSpPr>
        <p:spPr bwMode="auto">
          <a:xfrm>
            <a:off x="512385" y="1011918"/>
            <a:ext cx="543121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dirty="0">
                <a:latin typeface="Times New Roman" panose="02020603050405020304" pitchFamily="18" charset="0"/>
                <a:cs typeface="Times New Roman" panose="02020603050405020304" pitchFamily="18" charset="0"/>
              </a:rPr>
              <a:t>This section presents the initial exploration and visualization of the prepared data:</a:t>
            </a:r>
          </a:p>
          <a:p>
            <a:pPr algn="just"/>
            <a:r>
              <a:rPr lang="en-IN" sz="1600" b="1" dirty="0">
                <a:latin typeface="Times New Roman" panose="02020603050405020304" pitchFamily="18" charset="0"/>
                <a:cs typeface="Times New Roman" panose="02020603050405020304" pitchFamily="18" charset="0"/>
              </a:rPr>
              <a:t>National Summary Statistics</a:t>
            </a:r>
            <a:r>
              <a:rPr lang="en-IN" sz="1600" dirty="0">
                <a:latin typeface="Times New Roman" panose="02020603050405020304" pitchFamily="18" charset="0"/>
                <a:cs typeface="Times New Roman" panose="02020603050405020304" pitchFamily="18" charset="0"/>
              </a:rPr>
              <a:t>: Descriptive statistics (.describe()) were calculated and displayed for the overall and subject-specific performance scores across all districts in 2021, providing a national overview of performance metrics (mean, standard deviation, min, max, quartiles).</a:t>
            </a:r>
          </a:p>
        </p:txBody>
      </p:sp>
      <p:pic>
        <p:nvPicPr>
          <p:cNvPr id="2" name="Picture 1">
            <a:extLst>
              <a:ext uri="{FF2B5EF4-FFF2-40B4-BE49-F238E27FC236}">
                <a16:creationId xmlns:a16="http://schemas.microsoft.com/office/drawing/2014/main" id="{EA15CAF3-A1C0-66EF-89B5-3F287F0F5D97}"/>
              </a:ext>
            </a:extLst>
          </p:cNvPr>
          <p:cNvPicPr>
            <a:picLocks noChangeAspect="1"/>
          </p:cNvPicPr>
          <p:nvPr/>
        </p:nvPicPr>
        <p:blipFill>
          <a:blip r:embed="rId2"/>
          <a:stretch>
            <a:fillRect/>
          </a:stretch>
        </p:blipFill>
        <p:spPr>
          <a:xfrm>
            <a:off x="512384" y="3153917"/>
            <a:ext cx="4717983" cy="3019399"/>
          </a:xfrm>
          <a:prstGeom prst="rect">
            <a:avLst/>
          </a:prstGeom>
        </p:spPr>
      </p:pic>
      <p:sp>
        <p:nvSpPr>
          <p:cNvPr id="6" name="TextBox 5">
            <a:extLst>
              <a:ext uri="{FF2B5EF4-FFF2-40B4-BE49-F238E27FC236}">
                <a16:creationId xmlns:a16="http://schemas.microsoft.com/office/drawing/2014/main" id="{5C78F1AE-EF56-9603-6C80-77E310F08544}"/>
              </a:ext>
            </a:extLst>
          </p:cNvPr>
          <p:cNvSpPr txBox="1"/>
          <p:nvPr/>
        </p:nvSpPr>
        <p:spPr>
          <a:xfrm>
            <a:off x="6885432" y="1011918"/>
            <a:ext cx="4794183" cy="1396664"/>
          </a:xfrm>
          <a:prstGeom prst="rect">
            <a:avLst/>
          </a:prstGeom>
          <a:noFill/>
        </p:spPr>
        <p:txBody>
          <a:bodyPr wrap="square">
            <a:spAutoFit/>
          </a:bodyPr>
          <a:lstStyle/>
          <a:p>
            <a:pPr algn="just">
              <a:lnSpc>
                <a:spcPct val="107000"/>
              </a:lnSpc>
              <a:spcAft>
                <a:spcPts val="800"/>
              </a:spcAft>
              <a:buNone/>
            </a:pPr>
            <a:r>
              <a:rPr lang="en-IN" sz="1600" b="1" kern="100" dirty="0">
                <a:effectLst/>
                <a:latin typeface="Times New Roman" panose="02020603050405020304" pitchFamily="18" charset="0"/>
                <a:ea typeface="Calibri" panose="020F0502020204030204" pitchFamily="34" charset="0"/>
                <a:cs typeface="Cordia New" panose="020B0304020202020204" pitchFamily="34" charset="-34"/>
              </a:rPr>
              <a:t>Distribution of Overall Performance: </a:t>
            </a:r>
            <a:r>
              <a:rPr lang="en-IN" sz="1600" kern="100" dirty="0">
                <a:effectLst/>
                <a:latin typeface="Times New Roman" panose="02020603050405020304" pitchFamily="18" charset="0"/>
                <a:ea typeface="Calibri" panose="020F0502020204030204" pitchFamily="34" charset="0"/>
                <a:cs typeface="Cordia New" panose="020B0304020202020204" pitchFamily="34" charset="-34"/>
              </a:rPr>
              <a:t>A histogram with a Kernel Density Estimate (KDE) plot was generated to visualize the distribution of 'Overall_Performance' scores across districts, showing the frequency of different performance levels. </a:t>
            </a:r>
            <a:endParaRPr lang="en-IN" sz="2000" kern="100" dirty="0">
              <a:effectLst/>
              <a:latin typeface="Calibri" panose="020F0502020204030204" pitchFamily="34" charset="0"/>
              <a:ea typeface="Calibri" panose="020F0502020204030204" pitchFamily="34" charset="0"/>
              <a:cs typeface="Cordia New" panose="020B0304020202020204" pitchFamily="34" charset="-34"/>
            </a:endParaRPr>
          </a:p>
        </p:txBody>
      </p:sp>
      <p:pic>
        <p:nvPicPr>
          <p:cNvPr id="7" name="Picture 6">
            <a:extLst>
              <a:ext uri="{FF2B5EF4-FFF2-40B4-BE49-F238E27FC236}">
                <a16:creationId xmlns:a16="http://schemas.microsoft.com/office/drawing/2014/main" id="{6FA5E072-B2A8-D8C8-07A3-C12683916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7126" y="2734700"/>
            <a:ext cx="4717984" cy="3014994"/>
          </a:xfrm>
          <a:prstGeom prst="rect">
            <a:avLst/>
          </a:prstGeom>
        </p:spPr>
      </p:pic>
    </p:spTree>
    <p:extLst>
      <p:ext uri="{BB962C8B-B14F-4D97-AF65-F5344CB8AC3E}">
        <p14:creationId xmlns:p14="http://schemas.microsoft.com/office/powerpoint/2010/main" val="3740407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E230-E07C-64A0-4CA0-A79FF04205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56C646B-6A9A-A70F-CF24-D9749DE3DFFC}"/>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Exploratory Data Analysis (EDA)</a:t>
            </a:r>
          </a:p>
        </p:txBody>
      </p:sp>
      <p:sp>
        <p:nvSpPr>
          <p:cNvPr id="9" name="Rectangle 6">
            <a:extLst>
              <a:ext uri="{FF2B5EF4-FFF2-40B4-BE49-F238E27FC236}">
                <a16:creationId xmlns:a16="http://schemas.microsoft.com/office/drawing/2014/main" id="{A2458935-BBB6-DF49-642F-8413F81A2EA1}"/>
              </a:ext>
            </a:extLst>
          </p:cNvPr>
          <p:cNvSpPr>
            <a:spLocks noChangeArrowheads="1"/>
          </p:cNvSpPr>
          <p:nvPr/>
        </p:nvSpPr>
        <p:spPr bwMode="auto">
          <a:xfrm>
            <a:off x="512384" y="1011918"/>
            <a:ext cx="543121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1600" b="1" dirty="0">
                <a:latin typeface="Times New Roman" panose="02020603050405020304" pitchFamily="18" charset="0"/>
                <a:cs typeface="Times New Roman" panose="02020603050405020304" pitchFamily="18" charset="0"/>
              </a:rPr>
              <a:t>Univariate Analysis:</a:t>
            </a:r>
          </a:p>
          <a:p>
            <a:pPr algn="just"/>
            <a:r>
              <a:rPr lang="en-IN" sz="1600" dirty="0">
                <a:latin typeface="Times New Roman" panose="02020603050405020304" pitchFamily="18" charset="0"/>
                <a:cs typeface="Times New Roman" panose="02020603050405020304" pitchFamily="18" charset="0"/>
              </a:rPr>
              <a:t>State-level Performance Ranking: The average 'Overall_Performance' was calculated for each state, and the states were ranked based on these averages.</a:t>
            </a:r>
          </a:p>
        </p:txBody>
      </p:sp>
      <p:sp>
        <p:nvSpPr>
          <p:cNvPr id="6" name="TextBox 5">
            <a:extLst>
              <a:ext uri="{FF2B5EF4-FFF2-40B4-BE49-F238E27FC236}">
                <a16:creationId xmlns:a16="http://schemas.microsoft.com/office/drawing/2014/main" id="{31110FC6-43C7-C71E-84A5-DE2049E5B4CF}"/>
              </a:ext>
            </a:extLst>
          </p:cNvPr>
          <p:cNvSpPr txBox="1"/>
          <p:nvPr/>
        </p:nvSpPr>
        <p:spPr>
          <a:xfrm>
            <a:off x="6885432" y="1011918"/>
            <a:ext cx="4794183" cy="1077218"/>
          </a:xfrm>
          <a:prstGeom prst="rect">
            <a:avLst/>
          </a:prstGeom>
          <a:noFill/>
        </p:spPr>
        <p:txBody>
          <a:bodyPr wrap="square">
            <a:spAutoFit/>
          </a:bodyPr>
          <a:lstStyle/>
          <a:p>
            <a:pPr algn="just"/>
            <a:r>
              <a:rPr lang="en-IN" sz="1600" dirty="0">
                <a:latin typeface="Times New Roman" panose="02020603050405020304" pitchFamily="18" charset="0"/>
                <a:cs typeface="Times New Roman" panose="02020603050405020304" pitchFamily="18" charset="0"/>
              </a:rPr>
              <a:t>Visualization of State Rankings: A horizontal bar chart was created to visually compare the average overall performance across different states, highlighting the states with the highest and lowest average scores. </a:t>
            </a:r>
          </a:p>
        </p:txBody>
      </p:sp>
      <p:pic>
        <p:nvPicPr>
          <p:cNvPr id="3" name="Picture 2">
            <a:extLst>
              <a:ext uri="{FF2B5EF4-FFF2-40B4-BE49-F238E27FC236}">
                <a16:creationId xmlns:a16="http://schemas.microsoft.com/office/drawing/2014/main" id="{6BB59AC1-C2EB-8308-B96D-0BE3BB4F02AE}"/>
              </a:ext>
            </a:extLst>
          </p:cNvPr>
          <p:cNvPicPr>
            <a:picLocks noChangeAspect="1"/>
          </p:cNvPicPr>
          <p:nvPr/>
        </p:nvPicPr>
        <p:blipFill>
          <a:blip r:embed="rId2"/>
          <a:stretch>
            <a:fillRect/>
          </a:stretch>
        </p:blipFill>
        <p:spPr>
          <a:xfrm>
            <a:off x="1696371" y="2242883"/>
            <a:ext cx="3063240" cy="4365625"/>
          </a:xfrm>
          <a:prstGeom prst="rect">
            <a:avLst/>
          </a:prstGeom>
        </p:spPr>
      </p:pic>
      <p:pic>
        <p:nvPicPr>
          <p:cNvPr id="5" name="Picture 4">
            <a:extLst>
              <a:ext uri="{FF2B5EF4-FFF2-40B4-BE49-F238E27FC236}">
                <a16:creationId xmlns:a16="http://schemas.microsoft.com/office/drawing/2014/main" id="{F32E1BF7-2661-0401-F940-916ACA9F50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242883"/>
            <a:ext cx="5731510" cy="3721100"/>
          </a:xfrm>
          <a:prstGeom prst="rect">
            <a:avLst/>
          </a:prstGeom>
        </p:spPr>
      </p:pic>
    </p:spTree>
    <p:extLst>
      <p:ext uri="{BB962C8B-B14F-4D97-AF65-F5344CB8AC3E}">
        <p14:creationId xmlns:p14="http://schemas.microsoft.com/office/powerpoint/2010/main" val="2768551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04225-9725-91E8-DF27-F44ABB3317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9C5822-B4C9-B950-9827-D0E92281E5AB}"/>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Exploratory Data Analysis (EDA)</a:t>
            </a:r>
          </a:p>
        </p:txBody>
      </p:sp>
      <p:sp>
        <p:nvSpPr>
          <p:cNvPr id="9" name="Rectangle 6">
            <a:extLst>
              <a:ext uri="{FF2B5EF4-FFF2-40B4-BE49-F238E27FC236}">
                <a16:creationId xmlns:a16="http://schemas.microsoft.com/office/drawing/2014/main" id="{F9C19E84-1BE5-FD53-43F9-16B870F6B77A}"/>
              </a:ext>
            </a:extLst>
          </p:cNvPr>
          <p:cNvSpPr>
            <a:spLocks noChangeArrowheads="1"/>
          </p:cNvSpPr>
          <p:nvPr/>
        </p:nvSpPr>
        <p:spPr bwMode="auto">
          <a:xfrm>
            <a:off x="512384" y="1011918"/>
            <a:ext cx="543121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1600" b="1" dirty="0">
                <a:latin typeface="Times New Roman" panose="02020603050405020304" pitchFamily="18" charset="0"/>
                <a:cs typeface="Times New Roman" panose="02020603050405020304" pitchFamily="18" charset="0"/>
              </a:rPr>
              <a:t>Bivariate Analysis:</a:t>
            </a:r>
          </a:p>
          <a:p>
            <a:pPr algn="just"/>
            <a:r>
              <a:rPr lang="en-IN" sz="1600" dirty="0">
                <a:latin typeface="Times New Roman" panose="02020603050405020304" pitchFamily="18" charset="0"/>
                <a:cs typeface="Times New Roman" panose="02020603050405020304" pitchFamily="18" charset="0"/>
              </a:rPr>
              <a:t>Identifying Most Difficult Topics: The 10 learning outcomes with the lowest national average scores were identified as the most difficult topics and presented in a table.</a:t>
            </a:r>
          </a:p>
        </p:txBody>
      </p:sp>
      <p:sp>
        <p:nvSpPr>
          <p:cNvPr id="6" name="TextBox 5">
            <a:extLst>
              <a:ext uri="{FF2B5EF4-FFF2-40B4-BE49-F238E27FC236}">
                <a16:creationId xmlns:a16="http://schemas.microsoft.com/office/drawing/2014/main" id="{D156AC5D-0E6F-4BD0-39B6-EB64286D0953}"/>
              </a:ext>
            </a:extLst>
          </p:cNvPr>
          <p:cNvSpPr txBox="1"/>
          <p:nvPr/>
        </p:nvSpPr>
        <p:spPr>
          <a:xfrm>
            <a:off x="6885432" y="1011918"/>
            <a:ext cx="4794183" cy="1323439"/>
          </a:xfrm>
          <a:prstGeom prst="rect">
            <a:avLst/>
          </a:prstGeom>
          <a:noFill/>
        </p:spPr>
        <p:txBody>
          <a:bodyPr wrap="square">
            <a:spAutoFit/>
          </a:bodyPr>
          <a:lstStyle/>
          <a:p>
            <a:pPr algn="just"/>
            <a:r>
              <a:rPr lang="en-IN" sz="1600" dirty="0">
                <a:latin typeface="Times New Roman" panose="02020603050405020304" pitchFamily="18" charset="0"/>
                <a:cs typeface="Times New Roman" panose="02020603050405020304" pitchFamily="18" charset="0"/>
              </a:rPr>
              <a:t>Visualization of Most Difficult Topics: A horizontal bar chart was plotted to visually represent the national average scores for the top 10 most difficult learning outcomes, making it easy to compare their relative difficulty. </a:t>
            </a:r>
          </a:p>
        </p:txBody>
      </p:sp>
      <p:pic>
        <p:nvPicPr>
          <p:cNvPr id="2" name="Picture 1">
            <a:extLst>
              <a:ext uri="{FF2B5EF4-FFF2-40B4-BE49-F238E27FC236}">
                <a16:creationId xmlns:a16="http://schemas.microsoft.com/office/drawing/2014/main" id="{AA967469-D6B1-D753-B98E-1D6CFDC2D921}"/>
              </a:ext>
            </a:extLst>
          </p:cNvPr>
          <p:cNvPicPr>
            <a:picLocks noChangeAspect="1"/>
          </p:cNvPicPr>
          <p:nvPr/>
        </p:nvPicPr>
        <p:blipFill>
          <a:blip r:embed="rId2"/>
          <a:stretch>
            <a:fillRect/>
          </a:stretch>
        </p:blipFill>
        <p:spPr>
          <a:xfrm>
            <a:off x="732789" y="2242883"/>
            <a:ext cx="5210810" cy="2066925"/>
          </a:xfrm>
          <a:prstGeom prst="rect">
            <a:avLst/>
          </a:prstGeom>
        </p:spPr>
      </p:pic>
      <p:pic>
        <p:nvPicPr>
          <p:cNvPr id="7" name="Picture 6">
            <a:extLst>
              <a:ext uri="{FF2B5EF4-FFF2-40B4-BE49-F238E27FC236}">
                <a16:creationId xmlns:a16="http://schemas.microsoft.com/office/drawing/2014/main" id="{7BD7FA95-C5A1-3FF4-9B9B-B4A160D053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1945" y="2661475"/>
            <a:ext cx="4649274" cy="2834069"/>
          </a:xfrm>
          <a:prstGeom prst="rect">
            <a:avLst/>
          </a:prstGeom>
        </p:spPr>
      </p:pic>
      <p:pic>
        <p:nvPicPr>
          <p:cNvPr id="8" name="Picture 7">
            <a:extLst>
              <a:ext uri="{FF2B5EF4-FFF2-40B4-BE49-F238E27FC236}">
                <a16:creationId xmlns:a16="http://schemas.microsoft.com/office/drawing/2014/main" id="{6190305D-C9CA-884F-934F-4FF531E520E6}"/>
              </a:ext>
            </a:extLst>
          </p:cNvPr>
          <p:cNvPicPr>
            <a:picLocks noChangeAspect="1"/>
          </p:cNvPicPr>
          <p:nvPr/>
        </p:nvPicPr>
        <p:blipFill>
          <a:blip r:embed="rId4"/>
          <a:stretch>
            <a:fillRect/>
          </a:stretch>
        </p:blipFill>
        <p:spPr>
          <a:xfrm>
            <a:off x="512384" y="4657344"/>
            <a:ext cx="5706110" cy="838200"/>
          </a:xfrm>
          <a:prstGeom prst="rect">
            <a:avLst/>
          </a:prstGeom>
        </p:spPr>
      </p:pic>
    </p:spTree>
    <p:extLst>
      <p:ext uri="{BB962C8B-B14F-4D97-AF65-F5344CB8AC3E}">
        <p14:creationId xmlns:p14="http://schemas.microsoft.com/office/powerpoint/2010/main" val="4027676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D0B87-D1DF-DD59-68DF-2227A6AB37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D2CBF7-848F-12CE-E312-C9E354B7BFA8}"/>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Exploratory Data Analysis (EDA)</a:t>
            </a:r>
          </a:p>
        </p:txBody>
      </p:sp>
      <p:sp>
        <p:nvSpPr>
          <p:cNvPr id="9" name="Rectangle 6">
            <a:extLst>
              <a:ext uri="{FF2B5EF4-FFF2-40B4-BE49-F238E27FC236}">
                <a16:creationId xmlns:a16="http://schemas.microsoft.com/office/drawing/2014/main" id="{FAABDF14-3E8E-5B27-17EA-482CEC1106FB}"/>
              </a:ext>
            </a:extLst>
          </p:cNvPr>
          <p:cNvSpPr>
            <a:spLocks noChangeArrowheads="1"/>
          </p:cNvSpPr>
          <p:nvPr/>
        </p:nvSpPr>
        <p:spPr bwMode="auto">
          <a:xfrm>
            <a:off x="512384" y="888807"/>
            <a:ext cx="543121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1600" b="1" dirty="0">
                <a:latin typeface="Times New Roman" panose="02020603050405020304" pitchFamily="18" charset="0"/>
                <a:cs typeface="Times New Roman" panose="02020603050405020304" pitchFamily="18" charset="0"/>
              </a:rPr>
              <a:t>Multivariate Analysis:</a:t>
            </a:r>
          </a:p>
          <a:p>
            <a:pPr algn="just"/>
            <a:r>
              <a:rPr lang="en-IN" sz="1600" dirty="0">
                <a:latin typeface="Times New Roman" panose="02020603050405020304" pitchFamily="18" charset="0"/>
                <a:cs typeface="Times New Roman" panose="02020603050405020304" pitchFamily="18" charset="0"/>
              </a:rPr>
              <a:t>Visualization of Correlation Matrix: A heatmap was generated to visually represent the correlation matrix, showing the strength and direction of the relationships between subject scores. </a:t>
            </a:r>
          </a:p>
        </p:txBody>
      </p:sp>
      <p:sp>
        <p:nvSpPr>
          <p:cNvPr id="6" name="TextBox 5">
            <a:extLst>
              <a:ext uri="{FF2B5EF4-FFF2-40B4-BE49-F238E27FC236}">
                <a16:creationId xmlns:a16="http://schemas.microsoft.com/office/drawing/2014/main" id="{6C4570DE-D088-9014-F652-2D204A62CE33}"/>
              </a:ext>
            </a:extLst>
          </p:cNvPr>
          <p:cNvSpPr txBox="1"/>
          <p:nvPr/>
        </p:nvSpPr>
        <p:spPr>
          <a:xfrm>
            <a:off x="6885432" y="1011918"/>
            <a:ext cx="4794183" cy="1077218"/>
          </a:xfrm>
          <a:prstGeom prst="rect">
            <a:avLst/>
          </a:prstGeom>
          <a:noFill/>
        </p:spPr>
        <p:txBody>
          <a:bodyPr wrap="square">
            <a:spAutoFit/>
          </a:bodyPr>
          <a:lstStyle/>
          <a:p>
            <a:pPr algn="just"/>
            <a:r>
              <a:rPr lang="en-IN" sz="1600" dirty="0">
                <a:latin typeface="Times New Roman" panose="02020603050405020304" pitchFamily="18" charset="0"/>
                <a:cs typeface="Times New Roman" panose="02020603050405020304" pitchFamily="18" charset="0"/>
              </a:rPr>
              <a:t>A Pareto chart was used to visualize the cumulative performance gap across the most difficult learning outcomes, highlighting the few outcomes contributing most to the overall performance deficit. </a:t>
            </a:r>
          </a:p>
        </p:txBody>
      </p:sp>
      <p:pic>
        <p:nvPicPr>
          <p:cNvPr id="3" name="Picture 2">
            <a:extLst>
              <a:ext uri="{FF2B5EF4-FFF2-40B4-BE49-F238E27FC236}">
                <a16:creationId xmlns:a16="http://schemas.microsoft.com/office/drawing/2014/main" id="{B62ACD87-8B61-2B3D-1A5B-61822C8208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811" y="2415253"/>
            <a:ext cx="4968359" cy="4153693"/>
          </a:xfrm>
          <a:prstGeom prst="rect">
            <a:avLst/>
          </a:prstGeom>
        </p:spPr>
      </p:pic>
      <p:pic>
        <p:nvPicPr>
          <p:cNvPr id="5" name="Picture 4">
            <a:extLst>
              <a:ext uri="{FF2B5EF4-FFF2-40B4-BE49-F238E27FC236}">
                <a16:creationId xmlns:a16="http://schemas.microsoft.com/office/drawing/2014/main" id="{83258CE4-4B98-EC3D-ACD4-7273C6AF8D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8400" y="2089136"/>
            <a:ext cx="4963493" cy="3836176"/>
          </a:xfrm>
          <a:prstGeom prst="rect">
            <a:avLst/>
          </a:prstGeom>
        </p:spPr>
      </p:pic>
    </p:spTree>
    <p:extLst>
      <p:ext uri="{BB962C8B-B14F-4D97-AF65-F5344CB8AC3E}">
        <p14:creationId xmlns:p14="http://schemas.microsoft.com/office/powerpoint/2010/main" val="3776262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38099-6F3A-D832-1EF5-8E47BC90E64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7BB341-842A-CCF3-C7D2-8BA1625D8030}"/>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Key Findings and Insights of EDA</a:t>
            </a:r>
          </a:p>
        </p:txBody>
      </p:sp>
      <p:sp>
        <p:nvSpPr>
          <p:cNvPr id="7" name="TextBox 6">
            <a:extLst>
              <a:ext uri="{FF2B5EF4-FFF2-40B4-BE49-F238E27FC236}">
                <a16:creationId xmlns:a16="http://schemas.microsoft.com/office/drawing/2014/main" id="{F5A3BFC1-3EF3-6F4F-C76E-314340C1E33A}"/>
              </a:ext>
            </a:extLst>
          </p:cNvPr>
          <p:cNvSpPr txBox="1"/>
          <p:nvPr/>
        </p:nvSpPr>
        <p:spPr>
          <a:xfrm>
            <a:off x="345186" y="997807"/>
            <a:ext cx="6176772" cy="4276107"/>
          </a:xfrm>
          <a:prstGeom prst="rect">
            <a:avLst/>
          </a:prstGeom>
          <a:noFill/>
        </p:spPr>
        <p:txBody>
          <a:bodyPr wrap="square">
            <a:spAutoFit/>
          </a:bodyPr>
          <a:lstStyle/>
          <a:p>
            <a:pPr algn="just">
              <a:lnSpc>
                <a:spcPct val="107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Based on the exploratory data analysis, several key insights were gained:</a:t>
            </a:r>
          </a:p>
          <a:p>
            <a:pPr marL="342900" indent="-342900" algn="just">
              <a:lnSpc>
                <a:spcPct val="107000"/>
              </a:lnSpc>
              <a:spcAft>
                <a:spcPts val="800"/>
              </a:spcAft>
              <a:buFont typeface="+mj-lt"/>
              <a:buAutoNum type="arabicPeriod"/>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The national average overall performance and the variability across districts were observed from the summary statistics.</a:t>
            </a:r>
          </a:p>
          <a:p>
            <a:pPr marL="342900" indent="-342900" algn="just">
              <a:lnSpc>
                <a:spcPct val="107000"/>
              </a:lnSpc>
              <a:spcAft>
                <a:spcPts val="800"/>
              </a:spcAft>
              <a:buFont typeface="+mj-lt"/>
              <a:buAutoNum type="arabicPeriod"/>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Significant differences in average performance exist across states, with some states consistently performing higher (e.g., Punjab) and others lower (e.g., Meghalaya).</a:t>
            </a:r>
          </a:p>
          <a:p>
            <a:pPr marL="342900" indent="-342900" algn="just">
              <a:lnSpc>
                <a:spcPct val="107000"/>
              </a:lnSpc>
              <a:spcAft>
                <a:spcPts val="800"/>
              </a:spcAft>
              <a:buFont typeface="+mj-lt"/>
              <a:buAutoNum type="arabicPeriod"/>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Specific learning outcomes were identified as particularly challenging for students nationally.</a:t>
            </a:r>
          </a:p>
          <a:p>
            <a:pPr marL="342900" indent="-342900" algn="just">
              <a:lnSpc>
                <a:spcPct val="107000"/>
              </a:lnSpc>
              <a:spcAft>
                <a:spcPts val="800"/>
              </a:spcAft>
              <a:buFont typeface="+mj-lt"/>
              <a:buAutoNum type="arabicPeriod"/>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There are strong positive correlations between performance in Math, Science, and SST, suggesting that districts where students perform well in one subject tend to perform well in others.</a:t>
            </a:r>
          </a:p>
          <a:p>
            <a:pPr algn="just">
              <a:lnSpc>
                <a:spcPct val="107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The analysis allowed for the identification of "bright spot" districts (high-performing outliers) and "hotspot" districts (low-performing outliers) that warrant further investigation.  </a:t>
            </a:r>
          </a:p>
        </p:txBody>
      </p:sp>
      <p:pic>
        <p:nvPicPr>
          <p:cNvPr id="8" name="Picture 7">
            <a:extLst>
              <a:ext uri="{FF2B5EF4-FFF2-40B4-BE49-F238E27FC236}">
                <a16:creationId xmlns:a16="http://schemas.microsoft.com/office/drawing/2014/main" id="{BBD77E2A-DD5D-1CEB-11A3-1AE6108E9E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5194" y="795528"/>
            <a:ext cx="4822431" cy="2953512"/>
          </a:xfrm>
          <a:prstGeom prst="rect">
            <a:avLst/>
          </a:prstGeom>
        </p:spPr>
      </p:pic>
      <p:pic>
        <p:nvPicPr>
          <p:cNvPr id="10" name="Picture 9">
            <a:extLst>
              <a:ext uri="{FF2B5EF4-FFF2-40B4-BE49-F238E27FC236}">
                <a16:creationId xmlns:a16="http://schemas.microsoft.com/office/drawing/2014/main" id="{329B92BA-72E9-2EE9-6486-363F2D7FE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5683" y="3856848"/>
            <a:ext cx="5046533" cy="2834132"/>
          </a:xfrm>
          <a:prstGeom prst="rect">
            <a:avLst/>
          </a:prstGeom>
        </p:spPr>
      </p:pic>
    </p:spTree>
    <p:extLst>
      <p:ext uri="{BB962C8B-B14F-4D97-AF65-F5344CB8AC3E}">
        <p14:creationId xmlns:p14="http://schemas.microsoft.com/office/powerpoint/2010/main" val="1550582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08B66-69BC-F6C8-AB02-9BE0FE8CDF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D0FFEDD-503B-AB9B-0264-FCEECAF6472D}"/>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Key Findings and Insights of EDA</a:t>
            </a:r>
          </a:p>
        </p:txBody>
      </p:sp>
      <p:graphicFrame>
        <p:nvGraphicFramePr>
          <p:cNvPr id="2" name="Table 1">
            <a:extLst>
              <a:ext uri="{FF2B5EF4-FFF2-40B4-BE49-F238E27FC236}">
                <a16:creationId xmlns:a16="http://schemas.microsoft.com/office/drawing/2014/main" id="{5AA18CAE-016D-3A16-2EC8-8BFC6EA125CF}"/>
              </a:ext>
            </a:extLst>
          </p:cNvPr>
          <p:cNvGraphicFramePr>
            <a:graphicFrameLocks noGrp="1"/>
          </p:cNvGraphicFramePr>
          <p:nvPr/>
        </p:nvGraphicFramePr>
        <p:xfrm>
          <a:off x="411480" y="947198"/>
          <a:ext cx="5111496" cy="5303520"/>
        </p:xfrm>
        <a:graphic>
          <a:graphicData uri="http://schemas.openxmlformats.org/drawingml/2006/table">
            <a:tbl>
              <a:tblPr/>
              <a:tblGrid>
                <a:gridCol w="5111496">
                  <a:extLst>
                    <a:ext uri="{9D8B030D-6E8A-4147-A177-3AD203B41FA5}">
                      <a16:colId xmlns:a16="http://schemas.microsoft.com/office/drawing/2014/main" val="2597519859"/>
                    </a:ext>
                  </a:extLst>
                </a:gridCol>
              </a:tblGrid>
              <a:tr h="1183354">
                <a:tc>
                  <a:txBody>
                    <a:bodyPr/>
                    <a:lstStyle/>
                    <a:p>
                      <a:pPr algn="just">
                        <a:buNone/>
                      </a:pPr>
                      <a:r>
                        <a:rPr lang="en-US" dirty="0">
                          <a:effectLst/>
                          <a:latin typeface="Times New Roman" panose="02020603050405020304" pitchFamily="18" charset="0"/>
                          <a:cs typeface="Times New Roman" panose="02020603050405020304" pitchFamily="18" charset="0"/>
                        </a:rPr>
                        <a:t>A heatmap showing the </a:t>
                      </a:r>
                      <a:r>
                        <a:rPr lang="en-US" b="1" dirty="0">
                          <a:effectLst/>
                          <a:latin typeface="Times New Roman" panose="02020603050405020304" pitchFamily="18" charset="0"/>
                          <a:cs typeface="Times New Roman" panose="02020603050405020304" pitchFamily="18" charset="0"/>
                        </a:rPr>
                        <a:t>correlations</a:t>
                      </a:r>
                      <a:r>
                        <a:rPr lang="en-US" dirty="0">
                          <a:effectLst/>
                          <a:latin typeface="Times New Roman" panose="02020603050405020304" pitchFamily="18" charset="0"/>
                          <a:cs typeface="Times New Roman" panose="02020603050405020304" pitchFamily="18" charset="0"/>
                        </a:rPr>
                        <a:t> between </a:t>
                      </a:r>
                      <a:r>
                        <a:rPr lang="en-US" b="1" dirty="0">
                          <a:effectLst/>
                          <a:latin typeface="Times New Roman" panose="02020603050405020304" pitchFamily="18" charset="0"/>
                          <a:cs typeface="Times New Roman" panose="02020603050405020304" pitchFamily="18" charset="0"/>
                        </a:rPr>
                        <a:t>Overall Performance</a:t>
                      </a:r>
                      <a:r>
                        <a:rPr lang="en-US" dirty="0">
                          <a:effectLst/>
                          <a:latin typeface="Times New Roman" panose="02020603050405020304" pitchFamily="18" charset="0"/>
                          <a:cs typeface="Times New Roman" panose="02020603050405020304" pitchFamily="18" charset="0"/>
                        </a:rPr>
                        <a:t> and a broad selection of individual </a:t>
                      </a:r>
                      <a:r>
                        <a:rPr lang="en-US" b="1" dirty="0">
                          <a:effectLst/>
                          <a:latin typeface="Times New Roman" panose="02020603050405020304" pitchFamily="18" charset="0"/>
                          <a:cs typeface="Times New Roman" panose="02020603050405020304" pitchFamily="18" charset="0"/>
                        </a:rPr>
                        <a:t>Learning Outcomes</a:t>
                      </a:r>
                      <a:r>
                        <a:rPr lang="en-US" dirty="0">
                          <a:effectLst/>
                          <a:latin typeface="Times New Roman" panose="02020603050405020304" pitchFamily="18" charset="0"/>
                          <a:cs typeface="Times New Roman" panose="02020603050405020304" pitchFamily="18" charset="0"/>
                        </a:rPr>
                        <a:t> as well as the </a:t>
                      </a:r>
                      <a:r>
                        <a:rPr lang="en-US" b="1" dirty="0">
                          <a:effectLst/>
                          <a:latin typeface="Times New Roman" panose="02020603050405020304" pitchFamily="18" charset="0"/>
                          <a:cs typeface="Times New Roman" panose="02020603050405020304" pitchFamily="18" charset="0"/>
                        </a:rPr>
                        <a:t>Number of Schools/Students Surveyed</a:t>
                      </a:r>
                      <a:r>
                        <a:rPr lang="en-US" dirty="0">
                          <a:effectLst/>
                          <a:latin typeface="Times New Roman" panose="02020603050405020304" pitchFamily="18" charset="0"/>
                          <a:cs typeface="Times New Roman" panose="02020603050405020304" pitchFamily="18" charset="0"/>
                        </a:rPr>
                        <a:t>.</a:t>
                      </a:r>
                    </a:p>
                    <a:p>
                      <a:pPr algn="just"/>
                      <a:r>
                        <a:rPr lang="en-US" sz="1800" kern="1200" dirty="0">
                          <a:solidFill>
                            <a:schemeClr val="tx1"/>
                          </a:solidFill>
                          <a:effectLst/>
                          <a:latin typeface="Times New Roman" panose="02020603050405020304" pitchFamily="18" charset="0"/>
                          <a:ea typeface="+mn-ea"/>
                          <a:cs typeface="Times New Roman" panose="02020603050405020304" pitchFamily="18" charset="0"/>
                        </a:rPr>
                        <a:t>The intensity and hue of the color in each cell indicate the strength and direction of the correlation coefficient ($r$), ranging from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strong positive</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(bright red, near +1.0) to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strong negative</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(bright blue, near -1.0), with light colors indicating a weak correlation (near 0.0). </a:t>
                      </a:r>
                    </a:p>
                    <a:p>
                      <a:pPr algn="just"/>
                      <a:r>
                        <a:rPr lang="en-US" sz="1800" kern="1200" dirty="0">
                          <a:solidFill>
                            <a:schemeClr val="tx1"/>
                          </a:solidFill>
                          <a:effectLst/>
                          <a:latin typeface="Times New Roman" panose="02020603050405020304" pitchFamily="18" charset="0"/>
                          <a:ea typeface="+mn-ea"/>
                          <a:cs typeface="Times New Roman" panose="02020603050405020304" pitchFamily="18" charset="0"/>
                        </a:rPr>
                        <a:t>The dominant pattern in the heatmap is the presence of widespread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strong positive correlations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(dark red) among the various "Average Performance" metrics, suggesting that student achievement is generally consistent across different academic areas. The heatmap is a powerful tool for quickly identifying closely linked academic areas and understanding the structure of performance drivers within the educational data.</a:t>
                      </a:r>
                      <a:endParaRPr lang="en-US" dirty="0">
                        <a:effectLst/>
                        <a:latin typeface="Times New Roman" panose="02020603050405020304" pitchFamily="18" charset="0"/>
                        <a:cs typeface="Times New Roman" panose="02020603050405020304" pitchFamily="18" charset="0"/>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16726670"/>
                  </a:ext>
                </a:extLst>
              </a:tr>
            </a:tbl>
          </a:graphicData>
        </a:graphic>
      </p:graphicFrame>
      <p:pic>
        <p:nvPicPr>
          <p:cNvPr id="1028" name="Picture 4">
            <a:extLst>
              <a:ext uri="{FF2B5EF4-FFF2-40B4-BE49-F238E27FC236}">
                <a16:creationId xmlns:a16="http://schemas.microsoft.com/office/drawing/2014/main" id="{E8B9D028-E0A7-6B28-214A-EC4401390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7991" y="898953"/>
            <a:ext cx="5943281" cy="5765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5947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70288-540B-9183-5FCB-DD1BFF9DE1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474DD20-2191-3A55-AE3A-6538E8A1FB41}"/>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Simple Linear Regression Plots</a:t>
            </a:r>
          </a:p>
        </p:txBody>
      </p:sp>
      <p:pic>
        <p:nvPicPr>
          <p:cNvPr id="1031" name="Picture 7">
            <a:extLst>
              <a:ext uri="{FF2B5EF4-FFF2-40B4-BE49-F238E27FC236}">
                <a16:creationId xmlns:a16="http://schemas.microsoft.com/office/drawing/2014/main" id="{0AC45CE4-B031-D7EF-C670-B88B7202E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399" y="1472717"/>
            <a:ext cx="2850068" cy="1865192"/>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a:extLst>
              <a:ext uri="{FF2B5EF4-FFF2-40B4-BE49-F238E27FC236}">
                <a16:creationId xmlns:a16="http://schemas.microsoft.com/office/drawing/2014/main" id="{030BA727-3202-6586-1B2D-48E05D550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72717"/>
            <a:ext cx="2850069" cy="1865193"/>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a:extLst>
              <a:ext uri="{FF2B5EF4-FFF2-40B4-BE49-F238E27FC236}">
                <a16:creationId xmlns:a16="http://schemas.microsoft.com/office/drawing/2014/main" id="{0E511DC3-09C3-E939-9494-C2A9F060AB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399" y="4349960"/>
            <a:ext cx="2850068" cy="1865192"/>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a:extLst>
              <a:ext uri="{FF2B5EF4-FFF2-40B4-BE49-F238E27FC236}">
                <a16:creationId xmlns:a16="http://schemas.microsoft.com/office/drawing/2014/main" id="{79659068-D627-942B-419C-93CBAAFCFB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5213" y="4349960"/>
            <a:ext cx="2856813" cy="1865192"/>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3E4C7858-D115-EF9B-0E4F-28B190098C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1928" y="1472717"/>
            <a:ext cx="2430317" cy="1805943"/>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a:extLst>
              <a:ext uri="{FF2B5EF4-FFF2-40B4-BE49-F238E27FC236}">
                <a16:creationId xmlns:a16="http://schemas.microsoft.com/office/drawing/2014/main" id="{7DA03400-8B03-28A4-8D45-1527998D10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21566" y="1472717"/>
            <a:ext cx="2526377" cy="1865193"/>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a:extLst>
              <a:ext uri="{FF2B5EF4-FFF2-40B4-BE49-F238E27FC236}">
                <a16:creationId xmlns:a16="http://schemas.microsoft.com/office/drawing/2014/main" id="{0C0BFB16-7BB0-632A-F323-F6074C6D69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1928" y="4349960"/>
            <a:ext cx="2550864" cy="1865192"/>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4623E4DE-D47F-A1A8-96A9-D6BDB63DCF4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21567" y="4447424"/>
            <a:ext cx="2526377" cy="184433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B54A34F-91BA-5DCB-5063-E42DA9F4BA69}"/>
              </a:ext>
            </a:extLst>
          </p:cNvPr>
          <p:cNvSpPr txBox="1"/>
          <p:nvPr/>
        </p:nvSpPr>
        <p:spPr>
          <a:xfrm>
            <a:off x="260151" y="756093"/>
            <a:ext cx="5392094" cy="830997"/>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Overall Performance vs. L813</a:t>
            </a:r>
            <a:r>
              <a:rPr lang="en-US" sz="1200" dirty="0">
                <a:latin typeface="Times New Roman" panose="02020603050405020304" pitchFamily="18" charset="0"/>
                <a:cs typeface="Times New Roman" panose="02020603050405020304" pitchFamily="18" charset="0"/>
              </a:rPr>
              <a:t> - Shows the linear relationship between the L813 Learning Outcome and Overall Performance. </a:t>
            </a:r>
            <a:r>
              <a:rPr lang="en-US" sz="1200" b="1" dirty="0">
                <a:latin typeface="Times New Roman" panose="02020603050405020304" pitchFamily="18" charset="0"/>
                <a:cs typeface="Times New Roman" panose="02020603050405020304" pitchFamily="18" charset="0"/>
              </a:rPr>
              <a:t>Q-Q Plot of Residuals: L813 vs. Overall Performance</a:t>
            </a:r>
            <a:r>
              <a:rPr lang="en-US" sz="1200" dirty="0">
                <a:latin typeface="Times New Roman" panose="02020603050405020304" pitchFamily="18" charset="0"/>
                <a:cs typeface="Times New Roman" panose="02020603050405020304" pitchFamily="18" charset="0"/>
              </a:rPr>
              <a:t> - Checks the normality of the residuals for the regression model.</a:t>
            </a:r>
            <a:endParaRPr lang="en-IN" sz="12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FA85A10-2A23-4353-F4B8-85B2F2F0F4F1}"/>
              </a:ext>
            </a:extLst>
          </p:cNvPr>
          <p:cNvSpPr txBox="1"/>
          <p:nvPr/>
        </p:nvSpPr>
        <p:spPr>
          <a:xfrm>
            <a:off x="6091253" y="756093"/>
            <a:ext cx="5656690" cy="646331"/>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Overall Performance vs. M801</a:t>
            </a:r>
            <a:r>
              <a:rPr lang="en-US" sz="1200" dirty="0">
                <a:latin typeface="Times New Roman" panose="02020603050405020304" pitchFamily="18" charset="0"/>
                <a:cs typeface="Times New Roman" panose="02020603050405020304" pitchFamily="18" charset="0"/>
              </a:rPr>
              <a:t> - Shows the linear relationship between the M801 Learning Outcome and Overall Performance. </a:t>
            </a:r>
            <a:r>
              <a:rPr lang="en-US" sz="1200" b="1" dirty="0">
                <a:latin typeface="Times New Roman" panose="02020603050405020304" pitchFamily="18" charset="0"/>
                <a:cs typeface="Times New Roman" panose="02020603050405020304" pitchFamily="18" charset="0"/>
              </a:rPr>
              <a:t>Q-Q Plot of Residuals: M801 vs. Overall Performance</a:t>
            </a:r>
            <a:r>
              <a:rPr lang="en-US" sz="1200" dirty="0">
                <a:latin typeface="Times New Roman" panose="02020603050405020304" pitchFamily="18" charset="0"/>
                <a:cs typeface="Times New Roman" panose="02020603050405020304" pitchFamily="18" charset="0"/>
              </a:rPr>
              <a:t> - Checks the normality of the residuals for the regression model.</a:t>
            </a:r>
            <a:endParaRPr lang="en-IN" sz="12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E7BD764-D545-9DAC-E900-3DC918017AB4}"/>
              </a:ext>
            </a:extLst>
          </p:cNvPr>
          <p:cNvSpPr txBox="1"/>
          <p:nvPr/>
        </p:nvSpPr>
        <p:spPr>
          <a:xfrm>
            <a:off x="260151" y="3578212"/>
            <a:ext cx="5392094" cy="830997"/>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Overall Performance vs. Sci801</a:t>
            </a:r>
            <a:r>
              <a:rPr lang="en-US" sz="1200" dirty="0">
                <a:latin typeface="Times New Roman" panose="02020603050405020304" pitchFamily="18" charset="0"/>
                <a:cs typeface="Times New Roman" panose="02020603050405020304" pitchFamily="18" charset="0"/>
              </a:rPr>
              <a:t> - Shows the linear relationship between the Sci801 Learning Outcome and Overall Performance. </a:t>
            </a:r>
            <a:r>
              <a:rPr lang="en-US" sz="1200" b="1" dirty="0">
                <a:latin typeface="Times New Roman" panose="02020603050405020304" pitchFamily="18" charset="0"/>
                <a:cs typeface="Times New Roman" panose="02020603050405020304" pitchFamily="18" charset="0"/>
              </a:rPr>
              <a:t>Q-Q Plot of Residuals: Sci801 vs. Overall Performance</a:t>
            </a:r>
            <a:r>
              <a:rPr lang="en-US" sz="1200" dirty="0">
                <a:latin typeface="Times New Roman" panose="02020603050405020304" pitchFamily="18" charset="0"/>
                <a:cs typeface="Times New Roman" panose="02020603050405020304" pitchFamily="18" charset="0"/>
              </a:rPr>
              <a:t> - Checks the normality of the residuals for the regression model.</a:t>
            </a:r>
            <a:endParaRPr lang="en-IN" sz="12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25DA445-2E11-4D29-ABE5-58BBB734EAAB}"/>
              </a:ext>
            </a:extLst>
          </p:cNvPr>
          <p:cNvSpPr txBox="1"/>
          <p:nvPr/>
        </p:nvSpPr>
        <p:spPr>
          <a:xfrm>
            <a:off x="6175213" y="3578212"/>
            <a:ext cx="5469391" cy="830997"/>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Overall Performance vs. Sst802</a:t>
            </a:r>
            <a:r>
              <a:rPr lang="en-US" sz="1200" dirty="0">
                <a:latin typeface="Times New Roman" panose="02020603050405020304" pitchFamily="18" charset="0"/>
                <a:cs typeface="Times New Roman" panose="02020603050405020304" pitchFamily="18" charset="0"/>
              </a:rPr>
              <a:t> - Shows the linear relationship between the Sst802 Learning Outcome and Overall Performance. </a:t>
            </a:r>
            <a:r>
              <a:rPr lang="en-US" sz="1200" b="1" dirty="0">
                <a:latin typeface="Times New Roman" panose="02020603050405020304" pitchFamily="18" charset="0"/>
                <a:cs typeface="Times New Roman" panose="02020603050405020304" pitchFamily="18" charset="0"/>
              </a:rPr>
              <a:t>Q-Q Plot of Residuals: Sst802 vs. Overall Performance</a:t>
            </a:r>
            <a:r>
              <a:rPr lang="en-US" sz="1200" dirty="0">
                <a:latin typeface="Times New Roman" panose="02020603050405020304" pitchFamily="18" charset="0"/>
                <a:cs typeface="Times New Roman" panose="02020603050405020304" pitchFamily="18" charset="0"/>
              </a:rPr>
              <a:t> - Checks the normality of the residuals for the regression model.</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0296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C606A-A4B0-EE74-7D05-AB023DC6335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33FDBC-0122-F27E-BADC-E045F6050375}"/>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Simple Linear Regression Plots</a:t>
            </a:r>
          </a:p>
        </p:txBody>
      </p:sp>
      <p:pic>
        <p:nvPicPr>
          <p:cNvPr id="2054" name="Picture 6">
            <a:extLst>
              <a:ext uri="{FF2B5EF4-FFF2-40B4-BE49-F238E27FC236}">
                <a16:creationId xmlns:a16="http://schemas.microsoft.com/office/drawing/2014/main" id="{E2DEBFBF-E48A-46FD-C685-EB4DFF76B1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502" y="971646"/>
            <a:ext cx="4035586" cy="264104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C787249E-0BE8-1936-E6D8-A225843D84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3055" y="971646"/>
            <a:ext cx="4742641" cy="24573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7E57984-39A0-77A9-CA65-608CA6A54469}"/>
              </a:ext>
            </a:extLst>
          </p:cNvPr>
          <p:cNvSpPr txBox="1"/>
          <p:nvPr/>
        </p:nvSpPr>
        <p:spPr>
          <a:xfrm>
            <a:off x="968502" y="3667699"/>
            <a:ext cx="10243566" cy="3046988"/>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Overall Performance vs. Number_Of_Schools_Surveyed</a:t>
            </a:r>
            <a:r>
              <a:rPr lang="en-US" sz="1200" dirty="0">
                <a:latin typeface="Times New Roman" panose="02020603050405020304" pitchFamily="18" charset="0"/>
                <a:cs typeface="Times New Roman" panose="02020603050405020304" pitchFamily="18" charset="0"/>
              </a:rPr>
              <a:t> - Shows the linear relationship between the Number of Schools Surveyed and Overall Performance.</a:t>
            </a:r>
            <a:r>
              <a:rPr lang="en-US" sz="1200" b="1" dirty="0">
                <a:latin typeface="Times New Roman" panose="02020603050405020304" pitchFamily="18" charset="0"/>
                <a:cs typeface="Times New Roman" panose="02020603050405020304" pitchFamily="18" charset="0"/>
              </a:rPr>
              <a:t>Q-Q Plot of Residuals: Number_Of_Schools_Surveyed vs. Overall Performance</a:t>
            </a:r>
            <a:r>
              <a:rPr lang="en-US" sz="1200" dirty="0">
                <a:latin typeface="Times New Roman" panose="02020603050405020304" pitchFamily="18" charset="0"/>
                <a:cs typeface="Times New Roman" panose="02020603050405020304" pitchFamily="18" charset="0"/>
              </a:rPr>
              <a:t> - Checks the normality of the residuals for the regression model.</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first image displays a </a:t>
            </a:r>
            <a:r>
              <a:rPr lang="en-US" sz="1200" b="1" dirty="0">
                <a:latin typeface="Times New Roman" panose="02020603050405020304" pitchFamily="18" charset="0"/>
                <a:cs typeface="Times New Roman" panose="02020603050405020304" pitchFamily="18" charset="0"/>
              </a:rPr>
              <a:t>Scatter Plot</a:t>
            </a:r>
            <a:r>
              <a:rPr lang="en-US" sz="1200" dirty="0">
                <a:latin typeface="Times New Roman" panose="02020603050405020304" pitchFamily="18" charset="0"/>
                <a:cs typeface="Times New Roman" panose="02020603050405020304" pitchFamily="18" charset="0"/>
              </a:rPr>
              <a:t> of </a:t>
            </a:r>
            <a:r>
              <a:rPr lang="en-US" sz="1200" b="1" dirty="0">
                <a:latin typeface="Times New Roman" panose="02020603050405020304" pitchFamily="18" charset="0"/>
                <a:cs typeface="Times New Roman" panose="02020603050405020304" pitchFamily="18" charset="0"/>
              </a:rPr>
              <a:t>"Overall Performance vs. Number_Of_Schools_Surveyed"</a:t>
            </a:r>
            <a:r>
              <a:rPr lang="en-US" sz="1200" dirty="0">
                <a:latin typeface="Times New Roman" panose="02020603050405020304" pitchFamily="18" charset="0"/>
                <a:cs typeface="Times New Roman" panose="02020603050405020304" pitchFamily="18" charset="0"/>
              </a:rPr>
              <a:t>, which is a visualization of a simple linear regression. The plot shows individual data points representing observations, where the Number of Schools Surveyed is on the x-axis and Overall Performance is on the y-axis. A </a:t>
            </a:r>
            <a:r>
              <a:rPr lang="en-US" sz="1200" b="1" dirty="0">
                <a:latin typeface="Times New Roman" panose="02020603050405020304" pitchFamily="18" charset="0"/>
                <a:cs typeface="Times New Roman" panose="02020603050405020304" pitchFamily="18" charset="0"/>
              </a:rPr>
              <a:t>slightly downward-sloping red line</a:t>
            </a:r>
            <a:r>
              <a:rPr lang="en-US" sz="1200" dirty="0">
                <a:latin typeface="Times New Roman" panose="02020603050405020304" pitchFamily="18" charset="0"/>
                <a:cs typeface="Times New Roman" panose="02020603050405020304" pitchFamily="18" charset="0"/>
              </a:rPr>
              <a:t> indicates a </a:t>
            </a:r>
            <a:r>
              <a:rPr lang="en-US" sz="1200" b="1" dirty="0">
                <a:latin typeface="Times New Roman" panose="02020603050405020304" pitchFamily="18" charset="0"/>
                <a:cs typeface="Times New Roman" panose="02020603050405020304" pitchFamily="18" charset="0"/>
              </a:rPr>
              <a:t>weak negative linear relationship</a:t>
            </a:r>
            <a:r>
              <a:rPr lang="en-US" sz="1200" dirty="0">
                <a:latin typeface="Times New Roman" panose="02020603050405020304" pitchFamily="18" charset="0"/>
                <a:cs typeface="Times New Roman" panose="02020603050405020304" pitchFamily="18" charset="0"/>
              </a:rPr>
              <a:t> between the two variables, confirmed by the low correlation observed in the previous heatmap. The data points are heavily concentrated around the center of the x-axis, suggesting that most observations fall within a narrow range for the number of schools surveyed. The weak relationship means that the number of schools surveyed is not a strong predictor of Overall Performance, as changes in one variable do not consistently correspond to significant, predictable changes in the other. </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second image is a </a:t>
            </a:r>
            <a:r>
              <a:rPr lang="en-US" sz="1200" b="1" dirty="0">
                <a:latin typeface="Times New Roman" panose="02020603050405020304" pitchFamily="18" charset="0"/>
                <a:cs typeface="Times New Roman" panose="02020603050405020304" pitchFamily="18" charset="0"/>
              </a:rPr>
              <a:t>Q-Q Plot of the Residuals</a:t>
            </a:r>
            <a:r>
              <a:rPr lang="en-US" sz="1200" dirty="0">
                <a:latin typeface="Times New Roman" panose="02020603050405020304" pitchFamily="18" charset="0"/>
                <a:cs typeface="Times New Roman" panose="02020603050405020304" pitchFamily="18" charset="0"/>
              </a:rPr>
              <a:t> from the linear regression model. This plot is used to assess the </a:t>
            </a:r>
            <a:r>
              <a:rPr lang="en-US" sz="1200" b="1" dirty="0">
                <a:latin typeface="Times New Roman" panose="02020603050405020304" pitchFamily="18" charset="0"/>
                <a:cs typeface="Times New Roman" panose="02020603050405020304" pitchFamily="18" charset="0"/>
              </a:rPr>
              <a:t>normality assumption</a:t>
            </a:r>
            <a:r>
              <a:rPr lang="en-US" sz="1200" dirty="0">
                <a:latin typeface="Times New Roman" panose="02020603050405020304" pitchFamily="18" charset="0"/>
                <a:cs typeface="Times New Roman" panose="02020603050405020304" pitchFamily="18" charset="0"/>
              </a:rPr>
              <a:t> for the model's errors (residuals). The plot compares the </a:t>
            </a:r>
            <a:r>
              <a:rPr lang="en-US" sz="1200" b="1" dirty="0">
                <a:latin typeface="Times New Roman" panose="02020603050405020304" pitchFamily="18" charset="0"/>
                <a:cs typeface="Times New Roman" panose="02020603050405020304" pitchFamily="18" charset="0"/>
              </a:rPr>
              <a:t>Sample Quantiles</a:t>
            </a:r>
            <a:r>
              <a:rPr lang="en-US" sz="1200" dirty="0">
                <a:latin typeface="Times New Roman" panose="02020603050405020304" pitchFamily="18" charset="0"/>
                <a:cs typeface="Times New Roman" panose="02020603050405020304" pitchFamily="18" charset="0"/>
              </a:rPr>
              <a:t> of the residuals (the actual difference between observed and predicted values) against the </a:t>
            </a:r>
            <a:r>
              <a:rPr lang="en-US" sz="1200" b="1" dirty="0">
                <a:latin typeface="Times New Roman" panose="02020603050405020304" pitchFamily="18" charset="0"/>
                <a:cs typeface="Times New Roman" panose="02020603050405020304" pitchFamily="18" charset="0"/>
              </a:rPr>
              <a:t>Theoretical Quantiles</a:t>
            </a:r>
            <a:r>
              <a:rPr lang="en-US" sz="1200" dirty="0">
                <a:latin typeface="Times New Roman" panose="02020603050405020304" pitchFamily="18" charset="0"/>
                <a:cs typeface="Times New Roman" panose="02020603050405020304" pitchFamily="18" charset="0"/>
              </a:rPr>
              <a:t> of a normal distribution, represented by the straight red line. For the residuals to be normally distributed, the data points should closely follow the red line. In this plot, the data points deviate noticeably from the line, particularly at the </a:t>
            </a:r>
            <a:r>
              <a:rPr lang="en-US" sz="1200" b="1" dirty="0">
                <a:latin typeface="Times New Roman" panose="02020603050405020304" pitchFamily="18" charset="0"/>
                <a:cs typeface="Times New Roman" panose="02020603050405020304" pitchFamily="18" charset="0"/>
              </a:rPr>
              <a:t>tails</a:t>
            </a:r>
            <a:r>
              <a:rPr lang="en-US" sz="1200" dirty="0">
                <a:latin typeface="Times New Roman" panose="02020603050405020304" pitchFamily="18" charset="0"/>
                <a:cs typeface="Times New Roman" panose="02020603050405020304" pitchFamily="18" charset="0"/>
              </a:rPr>
              <a:t> (both upper and lower ends), where they curve away. This suggests that the residuals are </a:t>
            </a:r>
            <a:r>
              <a:rPr lang="en-US" sz="1200" b="1" dirty="0">
                <a:latin typeface="Times New Roman" panose="02020603050405020304" pitchFamily="18" charset="0"/>
                <a:cs typeface="Times New Roman" panose="02020603050405020304" pitchFamily="18" charset="0"/>
              </a:rPr>
              <a:t>not perfectly normally distributed</a:t>
            </a:r>
            <a:r>
              <a:rPr lang="en-US" sz="1200" dirty="0">
                <a:latin typeface="Times New Roman" panose="02020603050405020304" pitchFamily="18" charset="0"/>
                <a:cs typeface="Times New Roman" panose="02020603050405020304" pitchFamily="18" charset="0"/>
              </a:rPr>
              <a:t>, indicating a </a:t>
            </a:r>
            <a:r>
              <a:rPr lang="en-US" sz="1200" b="1" dirty="0">
                <a:latin typeface="Times New Roman" panose="02020603050405020304" pitchFamily="18" charset="0"/>
                <a:cs typeface="Times New Roman" panose="02020603050405020304" pitchFamily="18" charset="0"/>
              </a:rPr>
              <a:t>potential violation</a:t>
            </a:r>
            <a:r>
              <a:rPr lang="en-US" sz="1200" dirty="0">
                <a:latin typeface="Times New Roman" panose="02020603050405020304" pitchFamily="18" charset="0"/>
                <a:cs typeface="Times New Roman" panose="02020603050405020304" pitchFamily="18" charset="0"/>
              </a:rPr>
              <a:t> of one of the key assumptions of linear regression, which may affect the validity of statistical inferences derived from the model.</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9200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F285A-E61A-FEF9-D8A2-1A2515ED08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24CDCA-E3D6-2C92-CC15-5A922A87C291}"/>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Multiple Linear Regression Plots</a:t>
            </a:r>
          </a:p>
        </p:txBody>
      </p:sp>
      <p:sp>
        <p:nvSpPr>
          <p:cNvPr id="5" name="TextBox 4">
            <a:extLst>
              <a:ext uri="{FF2B5EF4-FFF2-40B4-BE49-F238E27FC236}">
                <a16:creationId xmlns:a16="http://schemas.microsoft.com/office/drawing/2014/main" id="{4220F01C-CE66-4738-99D8-B8AD015683FF}"/>
              </a:ext>
            </a:extLst>
          </p:cNvPr>
          <p:cNvSpPr txBox="1"/>
          <p:nvPr/>
        </p:nvSpPr>
        <p:spPr>
          <a:xfrm>
            <a:off x="968502" y="3667699"/>
            <a:ext cx="10243566" cy="2646878"/>
          </a:xfrm>
          <a:prstGeom prst="rect">
            <a:avLst/>
          </a:prstGeom>
          <a:noFill/>
        </p:spPr>
        <p:txBody>
          <a:bodyPr wrap="square">
            <a:spAutoFit/>
          </a:bodyPr>
          <a:lstStyle/>
          <a:p>
            <a:pPr algn="just"/>
            <a:r>
              <a:rPr lang="en-US" sz="1200" dirty="0">
                <a:latin typeface="Times New Roman" panose="02020603050405020304" pitchFamily="18" charset="0"/>
                <a:cs typeface="Times New Roman" panose="02020603050405020304" pitchFamily="18" charset="0"/>
              </a:rPr>
              <a:t>The first image is an </a:t>
            </a:r>
            <a:r>
              <a:rPr lang="en-US" sz="1200" b="1" dirty="0">
                <a:latin typeface="Times New Roman" panose="02020603050405020304" pitchFamily="18" charset="0"/>
                <a:cs typeface="Times New Roman" panose="02020603050405020304" pitchFamily="18" charset="0"/>
              </a:rPr>
              <a:t>Actual vs. Predicted Values Plot</a:t>
            </a:r>
            <a:r>
              <a:rPr lang="en-US" sz="1200" dirty="0">
                <a:latin typeface="Times New Roman" panose="02020603050405020304" pitchFamily="18" charset="0"/>
                <a:cs typeface="Times New Roman" panose="02020603050405020304" pitchFamily="18" charset="0"/>
              </a:rPr>
              <a:t> for a Multiple Regression model (likely using the many performance attributes shown in the heatmap). This plot evaluates the </a:t>
            </a:r>
            <a:r>
              <a:rPr lang="en-US" sz="1200" b="1" dirty="0">
                <a:latin typeface="Times New Roman" panose="02020603050405020304" pitchFamily="18" charset="0"/>
                <a:cs typeface="Times New Roman" panose="02020603050405020304" pitchFamily="18" charset="0"/>
              </a:rPr>
              <a:t>overall fit</a:t>
            </a:r>
            <a:r>
              <a:rPr lang="en-US" sz="1200" dirty="0">
                <a:latin typeface="Times New Roman" panose="02020603050405020304" pitchFamily="18" charset="0"/>
                <a:cs typeface="Times New Roman" panose="02020603050405020304" pitchFamily="18" charset="0"/>
              </a:rPr>
              <a:t> of the expanded model. The x-axis represents the </a:t>
            </a:r>
            <a:r>
              <a:rPr lang="en-US" sz="1200" b="1" dirty="0">
                <a:latin typeface="Times New Roman" panose="02020603050405020304" pitchFamily="18" charset="0"/>
                <a:cs typeface="Times New Roman" panose="02020603050405020304" pitchFamily="18" charset="0"/>
              </a:rPr>
              <a:t>Actual Overall Performance</a:t>
            </a:r>
            <a:r>
              <a:rPr lang="en-US" sz="1200" dirty="0">
                <a:latin typeface="Times New Roman" panose="02020603050405020304" pitchFamily="18" charset="0"/>
                <a:cs typeface="Times New Roman" panose="02020603050405020304" pitchFamily="18" charset="0"/>
              </a:rPr>
              <a:t> values, and the y-axis represents the </a:t>
            </a:r>
            <a:r>
              <a:rPr lang="en-US" sz="1200" b="1" dirty="0">
                <a:latin typeface="Times New Roman" panose="02020603050405020304" pitchFamily="18" charset="0"/>
                <a:cs typeface="Times New Roman" panose="02020603050405020304" pitchFamily="18" charset="0"/>
              </a:rPr>
              <a:t>Predicted Overall Performance</a:t>
            </a:r>
            <a:r>
              <a:rPr lang="en-US" sz="1200" dirty="0">
                <a:latin typeface="Times New Roman" panose="02020603050405020304" pitchFamily="18" charset="0"/>
                <a:cs typeface="Times New Roman" panose="02020603050405020304" pitchFamily="18" charset="0"/>
              </a:rPr>
              <a:t> values generated by the model. A </a:t>
            </a:r>
            <a:r>
              <a:rPr lang="en-US" sz="1200" b="1" dirty="0">
                <a:latin typeface="Times New Roman" panose="02020603050405020304" pitchFamily="18" charset="0"/>
                <a:cs typeface="Times New Roman" panose="02020603050405020304" pitchFamily="18" charset="0"/>
              </a:rPr>
              <a:t>perfect model</a:t>
            </a:r>
            <a:r>
              <a:rPr lang="en-US" sz="1200" dirty="0">
                <a:latin typeface="Times New Roman" panose="02020603050405020304" pitchFamily="18" charset="0"/>
                <a:cs typeface="Times New Roman" panose="02020603050405020304" pitchFamily="18" charset="0"/>
              </a:rPr>
              <a:t> would have all data points lying exactly on the dashed red line, which represents $Y=X$ (Actual = Predicted). The tight cluster of data points closely hugging the dashed line indicates that the model has </a:t>
            </a:r>
            <a:r>
              <a:rPr lang="en-US" sz="1200" b="1" dirty="0">
                <a:latin typeface="Times New Roman" panose="02020603050405020304" pitchFamily="18" charset="0"/>
                <a:cs typeface="Times New Roman" panose="02020603050405020304" pitchFamily="18" charset="0"/>
              </a:rPr>
              <a:t>excellent predictive power</a:t>
            </a:r>
            <a:r>
              <a:rPr lang="en-US" sz="1200" dirty="0">
                <a:latin typeface="Times New Roman" panose="02020603050405020304" pitchFamily="18" charset="0"/>
                <a:cs typeface="Times New Roman" panose="02020603050405020304" pitchFamily="18" charset="0"/>
              </a:rPr>
              <a:t>; the predicted values are very close to the actual observed values for Overall Performance. This plot suggests that the expanded model, incorporating the other attributes, is a significantly better fit than the simple model involving only the "Number_Of_Schools_Surveyed.“</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second image is the </a:t>
            </a:r>
            <a:r>
              <a:rPr lang="en-US" sz="1200" b="1" dirty="0">
                <a:latin typeface="Times New Roman" panose="02020603050405020304" pitchFamily="18" charset="0"/>
                <a:cs typeface="Times New Roman" panose="02020603050405020304" pitchFamily="18" charset="0"/>
              </a:rPr>
              <a:t>Residual Plot</a:t>
            </a:r>
            <a:r>
              <a:rPr lang="en-US" sz="1200" dirty="0">
                <a:latin typeface="Times New Roman" panose="02020603050405020304" pitchFamily="18" charset="0"/>
                <a:cs typeface="Times New Roman" panose="02020603050405020304" pitchFamily="18" charset="0"/>
              </a:rPr>
              <a:t> for the same Multiple Regression model. This plot shows the </a:t>
            </a:r>
            <a:r>
              <a:rPr lang="en-US" sz="1200" b="1" dirty="0">
                <a:latin typeface="Times New Roman" panose="02020603050405020304" pitchFamily="18" charset="0"/>
                <a:cs typeface="Times New Roman" panose="02020603050405020304" pitchFamily="18" charset="0"/>
              </a:rPr>
              <a:t>Residuals</a:t>
            </a:r>
            <a:r>
              <a:rPr lang="en-US" sz="1200" dirty="0">
                <a:latin typeface="Times New Roman" panose="02020603050405020304" pitchFamily="18" charset="0"/>
                <a:cs typeface="Times New Roman" panose="02020603050405020304" pitchFamily="18" charset="0"/>
              </a:rPr>
              <a:t> (the error, or $Actual - Predicted$) on the y-axis against the </a:t>
            </a:r>
            <a:r>
              <a:rPr lang="en-US" sz="1200" b="1" dirty="0">
                <a:latin typeface="Times New Roman" panose="02020603050405020304" pitchFamily="18" charset="0"/>
                <a:cs typeface="Times New Roman" panose="02020603050405020304" pitchFamily="18" charset="0"/>
              </a:rPr>
              <a:t>Predicted Overall Performance</a:t>
            </a:r>
            <a:r>
              <a:rPr lang="en-US" sz="1200" dirty="0">
                <a:latin typeface="Times New Roman" panose="02020603050405020304" pitchFamily="18" charset="0"/>
                <a:cs typeface="Times New Roman" panose="02020603050405020304" pitchFamily="18" charset="0"/>
              </a:rPr>
              <a:t> values on the x-axis. For a valid linear regression model, the residuals should show </a:t>
            </a:r>
            <a:r>
              <a:rPr lang="en-US" sz="1200" b="1" dirty="0">
                <a:latin typeface="Times New Roman" panose="02020603050405020304" pitchFamily="18" charset="0"/>
                <a:cs typeface="Times New Roman" panose="02020603050405020304" pitchFamily="18" charset="0"/>
              </a:rPr>
              <a:t>random scattering</a:t>
            </a:r>
            <a:r>
              <a:rPr lang="en-US" sz="1200" dirty="0">
                <a:latin typeface="Times New Roman" panose="02020603050405020304" pitchFamily="18" charset="0"/>
                <a:cs typeface="Times New Roman" panose="02020603050405020304" pitchFamily="18" charset="0"/>
              </a:rPr>
              <a:t> around the horizontal zero line, indicating that the variance of the errors is constant (</a:t>
            </a:r>
            <a:r>
              <a:rPr lang="en-US" sz="1200" b="1" dirty="0">
                <a:latin typeface="Times New Roman" panose="02020603050405020304" pitchFamily="18" charset="0"/>
                <a:cs typeface="Times New Roman" panose="02020603050405020304" pitchFamily="18" charset="0"/>
              </a:rPr>
              <a:t>homoscedasticity</a:t>
            </a:r>
            <a:r>
              <a:rPr lang="en-US" sz="1200" dirty="0">
                <a:latin typeface="Times New Roman" panose="02020603050405020304" pitchFamily="18" charset="0"/>
                <a:cs typeface="Times New Roman" panose="02020603050405020304" pitchFamily="18" charset="0"/>
              </a:rPr>
              <a:t>) and that the relationship is correctly modeled. In this plot, the residuals exhibit a noticeable </a:t>
            </a:r>
            <a:r>
              <a:rPr lang="en-US" sz="1200" b="1" dirty="0">
                <a:latin typeface="Times New Roman" panose="02020603050405020304" pitchFamily="18" charset="0"/>
                <a:cs typeface="Times New Roman" panose="02020603050405020304" pitchFamily="18" charset="0"/>
              </a:rPr>
              <a:t>curved, fanning shape</a:t>
            </a:r>
            <a:r>
              <a:rPr lang="en-US" sz="1200" dirty="0">
                <a:latin typeface="Times New Roman" panose="02020603050405020304" pitchFamily="18" charset="0"/>
                <a:cs typeface="Times New Roman" panose="02020603050405020304" pitchFamily="18" charset="0"/>
              </a:rPr>
              <a:t> (heteroscedasticity) and the red trend line follows a slight U-shape below the zero line. This suggests that the model may be slightly </a:t>
            </a:r>
            <a:r>
              <a:rPr lang="en-US" sz="1200" b="1" dirty="0">
                <a:latin typeface="Times New Roman" panose="02020603050405020304" pitchFamily="18" charset="0"/>
                <a:cs typeface="Times New Roman" panose="02020603050405020304" pitchFamily="18" charset="0"/>
              </a:rPr>
              <a:t>underpredicting</a:t>
            </a:r>
            <a:r>
              <a:rPr lang="en-US" sz="1200" dirty="0">
                <a:latin typeface="Times New Roman" panose="02020603050405020304" pitchFamily="18" charset="0"/>
                <a:cs typeface="Times New Roman" panose="02020603050405020304" pitchFamily="18" charset="0"/>
              </a:rPr>
              <a:t> in the middle range (around 40-50 on the x-axis) and the </a:t>
            </a:r>
            <a:r>
              <a:rPr lang="en-US" sz="1200" b="1" dirty="0">
                <a:latin typeface="Times New Roman" panose="02020603050405020304" pitchFamily="18" charset="0"/>
                <a:cs typeface="Times New Roman" panose="02020603050405020304" pitchFamily="18" charset="0"/>
              </a:rPr>
              <a:t>variance of the residuals is not constant</a:t>
            </a:r>
            <a:r>
              <a:rPr lang="en-US" sz="1200" dirty="0">
                <a:latin typeface="Times New Roman" panose="02020603050405020304" pitchFamily="18" charset="0"/>
                <a:cs typeface="Times New Roman" panose="02020603050405020304" pitchFamily="18" charset="0"/>
              </a:rPr>
              <a:t> across all predicted values, indicating some potential systematic error or non-linearity that the current linear model is not fully capturing.</a:t>
            </a:r>
          </a:p>
          <a:p>
            <a:pPr algn="just"/>
            <a:endParaRPr lang="en-IN" sz="1000"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44CD50B0-448C-FCCE-6202-3A0BD08E6B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502" y="971646"/>
            <a:ext cx="4343848" cy="23949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D82084C-B300-C69D-AEDE-711AF5F54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9653" y="986890"/>
            <a:ext cx="3763964" cy="2381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54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A8EEB-2024-13AC-0D32-78EC2E4B536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53AE936-221C-4FC3-D44F-FF6857C389A0}"/>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K-Means Clustering Plots</a:t>
            </a:r>
          </a:p>
        </p:txBody>
      </p:sp>
      <p:sp>
        <p:nvSpPr>
          <p:cNvPr id="5" name="TextBox 4">
            <a:extLst>
              <a:ext uri="{FF2B5EF4-FFF2-40B4-BE49-F238E27FC236}">
                <a16:creationId xmlns:a16="http://schemas.microsoft.com/office/drawing/2014/main" id="{0147742A-64DF-A636-1642-B346191B46D6}"/>
              </a:ext>
            </a:extLst>
          </p:cNvPr>
          <p:cNvSpPr txBox="1"/>
          <p:nvPr/>
        </p:nvSpPr>
        <p:spPr>
          <a:xfrm>
            <a:off x="803910" y="1015939"/>
            <a:ext cx="3909756" cy="1015663"/>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K-Means Clustering - Elbow Method for Optimal K: </a:t>
            </a:r>
            <a:r>
              <a:rPr lang="en-US" sz="1200" dirty="0">
                <a:latin typeface="Times New Roman" panose="02020603050405020304" pitchFamily="18" charset="0"/>
                <a:cs typeface="Times New Roman" panose="02020603050405020304" pitchFamily="18" charset="0"/>
              </a:rPr>
              <a:t>A line plot (elbow plot) showing the </a:t>
            </a:r>
            <a:r>
              <a:rPr lang="en-US" sz="1200" b="1" dirty="0">
                <a:latin typeface="Times New Roman" panose="02020603050405020304" pitchFamily="18" charset="0"/>
                <a:cs typeface="Times New Roman" panose="02020603050405020304" pitchFamily="18" charset="0"/>
              </a:rPr>
              <a:t>Within-Cluster Sum of Squares (WCSS) or inertia</a:t>
            </a:r>
            <a:r>
              <a:rPr lang="en-US" sz="1200" dirty="0">
                <a:latin typeface="Times New Roman" panose="02020603050405020304" pitchFamily="18" charset="0"/>
                <a:cs typeface="Times New Roman" panose="02020603050405020304" pitchFamily="18" charset="0"/>
              </a:rPr>
              <a:t> as a function of the number of clusters (K). The goal is to identify the "elbow" point, suggesting the optimal number of clusters.</a:t>
            </a:r>
            <a:endParaRPr lang="en-IN" sz="1000" dirty="0">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E5BBF702-0886-F2EF-24D5-6D7D3F6CD9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910" y="3840480"/>
            <a:ext cx="3763964" cy="243732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0B2CFFE-0067-48FA-CE21-7949ABF46BAE}"/>
              </a:ext>
            </a:extLst>
          </p:cNvPr>
          <p:cNvPicPr>
            <a:picLocks noChangeAspect="1"/>
          </p:cNvPicPr>
          <p:nvPr/>
        </p:nvPicPr>
        <p:blipFill>
          <a:blip r:embed="rId3"/>
          <a:stretch>
            <a:fillRect/>
          </a:stretch>
        </p:blipFill>
        <p:spPr>
          <a:xfrm>
            <a:off x="803910" y="2100182"/>
            <a:ext cx="3778084" cy="1671718"/>
          </a:xfrm>
          <a:prstGeom prst="rect">
            <a:avLst/>
          </a:prstGeom>
        </p:spPr>
      </p:pic>
      <p:sp>
        <p:nvSpPr>
          <p:cNvPr id="6" name="TextBox 5">
            <a:extLst>
              <a:ext uri="{FF2B5EF4-FFF2-40B4-BE49-F238E27FC236}">
                <a16:creationId xmlns:a16="http://schemas.microsoft.com/office/drawing/2014/main" id="{F7875EC4-33DD-F832-C4C3-AD94C8B4D327}"/>
              </a:ext>
            </a:extLst>
          </p:cNvPr>
          <p:cNvSpPr txBox="1"/>
          <p:nvPr/>
        </p:nvSpPr>
        <p:spPr>
          <a:xfrm>
            <a:off x="5477256" y="1200604"/>
            <a:ext cx="5910834" cy="646331"/>
          </a:xfrm>
          <a:prstGeom prst="rect">
            <a:avLst/>
          </a:prstGeom>
          <a:noFill/>
        </p:spPr>
        <p:txBody>
          <a:bodyPr wrap="square">
            <a:spAutoFit/>
          </a:bodyPr>
          <a:lstStyle/>
          <a:p>
            <a:pPr algn="just"/>
            <a:r>
              <a:rPr lang="en-US" sz="1200" b="1" dirty="0">
                <a:latin typeface="Times New Roman" panose="02020603050405020304" pitchFamily="18" charset="0"/>
                <a:cs typeface="Times New Roman" panose="02020603050405020304" pitchFamily="18" charset="0"/>
              </a:rPr>
              <a:t>State-wise Cluster Distribution: </a:t>
            </a:r>
            <a:r>
              <a:rPr lang="en-US" sz="1200" dirty="0">
                <a:latin typeface="Times New Roman" panose="02020603050405020304" pitchFamily="18" charset="0"/>
                <a:cs typeface="Times New Roman" panose="02020603050405020304" pitchFamily="18" charset="0"/>
              </a:rPr>
              <a:t>A stacked bar chart showing the </a:t>
            </a:r>
            <a:r>
              <a:rPr lang="en-US" sz="1200" b="1" dirty="0">
                <a:latin typeface="Times New Roman" panose="02020603050405020304" pitchFamily="18" charset="0"/>
                <a:cs typeface="Times New Roman" panose="02020603050405020304" pitchFamily="18" charset="0"/>
              </a:rPr>
              <a:t>number of districts within each state</a:t>
            </a:r>
            <a:r>
              <a:rPr lang="en-US" sz="1200" dirty="0">
                <a:latin typeface="Times New Roman" panose="02020603050405020304" pitchFamily="18" charset="0"/>
                <a:cs typeface="Times New Roman" panose="02020603050405020304" pitchFamily="18" charset="0"/>
              </a:rPr>
              <a:t>, segmented and colored by their assigned cluster. This helps understand which clusters are dominant in which states.</a:t>
            </a:r>
            <a:endParaRPr lang="en-IN" sz="12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E51C78E9-B009-28B3-3AF0-CE42B9F5AB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1521" y="2178485"/>
            <a:ext cx="6426569" cy="4179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106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E2484-5358-90B3-A1F0-4B5751C05F6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79B9D50-E17D-6247-FD2B-E38604228AC7}"/>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K-Means Clustering Plots</a:t>
            </a:r>
          </a:p>
        </p:txBody>
      </p:sp>
      <p:pic>
        <p:nvPicPr>
          <p:cNvPr id="2050" name="Picture 2">
            <a:extLst>
              <a:ext uri="{FF2B5EF4-FFF2-40B4-BE49-F238E27FC236}">
                <a16:creationId xmlns:a16="http://schemas.microsoft.com/office/drawing/2014/main" id="{FA899FD7-3907-5298-54E7-B0ABD2F25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137" y="3429000"/>
            <a:ext cx="5675864" cy="292661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19FF4AF-1CE4-E8CD-ECEB-7DD4924CD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0143" y="936010"/>
            <a:ext cx="4813490" cy="44805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0BD6CA3-E57D-C764-8FBB-184B93369E53}"/>
              </a:ext>
            </a:extLst>
          </p:cNvPr>
          <p:cNvSpPr txBox="1"/>
          <p:nvPr/>
        </p:nvSpPr>
        <p:spPr>
          <a:xfrm>
            <a:off x="528066" y="936010"/>
            <a:ext cx="5040630" cy="2492990"/>
          </a:xfrm>
          <a:prstGeom prst="rect">
            <a:avLst/>
          </a:prstGeom>
          <a:noFill/>
        </p:spPr>
        <p:txBody>
          <a:bodyPr wrap="square">
            <a:spAutoFit/>
          </a:bodyPr>
          <a:lstStyle/>
          <a:p>
            <a:pPr algn="just" rtl="0">
              <a:spcAft>
                <a:spcPts val="1200"/>
              </a:spcAft>
              <a:buNone/>
            </a:pPr>
            <a:r>
              <a:rPr lang="en-US" sz="1200" b="0" i="0" dirty="0">
                <a:effectLst/>
                <a:latin typeface="Times New Roman" panose="02020603050405020304" pitchFamily="18" charset="0"/>
                <a:cs typeface="Times New Roman" panose="02020603050405020304" pitchFamily="18" charset="0"/>
              </a:rPr>
              <a:t>The first image is a </a:t>
            </a:r>
            <a:r>
              <a:rPr lang="en-US" sz="1200" b="1" i="0" dirty="0">
                <a:effectLst/>
                <a:latin typeface="Times New Roman" panose="02020603050405020304" pitchFamily="18" charset="0"/>
                <a:cs typeface="Times New Roman" panose="02020603050405020304" pitchFamily="18" charset="0"/>
              </a:rPr>
              <a:t>Heatmap</a:t>
            </a:r>
            <a:r>
              <a:rPr lang="en-US" sz="1200" b="0" i="0" dirty="0">
                <a:effectLst/>
                <a:latin typeface="Times New Roman" panose="02020603050405020304" pitchFamily="18" charset="0"/>
                <a:cs typeface="Times New Roman" panose="02020603050405020304" pitchFamily="18" charset="0"/>
              </a:rPr>
              <a:t> titled "Average Performance in Hardest Learning Outcomes by State Cluster," which visually compares the average scores of three different </a:t>
            </a:r>
            <a:r>
              <a:rPr lang="en-US" sz="1200" b="1" i="0" dirty="0">
                <a:effectLst/>
                <a:latin typeface="Times New Roman" panose="02020603050405020304" pitchFamily="18" charset="0"/>
                <a:cs typeface="Times New Roman" panose="02020603050405020304" pitchFamily="18" charset="0"/>
              </a:rPr>
              <a:t>State Clusters (0, 1, and 2)</a:t>
            </a:r>
            <a:r>
              <a:rPr lang="en-US" sz="1200" b="0" i="0" dirty="0">
                <a:effectLst/>
                <a:latin typeface="Times New Roman" panose="02020603050405020304" pitchFamily="18" charset="0"/>
                <a:cs typeface="Times New Roman" panose="02020603050405020304" pitchFamily="18" charset="0"/>
              </a:rPr>
              <a:t> across ten specific "hardest" learning outcomes (subjects/modules). The color intensity and the numeric values within the cells clearly show a significant difference in performance across the clusters. </a:t>
            </a:r>
            <a:r>
              <a:rPr lang="en-US" sz="1200" b="1" i="0" dirty="0">
                <a:effectLst/>
                <a:latin typeface="Times New Roman" panose="02020603050405020304" pitchFamily="18" charset="0"/>
                <a:cs typeface="Times New Roman" panose="02020603050405020304" pitchFamily="18" charset="0"/>
              </a:rPr>
              <a:t>Cluster 1</a:t>
            </a:r>
            <a:r>
              <a:rPr lang="en-US" sz="1200" b="0" i="0" dirty="0">
                <a:effectLst/>
                <a:latin typeface="Times New Roman" panose="02020603050405020304" pitchFamily="18" charset="0"/>
                <a:cs typeface="Times New Roman" panose="02020603050405020304" pitchFamily="18" charset="0"/>
              </a:rPr>
              <a:t> consistently exhibits the </a:t>
            </a:r>
            <a:r>
              <a:rPr lang="en-US" sz="1200" b="1" i="0" dirty="0">
                <a:effectLst/>
                <a:latin typeface="Times New Roman" panose="02020603050405020304" pitchFamily="18" charset="0"/>
                <a:cs typeface="Times New Roman" panose="02020603050405020304" pitchFamily="18" charset="0"/>
              </a:rPr>
              <a:t>highest average performance</a:t>
            </a:r>
            <a:r>
              <a:rPr lang="en-US" sz="1200" b="0" i="0" dirty="0">
                <a:effectLst/>
                <a:latin typeface="Times New Roman" panose="02020603050405020304" pitchFamily="18" charset="0"/>
                <a:cs typeface="Times New Roman" panose="02020603050405020304" pitchFamily="18" charset="0"/>
              </a:rPr>
              <a:t> (darkest blue), with scores generally in the 30s and 40s. </a:t>
            </a:r>
            <a:r>
              <a:rPr lang="en-US" sz="1200" b="1" i="0" dirty="0">
                <a:effectLst/>
                <a:latin typeface="Times New Roman" panose="02020603050405020304" pitchFamily="18" charset="0"/>
                <a:cs typeface="Times New Roman" panose="02020603050405020304" pitchFamily="18" charset="0"/>
              </a:rPr>
              <a:t>Cluster 0</a:t>
            </a:r>
            <a:r>
              <a:rPr lang="en-US" sz="1200" b="0" i="0" dirty="0">
                <a:effectLst/>
                <a:latin typeface="Times New Roman" panose="02020603050405020304" pitchFamily="18" charset="0"/>
                <a:cs typeface="Times New Roman" panose="02020603050405020304" pitchFamily="18" charset="0"/>
              </a:rPr>
              <a:t> consistently shows the </a:t>
            </a:r>
            <a:r>
              <a:rPr lang="en-US" sz="1200" b="1" i="0" dirty="0">
                <a:effectLst/>
                <a:latin typeface="Times New Roman" panose="02020603050405020304" pitchFamily="18" charset="0"/>
                <a:cs typeface="Times New Roman" panose="02020603050405020304" pitchFamily="18" charset="0"/>
              </a:rPr>
              <a:t>lowest average performance</a:t>
            </a:r>
            <a:r>
              <a:rPr lang="en-US" sz="1200" b="0" i="0" dirty="0">
                <a:effectLst/>
                <a:latin typeface="Times New Roman" panose="02020603050405020304" pitchFamily="18" charset="0"/>
                <a:cs typeface="Times New Roman" panose="02020603050405020304" pitchFamily="18" charset="0"/>
              </a:rPr>
              <a:t> (lightest yellow/green), with scores mainly in the 19s to mid-20s. </a:t>
            </a:r>
            <a:r>
              <a:rPr lang="en-US" sz="1200" b="1" i="0" dirty="0">
                <a:effectLst/>
                <a:latin typeface="Times New Roman" panose="02020603050405020304" pitchFamily="18" charset="0"/>
                <a:cs typeface="Times New Roman" panose="02020603050405020304" pitchFamily="18" charset="0"/>
              </a:rPr>
              <a:t>Cluster 2</a:t>
            </a:r>
            <a:r>
              <a:rPr lang="en-US" sz="1200" b="0" i="0" dirty="0">
                <a:effectLst/>
                <a:latin typeface="Times New Roman" panose="02020603050405020304" pitchFamily="18" charset="0"/>
                <a:cs typeface="Times New Roman" panose="02020603050405020304" pitchFamily="18" charset="0"/>
              </a:rPr>
              <a:t> occupies the </a:t>
            </a:r>
            <a:r>
              <a:rPr lang="en-US" sz="1200" b="1" i="0" dirty="0">
                <a:effectLst/>
                <a:latin typeface="Times New Roman" panose="02020603050405020304" pitchFamily="18" charset="0"/>
                <a:cs typeface="Times New Roman" panose="02020603050405020304" pitchFamily="18" charset="0"/>
              </a:rPr>
              <a:t>intermediate performance level</a:t>
            </a:r>
            <a:r>
              <a:rPr lang="en-US" sz="1200" b="0" i="0" dirty="0">
                <a:effectLst/>
                <a:latin typeface="Times New Roman" panose="02020603050405020304" pitchFamily="18" charset="0"/>
                <a:cs typeface="Times New Roman" panose="02020603050405020304" pitchFamily="18" charset="0"/>
              </a:rPr>
              <a:t>, with scores typically in the high 20s. This pattern strongly indicates that the clustering mechanism successfully segmented the states into distinct groups based on their academic achievement levels in these difficult learning areas.</a:t>
            </a:r>
          </a:p>
        </p:txBody>
      </p:sp>
      <p:sp>
        <p:nvSpPr>
          <p:cNvPr id="9" name="TextBox 8">
            <a:extLst>
              <a:ext uri="{FF2B5EF4-FFF2-40B4-BE49-F238E27FC236}">
                <a16:creationId xmlns:a16="http://schemas.microsoft.com/office/drawing/2014/main" id="{363F6A39-38A2-D8EB-D14D-D3C7876257AC}"/>
              </a:ext>
            </a:extLst>
          </p:cNvPr>
          <p:cNvSpPr txBox="1"/>
          <p:nvPr/>
        </p:nvSpPr>
        <p:spPr>
          <a:xfrm>
            <a:off x="6840126" y="5429036"/>
            <a:ext cx="4379562" cy="1015663"/>
          </a:xfrm>
          <a:prstGeom prst="rect">
            <a:avLst/>
          </a:prstGeom>
          <a:noFill/>
        </p:spPr>
        <p:txBody>
          <a:bodyPr wrap="square">
            <a:spAutoFit/>
          </a:bodyPr>
          <a:lstStyle/>
          <a:p>
            <a:pPr algn="just"/>
            <a:r>
              <a:rPr lang="en-US" sz="1200" dirty="0">
                <a:latin typeface="Times New Roman" panose="02020603050405020304" pitchFamily="18" charset="0"/>
                <a:cs typeface="Times New Roman" panose="02020603050405020304" pitchFamily="18" charset="0"/>
              </a:rPr>
              <a:t>The second image, a </a:t>
            </a:r>
            <a:r>
              <a:rPr lang="en-US" sz="1200" b="1" dirty="0">
                <a:latin typeface="Times New Roman" panose="02020603050405020304" pitchFamily="18" charset="0"/>
                <a:cs typeface="Times New Roman" panose="02020603050405020304" pitchFamily="18" charset="0"/>
              </a:rPr>
              <a:t>Pair Plot</a:t>
            </a:r>
            <a:r>
              <a:rPr lang="en-US" sz="1200" dirty="0">
                <a:latin typeface="Times New Roman" panose="02020603050405020304" pitchFamily="18" charset="0"/>
                <a:cs typeface="Times New Roman" panose="02020603050405020304" pitchFamily="18" charset="0"/>
              </a:rPr>
              <a:t> (or scatterplot matrix), further illustrates the </a:t>
            </a:r>
            <a:r>
              <a:rPr lang="en-US" sz="1200" b="1" dirty="0">
                <a:latin typeface="Times New Roman" panose="02020603050405020304" pitchFamily="18" charset="0"/>
                <a:cs typeface="Times New Roman" panose="02020603050405020304" pitchFamily="18" charset="0"/>
              </a:rPr>
              <a:t>separation</a:t>
            </a:r>
            <a:r>
              <a:rPr lang="en-US" sz="1200" dirty="0">
                <a:latin typeface="Times New Roman" panose="02020603050405020304" pitchFamily="18" charset="0"/>
                <a:cs typeface="Times New Roman" panose="02020603050405020304" pitchFamily="18" charset="0"/>
              </a:rPr>
              <a:t> and characteristics of these three State Clusters (0, 1, and 2) based on four broader subject categories: </a:t>
            </a:r>
            <a:r>
              <a:rPr lang="en-US" sz="1200" b="1" dirty="0">
                <a:latin typeface="Times New Roman" panose="02020603050405020304" pitchFamily="18" charset="0"/>
                <a:cs typeface="Times New Roman" panose="02020603050405020304" pitchFamily="18" charset="0"/>
              </a:rPr>
              <a:t>Math_Performance, Science_Performance, SST_Performance, and Language_Performance</a:t>
            </a:r>
            <a:r>
              <a:rPr lang="en-US" sz="1200"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1324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A6690-8569-02A4-8105-40A9E94B840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AEE619B-70AB-008B-B86F-47464A417A00}"/>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Classification Model Plots</a:t>
            </a:r>
          </a:p>
        </p:txBody>
      </p:sp>
      <p:sp>
        <p:nvSpPr>
          <p:cNvPr id="7" name="TextBox 6">
            <a:extLst>
              <a:ext uri="{FF2B5EF4-FFF2-40B4-BE49-F238E27FC236}">
                <a16:creationId xmlns:a16="http://schemas.microsoft.com/office/drawing/2014/main" id="{076DF621-666C-0D39-B05E-5D9A19E48CCB}"/>
              </a:ext>
            </a:extLst>
          </p:cNvPr>
          <p:cNvSpPr txBox="1"/>
          <p:nvPr/>
        </p:nvSpPr>
        <p:spPr>
          <a:xfrm>
            <a:off x="528066" y="936010"/>
            <a:ext cx="5040630" cy="984885"/>
          </a:xfrm>
          <a:prstGeom prst="rect">
            <a:avLst/>
          </a:prstGeom>
          <a:noFill/>
        </p:spPr>
        <p:txBody>
          <a:bodyPr wrap="square">
            <a:spAutoFit/>
          </a:bodyPr>
          <a:lstStyle/>
          <a:p>
            <a:pPr algn="just">
              <a:spcAft>
                <a:spcPts val="1200"/>
              </a:spcAft>
            </a:pPr>
            <a:r>
              <a:rPr lang="en-US" sz="1200" b="1" dirty="0">
                <a:latin typeface="Times New Roman" panose="02020603050405020304" pitchFamily="18" charset="0"/>
                <a:cs typeface="Times New Roman" panose="02020603050405020304" pitchFamily="18" charset="0"/>
              </a:rPr>
              <a:t>Performance Category Distribution (2021) : [Logistic Regression]</a:t>
            </a:r>
          </a:p>
          <a:p>
            <a:pPr algn="just">
              <a:spcAft>
                <a:spcPts val="1200"/>
              </a:spcAft>
            </a:pPr>
            <a:r>
              <a:rPr lang="en-US" sz="1200" dirty="0">
                <a:latin typeface="Times New Roman" panose="02020603050405020304" pitchFamily="18" charset="0"/>
                <a:cs typeface="Times New Roman" panose="02020603050405020304" pitchFamily="18" charset="0"/>
              </a:rPr>
              <a:t>A count plot visualizing the </a:t>
            </a:r>
            <a:r>
              <a:rPr lang="en-US" sz="1200" b="1" dirty="0">
                <a:latin typeface="Times New Roman" panose="02020603050405020304" pitchFamily="18" charset="0"/>
                <a:cs typeface="Times New Roman" panose="02020603050405020304" pitchFamily="18" charset="0"/>
              </a:rPr>
              <a:t>distribution of districts</a:t>
            </a:r>
            <a:r>
              <a:rPr lang="en-US" sz="1200" dirty="0">
                <a:latin typeface="Times New Roman" panose="02020603050405020304" pitchFamily="18" charset="0"/>
                <a:cs typeface="Times New Roman" panose="02020603050405020304" pitchFamily="18" charset="0"/>
              </a:rPr>
              <a:t> across the three newly created performance tiers: </a:t>
            </a:r>
            <a:r>
              <a:rPr lang="en-US" sz="1200" b="1" dirty="0">
                <a:latin typeface="Times New Roman" panose="02020603050405020304" pitchFamily="18" charset="0"/>
                <a:cs typeface="Times New Roman" panose="02020603050405020304" pitchFamily="18" charset="0"/>
              </a:rPr>
              <a:t>Hotspot</a:t>
            </a:r>
            <a:r>
              <a:rPr lang="en-US" sz="1200" dirty="0">
                <a:latin typeface="Times New Roman" panose="02020603050405020304" pitchFamily="18" charset="0"/>
                <a:cs typeface="Times New Roman" panose="02020603050405020304" pitchFamily="18" charset="0"/>
              </a:rPr>
              <a:t> (Low), </a:t>
            </a:r>
            <a:r>
              <a:rPr lang="en-US" sz="1200" b="1" dirty="0">
                <a:latin typeface="Times New Roman" panose="02020603050405020304" pitchFamily="18" charset="0"/>
                <a:cs typeface="Times New Roman" panose="02020603050405020304" pitchFamily="18" charset="0"/>
              </a:rPr>
              <a:t>Normal</a:t>
            </a:r>
            <a:r>
              <a:rPr lang="en-US" sz="1200" dirty="0">
                <a:latin typeface="Times New Roman" panose="02020603050405020304" pitchFamily="18" charset="0"/>
                <a:cs typeface="Times New Roman" panose="02020603050405020304" pitchFamily="18" charset="0"/>
              </a:rPr>
              <a:t> (Medium), and </a:t>
            </a:r>
            <a:r>
              <a:rPr lang="en-US" sz="1200" b="1" dirty="0">
                <a:latin typeface="Times New Roman" panose="02020603050405020304" pitchFamily="18" charset="0"/>
                <a:cs typeface="Times New Roman" panose="02020603050405020304" pitchFamily="18" charset="0"/>
              </a:rPr>
              <a:t>Bright Spot</a:t>
            </a:r>
            <a:r>
              <a:rPr lang="en-US" sz="1200" dirty="0">
                <a:latin typeface="Times New Roman" panose="02020603050405020304" pitchFamily="18" charset="0"/>
                <a:cs typeface="Times New Roman" panose="02020603050405020304" pitchFamily="18" charset="0"/>
              </a:rPr>
              <a:t> (High). This shows the class balance for the classification tasks.</a:t>
            </a:r>
            <a:endParaRPr lang="en-US" sz="1200" b="0" i="0" dirty="0">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B50B09B-4A76-BE00-EB8B-C3AFC0F361D0}"/>
              </a:ext>
            </a:extLst>
          </p:cNvPr>
          <p:cNvPicPr>
            <a:picLocks noChangeAspect="1"/>
          </p:cNvPicPr>
          <p:nvPr/>
        </p:nvPicPr>
        <p:blipFill>
          <a:blip r:embed="rId2"/>
          <a:stretch>
            <a:fillRect/>
          </a:stretch>
        </p:blipFill>
        <p:spPr>
          <a:xfrm>
            <a:off x="6623306" y="929713"/>
            <a:ext cx="3233926" cy="2499287"/>
          </a:xfrm>
          <a:prstGeom prst="rect">
            <a:avLst/>
          </a:prstGeom>
        </p:spPr>
      </p:pic>
      <p:pic>
        <p:nvPicPr>
          <p:cNvPr id="6" name="Picture 5">
            <a:extLst>
              <a:ext uri="{FF2B5EF4-FFF2-40B4-BE49-F238E27FC236}">
                <a16:creationId xmlns:a16="http://schemas.microsoft.com/office/drawing/2014/main" id="{0D0EB143-16BB-560E-9F1C-966A740C277B}"/>
              </a:ext>
            </a:extLst>
          </p:cNvPr>
          <p:cNvPicPr>
            <a:picLocks noChangeAspect="1"/>
          </p:cNvPicPr>
          <p:nvPr/>
        </p:nvPicPr>
        <p:blipFill>
          <a:blip r:embed="rId3"/>
          <a:stretch>
            <a:fillRect/>
          </a:stretch>
        </p:blipFill>
        <p:spPr>
          <a:xfrm>
            <a:off x="6623306" y="3639769"/>
            <a:ext cx="3233926" cy="2577467"/>
          </a:xfrm>
          <a:prstGeom prst="rect">
            <a:avLst/>
          </a:prstGeom>
        </p:spPr>
      </p:pic>
      <p:pic>
        <p:nvPicPr>
          <p:cNvPr id="10" name="Picture 9">
            <a:extLst>
              <a:ext uri="{FF2B5EF4-FFF2-40B4-BE49-F238E27FC236}">
                <a16:creationId xmlns:a16="http://schemas.microsoft.com/office/drawing/2014/main" id="{6F5D8E59-C101-B1E6-21D3-3FEDCD8648C5}"/>
              </a:ext>
            </a:extLst>
          </p:cNvPr>
          <p:cNvPicPr>
            <a:picLocks noChangeAspect="1"/>
          </p:cNvPicPr>
          <p:nvPr/>
        </p:nvPicPr>
        <p:blipFill>
          <a:blip r:embed="rId4"/>
          <a:stretch>
            <a:fillRect/>
          </a:stretch>
        </p:blipFill>
        <p:spPr>
          <a:xfrm>
            <a:off x="528066" y="1874519"/>
            <a:ext cx="4458322" cy="4431261"/>
          </a:xfrm>
          <a:prstGeom prst="rect">
            <a:avLst/>
          </a:prstGeom>
        </p:spPr>
      </p:pic>
    </p:spTree>
    <p:extLst>
      <p:ext uri="{BB962C8B-B14F-4D97-AF65-F5344CB8AC3E}">
        <p14:creationId xmlns:p14="http://schemas.microsoft.com/office/powerpoint/2010/main" val="3995875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54AB9-5008-B0C6-71FB-24226022E3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EA0574-6A74-EDED-A3AB-22A0A01C7CDE}"/>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Classification Model Plots</a:t>
            </a:r>
          </a:p>
        </p:txBody>
      </p:sp>
      <p:sp>
        <p:nvSpPr>
          <p:cNvPr id="7" name="TextBox 6">
            <a:extLst>
              <a:ext uri="{FF2B5EF4-FFF2-40B4-BE49-F238E27FC236}">
                <a16:creationId xmlns:a16="http://schemas.microsoft.com/office/drawing/2014/main" id="{C3E9155B-32CC-8661-E79A-AE0898C70105}"/>
              </a:ext>
            </a:extLst>
          </p:cNvPr>
          <p:cNvSpPr txBox="1"/>
          <p:nvPr/>
        </p:nvSpPr>
        <p:spPr>
          <a:xfrm>
            <a:off x="751713" y="862858"/>
            <a:ext cx="10688574" cy="461665"/>
          </a:xfrm>
          <a:prstGeom prst="rect">
            <a:avLst/>
          </a:prstGeom>
          <a:noFill/>
        </p:spPr>
        <p:txBody>
          <a:bodyPr wrap="square">
            <a:spAutoFit/>
          </a:bodyPr>
          <a:lstStyle/>
          <a:p>
            <a:pPr algn="just">
              <a:spcAft>
                <a:spcPts val="1200"/>
              </a:spcAft>
            </a:pPr>
            <a:r>
              <a:rPr lang="en-US" sz="1200" b="1" dirty="0">
                <a:latin typeface="Times New Roman" panose="02020603050405020304" pitchFamily="18" charset="0"/>
                <a:cs typeface="Times New Roman" panose="02020603050405020304" pitchFamily="18" charset="0"/>
              </a:rPr>
              <a:t>Decision Tree Feature Importance: </a:t>
            </a:r>
            <a:r>
              <a:rPr lang="en-US" sz="1200" dirty="0">
                <a:latin typeface="Times New Roman" panose="02020603050405020304" pitchFamily="18" charset="0"/>
                <a:cs typeface="Times New Roman" panose="02020603050405020304" pitchFamily="18" charset="0"/>
              </a:rPr>
              <a:t>A horizontal flow chart showing the </a:t>
            </a:r>
            <a:r>
              <a:rPr lang="en-US" sz="1200" b="1" dirty="0">
                <a:latin typeface="Times New Roman" panose="02020603050405020304" pitchFamily="18" charset="0"/>
                <a:cs typeface="Times New Roman" panose="02020603050405020304" pitchFamily="18" charset="0"/>
              </a:rPr>
              <a:t>relative importance</a:t>
            </a:r>
            <a:r>
              <a:rPr lang="en-US" sz="1200" dirty="0">
                <a:latin typeface="Times New Roman" panose="02020603050405020304" pitchFamily="18" charset="0"/>
                <a:cs typeface="Times New Roman" panose="02020603050405020304" pitchFamily="18" charset="0"/>
              </a:rPr>
              <a:t> of the features (learning outcomes and size metrics) used by the Decision Tree Classifier when predicting a district's performance category.</a:t>
            </a:r>
            <a:endParaRPr lang="en-US" sz="1200" b="0" i="0" dirty="0">
              <a:effectLst/>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A09986A9-1557-B470-E244-6FCA0D2660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 y="1501581"/>
            <a:ext cx="10241280" cy="4380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4814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A0F99-1431-0A3E-6214-28800334002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1DBFA6-26E4-80AD-71A6-C4CF7220A387}"/>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Classification Model Plots</a:t>
            </a:r>
          </a:p>
        </p:txBody>
      </p:sp>
      <p:pic>
        <p:nvPicPr>
          <p:cNvPr id="5" name="Picture 4">
            <a:extLst>
              <a:ext uri="{FF2B5EF4-FFF2-40B4-BE49-F238E27FC236}">
                <a16:creationId xmlns:a16="http://schemas.microsoft.com/office/drawing/2014/main" id="{8478F705-9C45-4BD6-FA9D-2B17B9DB8675}"/>
              </a:ext>
            </a:extLst>
          </p:cNvPr>
          <p:cNvPicPr>
            <a:picLocks noChangeAspect="1"/>
          </p:cNvPicPr>
          <p:nvPr/>
        </p:nvPicPr>
        <p:blipFill>
          <a:blip r:embed="rId2"/>
          <a:stretch>
            <a:fillRect/>
          </a:stretch>
        </p:blipFill>
        <p:spPr>
          <a:xfrm>
            <a:off x="636920" y="1121844"/>
            <a:ext cx="4757234" cy="3157548"/>
          </a:xfrm>
          <a:prstGeom prst="rect">
            <a:avLst/>
          </a:prstGeom>
        </p:spPr>
      </p:pic>
      <p:pic>
        <p:nvPicPr>
          <p:cNvPr id="9" name="Picture 8">
            <a:extLst>
              <a:ext uri="{FF2B5EF4-FFF2-40B4-BE49-F238E27FC236}">
                <a16:creationId xmlns:a16="http://schemas.microsoft.com/office/drawing/2014/main" id="{431EF2B6-D575-0929-897B-E99B89893953}"/>
              </a:ext>
            </a:extLst>
          </p:cNvPr>
          <p:cNvPicPr>
            <a:picLocks noChangeAspect="1"/>
          </p:cNvPicPr>
          <p:nvPr/>
        </p:nvPicPr>
        <p:blipFill>
          <a:blip r:embed="rId3"/>
          <a:stretch>
            <a:fillRect/>
          </a:stretch>
        </p:blipFill>
        <p:spPr>
          <a:xfrm>
            <a:off x="6096000" y="1121844"/>
            <a:ext cx="4757234" cy="4481242"/>
          </a:xfrm>
          <a:prstGeom prst="rect">
            <a:avLst/>
          </a:prstGeom>
        </p:spPr>
      </p:pic>
      <p:sp>
        <p:nvSpPr>
          <p:cNvPr id="12" name="TextBox 11">
            <a:extLst>
              <a:ext uri="{FF2B5EF4-FFF2-40B4-BE49-F238E27FC236}">
                <a16:creationId xmlns:a16="http://schemas.microsoft.com/office/drawing/2014/main" id="{B5CD7021-2984-C3B9-D6BC-0A4B5B8A3039}"/>
              </a:ext>
            </a:extLst>
          </p:cNvPr>
          <p:cNvSpPr txBox="1"/>
          <p:nvPr/>
        </p:nvSpPr>
        <p:spPr>
          <a:xfrm>
            <a:off x="354330" y="4279393"/>
            <a:ext cx="5260086" cy="646331"/>
          </a:xfrm>
          <a:prstGeom prst="rect">
            <a:avLst/>
          </a:prstGeom>
          <a:noFill/>
        </p:spPr>
        <p:txBody>
          <a:bodyPr wrap="square">
            <a:spAutoFit/>
          </a:bodyPr>
          <a:lstStyle/>
          <a:p>
            <a:pPr algn="just"/>
            <a:r>
              <a:rPr lang="en-US" sz="1200" dirty="0">
                <a:latin typeface="Times New Roman" panose="02020603050405020304" pitchFamily="18" charset="0"/>
                <a:cs typeface="Times New Roman" panose="02020603050405020304" pitchFamily="18" charset="0"/>
              </a:rPr>
              <a:t>This image shows the performance of a </a:t>
            </a:r>
            <a:r>
              <a:rPr lang="en-US" sz="1200" b="1" dirty="0">
                <a:latin typeface="Times New Roman" panose="02020603050405020304" pitchFamily="18" charset="0"/>
                <a:cs typeface="Times New Roman" panose="02020603050405020304" pitchFamily="18" charset="0"/>
              </a:rPr>
              <a:t>Logistic Regression</a:t>
            </a:r>
            <a:r>
              <a:rPr lang="en-US" sz="1200" dirty="0">
                <a:latin typeface="Times New Roman" panose="02020603050405020304" pitchFamily="18" charset="0"/>
                <a:cs typeface="Times New Roman" panose="02020603050405020304" pitchFamily="18" charset="0"/>
              </a:rPr>
              <a:t> model on a classification task where districts were categorized into three performance tiers: </a:t>
            </a:r>
            <a:r>
              <a:rPr lang="en-US" sz="1200" b="1" dirty="0">
                <a:latin typeface="Times New Roman" panose="02020603050405020304" pitchFamily="18" charset="0"/>
                <a:cs typeface="Times New Roman" panose="02020603050405020304" pitchFamily="18" charset="0"/>
              </a:rPr>
              <a:t>Hotspot</a:t>
            </a:r>
            <a:r>
              <a:rPr lang="en-US" sz="1200" dirty="0">
                <a:latin typeface="Times New Roman" panose="02020603050405020304" pitchFamily="18" charset="0"/>
                <a:cs typeface="Times New Roman" panose="02020603050405020304" pitchFamily="18" charset="0"/>
              </a:rPr>
              <a:t> (Low), </a:t>
            </a:r>
            <a:r>
              <a:rPr lang="en-US" sz="1200" b="1" dirty="0">
                <a:latin typeface="Times New Roman" panose="02020603050405020304" pitchFamily="18" charset="0"/>
                <a:cs typeface="Times New Roman" panose="02020603050405020304" pitchFamily="18" charset="0"/>
              </a:rPr>
              <a:t>Normal</a:t>
            </a:r>
            <a:r>
              <a:rPr lang="en-US" sz="1200" dirty="0">
                <a:latin typeface="Times New Roman" panose="02020603050405020304" pitchFamily="18" charset="0"/>
                <a:cs typeface="Times New Roman" panose="02020603050405020304" pitchFamily="18" charset="0"/>
              </a:rPr>
              <a:t> (Medium), and </a:t>
            </a:r>
            <a:r>
              <a:rPr lang="en-US" sz="1200" b="1" dirty="0">
                <a:latin typeface="Times New Roman" panose="02020603050405020304" pitchFamily="18" charset="0"/>
                <a:cs typeface="Times New Roman" panose="02020603050405020304" pitchFamily="18" charset="0"/>
              </a:rPr>
              <a:t>Bright Spot</a:t>
            </a:r>
            <a:r>
              <a:rPr lang="en-US" sz="1200" dirty="0">
                <a:latin typeface="Times New Roman" panose="02020603050405020304" pitchFamily="18" charset="0"/>
                <a:cs typeface="Times New Roman" panose="02020603050405020304" pitchFamily="18" charset="0"/>
              </a:rPr>
              <a:t> (High).</a:t>
            </a:r>
            <a:endParaRPr lang="en-IN" sz="1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7A60050-C3E8-B8AA-0795-DD300EB7BA38}"/>
              </a:ext>
            </a:extLst>
          </p:cNvPr>
          <p:cNvSpPr txBox="1"/>
          <p:nvPr/>
        </p:nvSpPr>
        <p:spPr>
          <a:xfrm>
            <a:off x="6015228" y="5603086"/>
            <a:ext cx="4838006" cy="830997"/>
          </a:xfrm>
          <a:prstGeom prst="rect">
            <a:avLst/>
          </a:prstGeom>
          <a:noFill/>
        </p:spPr>
        <p:txBody>
          <a:bodyPr wrap="square">
            <a:spAutoFit/>
          </a:bodyPr>
          <a:lstStyle/>
          <a:p>
            <a:pPr algn="just">
              <a:buNone/>
            </a:pPr>
            <a:r>
              <a:rPr lang="en-US" sz="1200" dirty="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Logistic Regression</a:t>
            </a:r>
            <a:r>
              <a:rPr lang="en-US" sz="1200" dirty="0">
                <a:latin typeface="Times New Roman" panose="02020603050405020304" pitchFamily="18" charset="0"/>
                <a:cs typeface="Times New Roman" panose="02020603050405020304" pitchFamily="18" charset="0"/>
              </a:rPr>
              <a:t> model slightly outperforms the Decision Tree in terms of overall accuracy and F1-score. It is particularly better at </a:t>
            </a:r>
            <a:r>
              <a:rPr lang="en-US" sz="1200" b="1" dirty="0">
                <a:latin typeface="Times New Roman" panose="02020603050405020304" pitchFamily="18" charset="0"/>
                <a:cs typeface="Times New Roman" panose="02020603050405020304" pitchFamily="18" charset="0"/>
              </a:rPr>
              <a:t>Precision for the Hotspot class</a:t>
            </a:r>
            <a:r>
              <a:rPr lang="en-US" sz="1200" dirty="0">
                <a:latin typeface="Times New Roman" panose="02020603050405020304" pitchFamily="18" charset="0"/>
                <a:cs typeface="Times New Roman" panose="02020603050405020304" pitchFamily="18" charset="0"/>
              </a:rPr>
              <a:t>, meaning when it predicts a district is a Hotspot, it's more likely to be correct than the Decision Tree.</a:t>
            </a:r>
          </a:p>
        </p:txBody>
      </p:sp>
    </p:spTree>
    <p:extLst>
      <p:ext uri="{BB962C8B-B14F-4D97-AF65-F5344CB8AC3E}">
        <p14:creationId xmlns:p14="http://schemas.microsoft.com/office/powerpoint/2010/main" val="310680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F2F79-28B3-68BD-9DC7-6FBDF25A77F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0C82CDC-BFEE-95C1-C7EE-4366B47BA8FB}"/>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Deep Learning Plots</a:t>
            </a:r>
          </a:p>
        </p:txBody>
      </p:sp>
      <p:pic>
        <p:nvPicPr>
          <p:cNvPr id="3" name="Picture 2">
            <a:extLst>
              <a:ext uri="{FF2B5EF4-FFF2-40B4-BE49-F238E27FC236}">
                <a16:creationId xmlns:a16="http://schemas.microsoft.com/office/drawing/2014/main" id="{E1D2D0F5-F988-77C1-1FFC-2B7DFEE22CD3}"/>
              </a:ext>
            </a:extLst>
          </p:cNvPr>
          <p:cNvPicPr>
            <a:picLocks noChangeAspect="1"/>
          </p:cNvPicPr>
          <p:nvPr/>
        </p:nvPicPr>
        <p:blipFill>
          <a:blip r:embed="rId2"/>
          <a:stretch>
            <a:fillRect/>
          </a:stretch>
        </p:blipFill>
        <p:spPr>
          <a:xfrm>
            <a:off x="380824" y="1121844"/>
            <a:ext cx="5249008" cy="752580"/>
          </a:xfrm>
          <a:prstGeom prst="rect">
            <a:avLst/>
          </a:prstGeom>
        </p:spPr>
      </p:pic>
      <p:pic>
        <p:nvPicPr>
          <p:cNvPr id="7" name="Picture 6">
            <a:extLst>
              <a:ext uri="{FF2B5EF4-FFF2-40B4-BE49-F238E27FC236}">
                <a16:creationId xmlns:a16="http://schemas.microsoft.com/office/drawing/2014/main" id="{CE540922-6A2C-38BE-B08D-5416CB09F9CF}"/>
              </a:ext>
            </a:extLst>
          </p:cNvPr>
          <p:cNvPicPr>
            <a:picLocks noChangeAspect="1"/>
          </p:cNvPicPr>
          <p:nvPr/>
        </p:nvPicPr>
        <p:blipFill>
          <a:blip r:embed="rId3"/>
          <a:stretch>
            <a:fillRect/>
          </a:stretch>
        </p:blipFill>
        <p:spPr>
          <a:xfrm>
            <a:off x="342097" y="1874424"/>
            <a:ext cx="5753903" cy="2981741"/>
          </a:xfrm>
          <a:prstGeom prst="rect">
            <a:avLst/>
          </a:prstGeom>
        </p:spPr>
      </p:pic>
      <p:pic>
        <p:nvPicPr>
          <p:cNvPr id="10" name="Picture 9">
            <a:extLst>
              <a:ext uri="{FF2B5EF4-FFF2-40B4-BE49-F238E27FC236}">
                <a16:creationId xmlns:a16="http://schemas.microsoft.com/office/drawing/2014/main" id="{B272795A-E563-DF12-B18D-236DCF073606}"/>
              </a:ext>
            </a:extLst>
          </p:cNvPr>
          <p:cNvPicPr>
            <a:picLocks noChangeAspect="1"/>
          </p:cNvPicPr>
          <p:nvPr/>
        </p:nvPicPr>
        <p:blipFill>
          <a:blip r:embed="rId4"/>
          <a:stretch>
            <a:fillRect/>
          </a:stretch>
        </p:blipFill>
        <p:spPr>
          <a:xfrm>
            <a:off x="6457203" y="877824"/>
            <a:ext cx="3784066" cy="2463083"/>
          </a:xfrm>
          <a:prstGeom prst="rect">
            <a:avLst/>
          </a:prstGeom>
        </p:spPr>
      </p:pic>
      <p:pic>
        <p:nvPicPr>
          <p:cNvPr id="13" name="Picture 12">
            <a:extLst>
              <a:ext uri="{FF2B5EF4-FFF2-40B4-BE49-F238E27FC236}">
                <a16:creationId xmlns:a16="http://schemas.microsoft.com/office/drawing/2014/main" id="{0A9F3839-CB71-6091-87B0-A2AE21898EDF}"/>
              </a:ext>
            </a:extLst>
          </p:cNvPr>
          <p:cNvPicPr>
            <a:picLocks noChangeAspect="1"/>
          </p:cNvPicPr>
          <p:nvPr/>
        </p:nvPicPr>
        <p:blipFill>
          <a:blip r:embed="rId5"/>
          <a:stretch>
            <a:fillRect/>
          </a:stretch>
        </p:blipFill>
        <p:spPr>
          <a:xfrm>
            <a:off x="6457203" y="3517094"/>
            <a:ext cx="3784066" cy="3008698"/>
          </a:xfrm>
          <a:prstGeom prst="rect">
            <a:avLst/>
          </a:prstGeom>
        </p:spPr>
      </p:pic>
      <p:sp>
        <p:nvSpPr>
          <p:cNvPr id="17" name="TextBox 16">
            <a:extLst>
              <a:ext uri="{FF2B5EF4-FFF2-40B4-BE49-F238E27FC236}">
                <a16:creationId xmlns:a16="http://schemas.microsoft.com/office/drawing/2014/main" id="{61B89543-2FF0-BB8D-8C6B-2334DA3C7315}"/>
              </a:ext>
            </a:extLst>
          </p:cNvPr>
          <p:cNvSpPr txBox="1"/>
          <p:nvPr/>
        </p:nvSpPr>
        <p:spPr>
          <a:xfrm>
            <a:off x="280431" y="5043658"/>
            <a:ext cx="5571729" cy="1569660"/>
          </a:xfrm>
          <a:prstGeom prst="rect">
            <a:avLst/>
          </a:prstGeom>
          <a:noFill/>
        </p:spPr>
        <p:txBody>
          <a:bodyPr wrap="square">
            <a:spAutoFit/>
          </a:bodyPr>
          <a:lstStyle/>
          <a:p>
            <a:pPr algn="just"/>
            <a:r>
              <a:rPr lang="en-US" sz="1200" b="0" i="0" dirty="0">
                <a:effectLst/>
                <a:latin typeface="Times New Roman" panose="02020603050405020304" pitchFamily="18" charset="0"/>
                <a:cs typeface="Times New Roman" panose="02020603050405020304" pitchFamily="18" charset="0"/>
              </a:rPr>
              <a:t>This project demonstrates the successful training and evaluation of a </a:t>
            </a:r>
            <a:r>
              <a:rPr lang="en-US" sz="1200" b="1" i="0" dirty="0">
                <a:effectLst/>
                <a:latin typeface="Times New Roman" panose="02020603050405020304" pitchFamily="18" charset="0"/>
                <a:cs typeface="Times New Roman" panose="02020603050405020304" pitchFamily="18" charset="0"/>
              </a:rPr>
              <a:t>Neural Network Model</a:t>
            </a:r>
            <a:r>
              <a:rPr lang="en-US" sz="1200" b="0" i="0" dirty="0">
                <a:effectLst/>
                <a:latin typeface="Times New Roman" panose="02020603050405020304" pitchFamily="18" charset="0"/>
                <a:cs typeface="Times New Roman" panose="02020603050405020304" pitchFamily="18" charset="0"/>
              </a:rPr>
              <a:t> for a three-class classification task (High, Low, Medium). The model was built using </a:t>
            </a:r>
            <a:r>
              <a:rPr lang="en-US" sz="1200" b="1" i="0" dirty="0">
                <a:effectLst/>
                <a:latin typeface="Times New Roman" panose="02020603050405020304" pitchFamily="18" charset="0"/>
                <a:cs typeface="Times New Roman" panose="02020603050405020304" pitchFamily="18" charset="0"/>
              </a:rPr>
              <a:t>17 input features</a:t>
            </a:r>
            <a:r>
              <a:rPr lang="en-US" sz="1200" b="0" i="0" dirty="0">
                <a:effectLst/>
                <a:latin typeface="Times New Roman" panose="02020603050405020304" pitchFamily="18" charset="0"/>
                <a:cs typeface="Times New Roman" panose="02020603050405020304" pitchFamily="18" charset="0"/>
              </a:rPr>
              <a:t> and utilized three dense layers, culminating in a final layer with 3 neurons, corresponding to the three output classes, which were prepared using </a:t>
            </a:r>
            <a:r>
              <a:rPr lang="en-US" sz="1200" b="1" i="0" dirty="0">
                <a:effectLst/>
                <a:latin typeface="Times New Roman" panose="02020603050405020304" pitchFamily="18" charset="0"/>
                <a:cs typeface="Times New Roman" panose="02020603050405020304" pitchFamily="18" charset="0"/>
              </a:rPr>
              <a:t>One-Hot Encoding</a:t>
            </a:r>
            <a:r>
              <a:rPr lang="en-US" sz="1200" b="0" i="0" dirty="0">
                <a:effectLst/>
                <a:latin typeface="Times New Roman" panose="02020603050405020304" pitchFamily="18" charset="0"/>
                <a:cs typeface="Times New Roman" panose="02020603050405020304" pitchFamily="18" charset="0"/>
              </a:rPr>
              <a:t>. The model was trained on a dataset of 1119 samples and evaluated on a separate test set of 280 samples. The overall evaluation shows a </a:t>
            </a:r>
            <a:r>
              <a:rPr lang="en-US" sz="1200" b="1" i="0" dirty="0">
                <a:effectLst/>
                <a:latin typeface="Times New Roman" panose="02020603050405020304" pitchFamily="18" charset="0"/>
                <a:cs typeface="Times New Roman" panose="02020603050405020304" pitchFamily="18" charset="0"/>
              </a:rPr>
              <a:t>strong performance</a:t>
            </a:r>
            <a:r>
              <a:rPr lang="en-US" sz="1200" b="0" i="0" dirty="0">
                <a:effectLst/>
                <a:latin typeface="Times New Roman" panose="02020603050405020304" pitchFamily="18" charset="0"/>
                <a:cs typeface="Times New Roman" panose="02020603050405020304" pitchFamily="18" charset="0"/>
              </a:rPr>
              <a:t>, achieving a </a:t>
            </a:r>
            <a:r>
              <a:rPr lang="en-US" sz="1200" b="1" i="0" dirty="0">
                <a:effectLst/>
                <a:latin typeface="Times New Roman" panose="02020603050405020304" pitchFamily="18" charset="0"/>
                <a:cs typeface="Times New Roman" panose="02020603050405020304" pitchFamily="18" charset="0"/>
              </a:rPr>
              <a:t>Test Accuracy of 87.14%</a:t>
            </a:r>
            <a:r>
              <a:rPr lang="en-US" sz="1200" b="0" i="0" dirty="0">
                <a:effectLst/>
                <a:latin typeface="Times New Roman" panose="02020603050405020304" pitchFamily="18" charset="0"/>
                <a:cs typeface="Times New Roman" panose="02020603050405020304" pitchFamily="18" charset="0"/>
              </a:rPr>
              <a:t> with a relatively low loss of $0.4945$.</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433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E6CB8-7806-D67F-3A6C-E415D517D78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2F2F00-8FA4-ECA1-2C01-EDEA5A2B964E}"/>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Deep Learning Plots</a:t>
            </a:r>
          </a:p>
        </p:txBody>
      </p:sp>
      <p:pic>
        <p:nvPicPr>
          <p:cNvPr id="5122" name="Picture 2">
            <a:extLst>
              <a:ext uri="{FF2B5EF4-FFF2-40B4-BE49-F238E27FC236}">
                <a16:creationId xmlns:a16="http://schemas.microsoft.com/office/drawing/2014/main" id="{AE7F903E-0457-9DB6-08B1-815AFE5809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717" y="821444"/>
            <a:ext cx="5099726" cy="329734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CB1C10AE-EF54-1B74-2E31-296A7BA786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4474" y="3319272"/>
            <a:ext cx="5153976" cy="32973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EC544FD-B99D-62BE-A02B-605FCA99C943}"/>
              </a:ext>
            </a:extLst>
          </p:cNvPr>
          <p:cNvSpPr txBox="1"/>
          <p:nvPr/>
        </p:nvSpPr>
        <p:spPr>
          <a:xfrm>
            <a:off x="402717" y="4200507"/>
            <a:ext cx="5099726" cy="1938992"/>
          </a:xfrm>
          <a:prstGeom prst="rect">
            <a:avLst/>
          </a:prstGeom>
          <a:noFill/>
        </p:spPr>
        <p:txBody>
          <a:bodyPr wrap="square">
            <a:spAutoFit/>
          </a:bodyPr>
          <a:lstStyle/>
          <a:p>
            <a:pPr algn="just"/>
            <a:r>
              <a:rPr lang="en-US" sz="1200" b="0" i="0" dirty="0">
                <a:effectLst/>
                <a:latin typeface="Times New Roman" panose="02020603050405020304" pitchFamily="18" charset="0"/>
                <a:cs typeface="Times New Roman" panose="02020603050405020304" pitchFamily="18" charset="0"/>
              </a:rPr>
              <a:t>The first plot, </a:t>
            </a:r>
            <a:r>
              <a:rPr lang="en-US" sz="1200" b="1" i="0" dirty="0">
                <a:effectLst/>
                <a:latin typeface="Times New Roman" panose="02020603050405020304" pitchFamily="18" charset="0"/>
                <a:cs typeface="Times New Roman" panose="02020603050405020304" pitchFamily="18" charset="0"/>
              </a:rPr>
              <a:t>Model Accuracy Over Epochs</a:t>
            </a:r>
            <a:r>
              <a:rPr lang="en-US" sz="1200" b="0" i="0" dirty="0">
                <a:effectLst/>
                <a:latin typeface="Times New Roman" panose="02020603050405020304" pitchFamily="18" charset="0"/>
                <a:cs typeface="Times New Roman" panose="02020603050405020304" pitchFamily="18" charset="0"/>
              </a:rPr>
              <a:t>, shows that both the </a:t>
            </a:r>
            <a:r>
              <a:rPr lang="en-US" sz="1200" b="1" i="0" dirty="0">
                <a:effectLst/>
                <a:latin typeface="Times New Roman" panose="02020603050405020304" pitchFamily="18" charset="0"/>
                <a:cs typeface="Times New Roman" panose="02020603050405020304" pitchFamily="18" charset="0"/>
              </a:rPr>
              <a:t>Training Accuracy</a:t>
            </a:r>
            <a:r>
              <a:rPr lang="en-US" sz="1200" b="0" i="0" dirty="0">
                <a:effectLst/>
                <a:latin typeface="Times New Roman" panose="02020603050405020304" pitchFamily="18" charset="0"/>
                <a:cs typeface="Times New Roman" panose="02020603050405020304" pitchFamily="18" charset="0"/>
              </a:rPr>
              <a:t> (blue line) and the </a:t>
            </a:r>
            <a:r>
              <a:rPr lang="en-US" sz="1200" b="1" i="0" dirty="0">
                <a:effectLst/>
                <a:latin typeface="Times New Roman" panose="02020603050405020304" pitchFamily="18" charset="0"/>
                <a:cs typeface="Times New Roman" panose="02020603050405020304" pitchFamily="18" charset="0"/>
              </a:rPr>
              <a:t>Validation Accuracy</a:t>
            </a:r>
            <a:r>
              <a:rPr lang="en-US" sz="1200" b="0" i="0" dirty="0">
                <a:effectLst/>
                <a:latin typeface="Times New Roman" panose="02020603050405020304" pitchFamily="18" charset="0"/>
                <a:cs typeface="Times New Roman" panose="02020603050405020304" pitchFamily="18" charset="0"/>
              </a:rPr>
              <a:t> (orange line) increase rapidly during the initial epochs (0 to about 10) before leveling off. The training accuracy consistently reaches a very high level, approaching </a:t>
            </a:r>
            <a:r>
              <a:rPr lang="en-US" sz="1200" b="1" i="0" dirty="0">
                <a:effectLst/>
                <a:latin typeface="Times New Roman" panose="02020603050405020304" pitchFamily="18" charset="0"/>
                <a:cs typeface="Times New Roman" panose="02020603050405020304" pitchFamily="18" charset="0"/>
              </a:rPr>
              <a:t>$1.00$ (or $100\%$ accuracy)</a:t>
            </a:r>
            <a:r>
              <a:rPr lang="en-US" sz="1200" b="0" i="0" dirty="0">
                <a:effectLst/>
                <a:latin typeface="Times New Roman" panose="02020603050405020304" pitchFamily="18" charset="0"/>
                <a:cs typeface="Times New Roman" panose="02020603050405020304" pitchFamily="18" charset="0"/>
              </a:rPr>
              <a:t>, suggesting the model is learning the training data very well. However, the validation accuracy, which measures performance on unseen data, hovers between </a:t>
            </a:r>
            <a:r>
              <a:rPr lang="en-US" sz="1200" b="1" i="0" dirty="0">
                <a:effectLst/>
                <a:latin typeface="Times New Roman" panose="02020603050405020304" pitchFamily="18" charset="0"/>
                <a:cs typeface="Times New Roman" panose="02020603050405020304" pitchFamily="18" charset="0"/>
              </a:rPr>
              <a:t>$0.90$ and $0.95$</a:t>
            </a:r>
            <a:r>
              <a:rPr lang="en-US" sz="1200" b="0" i="0" dirty="0">
                <a:effectLst/>
                <a:latin typeface="Times New Roman" panose="02020603050405020304" pitchFamily="18" charset="0"/>
                <a:cs typeface="Times New Roman" panose="02020603050405020304" pitchFamily="18" charset="0"/>
              </a:rPr>
              <a:t>, and shows significant fluctuation after epoch 10. The growing gap between the high training accuracy and the lower, more volatile validation accuracy is a classic indication of </a:t>
            </a:r>
            <a:r>
              <a:rPr lang="en-US" sz="1200" b="1" i="0" dirty="0">
                <a:effectLst/>
                <a:latin typeface="Times New Roman" panose="02020603050405020304" pitchFamily="18" charset="0"/>
                <a:cs typeface="Times New Roman" panose="02020603050405020304" pitchFamily="18" charset="0"/>
              </a:rPr>
              <a:t>overfitting</a:t>
            </a:r>
            <a:r>
              <a:rPr lang="en-US" sz="1200" b="0" i="0" dirty="0">
                <a:effectLst/>
                <a:latin typeface="Times New Roman" panose="02020603050405020304" pitchFamily="18" charset="0"/>
                <a:cs typeface="Times New Roman" panose="02020603050405020304" pitchFamily="18" charset="0"/>
              </a:rPr>
              <a:t>, where the model memorizes the training data instead of learning general patterns.</a:t>
            </a:r>
            <a:endParaRPr lang="en-IN" sz="1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DA512D6-B553-8147-B413-E1E724973AE1}"/>
              </a:ext>
            </a:extLst>
          </p:cNvPr>
          <p:cNvSpPr txBox="1"/>
          <p:nvPr/>
        </p:nvSpPr>
        <p:spPr>
          <a:xfrm>
            <a:off x="6967728" y="903238"/>
            <a:ext cx="5010722" cy="2308324"/>
          </a:xfrm>
          <a:prstGeom prst="rect">
            <a:avLst/>
          </a:prstGeom>
          <a:noFill/>
        </p:spPr>
        <p:txBody>
          <a:bodyPr wrap="square">
            <a:spAutoFit/>
          </a:bodyPr>
          <a:lstStyle/>
          <a:p>
            <a:pPr algn="just"/>
            <a:r>
              <a:rPr lang="en-US" sz="1200" b="0" i="0" dirty="0">
                <a:effectLst/>
                <a:latin typeface="Times New Roman" panose="02020603050405020304" pitchFamily="18" charset="0"/>
                <a:cs typeface="Times New Roman" panose="02020603050405020304" pitchFamily="18" charset="0"/>
              </a:rPr>
              <a:t>The second plot, </a:t>
            </a:r>
            <a:r>
              <a:rPr lang="en-US" sz="1200" b="1" i="0" dirty="0">
                <a:effectLst/>
                <a:latin typeface="Times New Roman" panose="02020603050405020304" pitchFamily="18" charset="0"/>
                <a:cs typeface="Times New Roman" panose="02020603050405020304" pitchFamily="18" charset="0"/>
              </a:rPr>
              <a:t>Model Loss Over Epochs</a:t>
            </a:r>
            <a:r>
              <a:rPr lang="en-US" sz="1200" b="0" i="0" dirty="0">
                <a:effectLst/>
                <a:latin typeface="Times New Roman" panose="02020603050405020304" pitchFamily="18" charset="0"/>
                <a:cs typeface="Times New Roman" panose="02020603050405020304" pitchFamily="18" charset="0"/>
              </a:rPr>
              <a:t>, further confirms this diagnosis. The </a:t>
            </a:r>
            <a:r>
              <a:rPr lang="en-US" sz="1200" b="1" i="0" dirty="0">
                <a:effectLst/>
                <a:latin typeface="Times New Roman" panose="02020603050405020304" pitchFamily="18" charset="0"/>
                <a:cs typeface="Times New Roman" panose="02020603050405020304" pitchFamily="18" charset="0"/>
              </a:rPr>
              <a:t>Training Loss </a:t>
            </a:r>
            <a:r>
              <a:rPr lang="en-US" sz="1200" b="0" i="0" dirty="0">
                <a:effectLst/>
                <a:latin typeface="Times New Roman" panose="02020603050405020304" pitchFamily="18" charset="0"/>
                <a:cs typeface="Times New Roman" panose="02020603050405020304" pitchFamily="18" charset="0"/>
              </a:rPr>
              <a:t>(blue line) decreases smoothly and continuously throughout the 50 epochs, dropping to a very low value (near $0.05$), which is expected as the model fits the training data. Conversely, the </a:t>
            </a:r>
            <a:r>
              <a:rPr lang="en-US" sz="1200" b="1" i="0" dirty="0">
                <a:effectLst/>
                <a:latin typeface="Times New Roman" panose="02020603050405020304" pitchFamily="18" charset="0"/>
                <a:cs typeface="Times New Roman" panose="02020603050405020304" pitchFamily="18" charset="0"/>
              </a:rPr>
              <a:t>Validation Loss </a:t>
            </a:r>
            <a:r>
              <a:rPr lang="en-US" sz="1200" b="0" i="0" dirty="0">
                <a:effectLst/>
                <a:latin typeface="Times New Roman" panose="02020603050405020304" pitchFamily="18" charset="0"/>
                <a:cs typeface="Times New Roman" panose="02020603050405020304" pitchFamily="18" charset="0"/>
              </a:rPr>
              <a:t>(orange line) initially decreases but begins </a:t>
            </a:r>
            <a:r>
              <a:rPr lang="en-US" sz="1200" b="1" i="0" dirty="0">
                <a:effectLst/>
                <a:latin typeface="Times New Roman" panose="02020603050405020304" pitchFamily="18" charset="0"/>
                <a:cs typeface="Times New Roman" panose="02020603050405020304" pitchFamily="18" charset="0"/>
              </a:rPr>
              <a:t>to flatten and slightly increase and fluctuate</a:t>
            </a:r>
            <a:r>
              <a:rPr lang="en-US" sz="1200" b="0" i="0" dirty="0">
                <a:effectLst/>
                <a:latin typeface="Times New Roman" panose="02020603050405020304" pitchFamily="18" charset="0"/>
                <a:cs typeface="Times New Roman" panose="02020603050405020304" pitchFamily="18" charset="0"/>
              </a:rPr>
              <a:t> after approximately epoch 10 to 15, staying above $0.20$. This divergence, where training loss continues to decrease while validation loss either stops decreasing or starts to rise, is the defining sign of overfitting. To optimize this model, training should likely be stopped much earlier (around epoch 10-15) using </a:t>
            </a:r>
            <a:r>
              <a:rPr lang="en-US" sz="1200" b="1" i="0" dirty="0">
                <a:effectLst/>
                <a:latin typeface="Times New Roman" panose="02020603050405020304" pitchFamily="18" charset="0"/>
                <a:cs typeface="Times New Roman" panose="02020603050405020304" pitchFamily="18" charset="0"/>
              </a:rPr>
              <a:t>early stopping</a:t>
            </a:r>
            <a:r>
              <a:rPr lang="en-US" sz="1200" b="0" i="0" dirty="0">
                <a:effectLst/>
                <a:latin typeface="Times New Roman" panose="02020603050405020304" pitchFamily="18" charset="0"/>
                <a:cs typeface="Times New Roman" panose="02020603050405020304" pitchFamily="18" charset="0"/>
              </a:rPr>
              <a:t>, or regularization techniques like dropout should be implemented to minimize the performance gap and stabilize the validation results.</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6794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ED17-865A-D9D2-BAAB-D221A64CCCD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E7BDD50-D9E6-A3D7-C6EA-F1CAA374F15C}"/>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Comparison of Model Results</a:t>
            </a:r>
          </a:p>
        </p:txBody>
      </p:sp>
      <p:graphicFrame>
        <p:nvGraphicFramePr>
          <p:cNvPr id="3" name="Table 2">
            <a:extLst>
              <a:ext uri="{FF2B5EF4-FFF2-40B4-BE49-F238E27FC236}">
                <a16:creationId xmlns:a16="http://schemas.microsoft.com/office/drawing/2014/main" id="{7FE3710D-2A86-6526-D28A-00A9A6B37A78}"/>
              </a:ext>
            </a:extLst>
          </p:cNvPr>
          <p:cNvGraphicFramePr>
            <a:graphicFrameLocks noGrp="1"/>
          </p:cNvGraphicFramePr>
          <p:nvPr>
            <p:extLst>
              <p:ext uri="{D42A27DB-BD31-4B8C-83A1-F6EECF244321}">
                <p14:modId xmlns:p14="http://schemas.microsoft.com/office/powerpoint/2010/main" val="717523503"/>
              </p:ext>
            </p:extLst>
          </p:nvPr>
        </p:nvGraphicFramePr>
        <p:xfrm>
          <a:off x="1985772" y="1084961"/>
          <a:ext cx="8220455" cy="5508908"/>
        </p:xfrm>
        <a:graphic>
          <a:graphicData uri="http://schemas.openxmlformats.org/drawingml/2006/table">
            <a:tbl>
              <a:tblPr>
                <a:tableStyleId>{C4B1156A-380E-4F78-BDF5-A606A8083BF9}</a:tableStyleId>
              </a:tblPr>
              <a:tblGrid>
                <a:gridCol w="1644091">
                  <a:extLst>
                    <a:ext uri="{9D8B030D-6E8A-4147-A177-3AD203B41FA5}">
                      <a16:colId xmlns:a16="http://schemas.microsoft.com/office/drawing/2014/main" val="765786026"/>
                    </a:ext>
                  </a:extLst>
                </a:gridCol>
                <a:gridCol w="1644091">
                  <a:extLst>
                    <a:ext uri="{9D8B030D-6E8A-4147-A177-3AD203B41FA5}">
                      <a16:colId xmlns:a16="http://schemas.microsoft.com/office/drawing/2014/main" val="3841233600"/>
                    </a:ext>
                  </a:extLst>
                </a:gridCol>
                <a:gridCol w="1644091">
                  <a:extLst>
                    <a:ext uri="{9D8B030D-6E8A-4147-A177-3AD203B41FA5}">
                      <a16:colId xmlns:a16="http://schemas.microsoft.com/office/drawing/2014/main" val="796844211"/>
                    </a:ext>
                  </a:extLst>
                </a:gridCol>
                <a:gridCol w="1644091">
                  <a:extLst>
                    <a:ext uri="{9D8B030D-6E8A-4147-A177-3AD203B41FA5}">
                      <a16:colId xmlns:a16="http://schemas.microsoft.com/office/drawing/2014/main" val="1865175919"/>
                    </a:ext>
                  </a:extLst>
                </a:gridCol>
                <a:gridCol w="1644091">
                  <a:extLst>
                    <a:ext uri="{9D8B030D-6E8A-4147-A177-3AD203B41FA5}">
                      <a16:colId xmlns:a16="http://schemas.microsoft.com/office/drawing/2014/main" val="4220553153"/>
                    </a:ext>
                  </a:extLst>
                </a:gridCol>
              </a:tblGrid>
              <a:tr h="174054">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Model</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Purpose</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Key Metrics</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Key Results (from outputs)</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Key Insights</a:t>
                      </a:r>
                    </a:p>
                  </a:txBody>
                  <a:tcPr marL="2838" marR="2838" marT="1892" marB="1892" anchor="ctr"/>
                </a:tc>
                <a:extLst>
                  <a:ext uri="{0D108BD9-81ED-4DB2-BD59-A6C34878D82A}">
                    <a16:rowId xmlns:a16="http://schemas.microsoft.com/office/drawing/2014/main" val="2797306607"/>
                  </a:ext>
                </a:extLst>
              </a:tr>
              <a:tr h="684863">
                <a:tc>
                  <a:txBody>
                    <a:bodyPr/>
                    <a:lstStyle/>
                    <a:p>
                      <a:pPr algn="ctr" rtl="0" fontAlgn="b">
                        <a:buNone/>
                      </a:pPr>
                      <a:r>
                        <a:rPr lang="en-IN" sz="1100" b="1" dirty="0">
                          <a:effectLst/>
                          <a:latin typeface="Times New Roman" panose="02020603050405020304" pitchFamily="18" charset="0"/>
                          <a:cs typeface="Times New Roman" panose="02020603050405020304" pitchFamily="18" charset="0"/>
                        </a:rPr>
                        <a:t>Simple Linear Regression</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Model linear trend of Overall Performance vs. Year (Historical)</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R-squared, Coefficients</a:t>
                      </a:r>
                    </a:p>
                  </a:txBody>
                  <a:tcPr marL="2838" marR="2838" marT="1892" marB="1892" anchor="ctr"/>
                </a:tc>
                <a:tc>
                  <a:txBody>
                    <a:bodyPr/>
                    <a:lstStyle/>
                    <a:p>
                      <a:pPr algn="ctr" rtl="0" fontAlgn="b">
                        <a:buNone/>
                      </a:pPr>
                      <a:r>
                        <a:rPr lang="en-US" sz="1100" b="1" dirty="0">
                          <a:effectLst/>
                          <a:latin typeface="Times New Roman" panose="02020603050405020304" pitchFamily="18" charset="0"/>
                          <a:cs typeface="Times New Roman" panose="02020603050405020304" pitchFamily="18" charset="0"/>
                        </a:rPr>
                        <a:t>R-squared: ∼0.707</a:t>
                      </a:r>
                      <a:br>
                        <a:rPr lang="en-US" sz="1100" b="1" dirty="0">
                          <a:effectLst/>
                          <a:latin typeface="Times New Roman" panose="02020603050405020304" pitchFamily="18" charset="0"/>
                          <a:cs typeface="Times New Roman" panose="02020603050405020304" pitchFamily="18" charset="0"/>
                        </a:rPr>
                      </a:br>
                      <a:r>
                        <a:rPr lang="en-US" sz="1100" b="1" dirty="0">
                          <a:effectLst/>
                          <a:latin typeface="Times New Roman" panose="02020603050405020304" pitchFamily="18" charset="0"/>
                          <a:cs typeface="Times New Roman" panose="02020603050405020304" pitchFamily="18" charset="0"/>
                        </a:rPr>
                        <a:t>Year Coefficient: ∼0.015</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Observed slight positive average change in performance per year, but R-squared suggests other factors are more important.</a:t>
                      </a:r>
                    </a:p>
                  </a:txBody>
                  <a:tcPr marL="0" marR="0" marT="1892" marB="1892" anchor="ctr"/>
                </a:tc>
                <a:extLst>
                  <a:ext uri="{0D108BD9-81ED-4DB2-BD59-A6C34878D82A}">
                    <a16:rowId xmlns:a16="http://schemas.microsoft.com/office/drawing/2014/main" val="4203125430"/>
                  </a:ext>
                </a:extLst>
              </a:tr>
              <a:tr h="957294">
                <a:tc>
                  <a:txBody>
                    <a:bodyPr/>
                    <a:lstStyle/>
                    <a:p>
                      <a:pPr algn="ctr" rtl="0" fontAlgn="b">
                        <a:buNone/>
                      </a:pPr>
                      <a:r>
                        <a:rPr lang="en-IN" sz="1100" b="1" dirty="0">
                          <a:effectLst/>
                          <a:latin typeface="Times New Roman" panose="02020603050405020304" pitchFamily="18" charset="0"/>
                          <a:cs typeface="Times New Roman" panose="02020603050405020304" pitchFamily="18" charset="0"/>
                        </a:rPr>
                        <a:t>Multiple Linear Regression</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Model relationship between Overall Performance and multiple attributes</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Adjusted R-squared, Coefficients, p-values</a:t>
                      </a:r>
                    </a:p>
                  </a:txBody>
                  <a:tcPr marL="2838" marR="2838" marT="1892" marB="1892" anchor="ctr"/>
                </a:tc>
                <a:tc>
                  <a:txBody>
                    <a:bodyPr/>
                    <a:lstStyle/>
                    <a:p>
                      <a:pPr algn="ctr" rtl="0" fontAlgn="b">
                        <a:buNone/>
                      </a:pPr>
                      <a:r>
                        <a:rPr lang="en-IN" sz="1100" b="1" dirty="0">
                          <a:effectLst/>
                          <a:latin typeface="Times New Roman" panose="02020603050405020304" pitchFamily="18" charset="0"/>
                          <a:cs typeface="Times New Roman" panose="02020603050405020304" pitchFamily="18" charset="0"/>
                        </a:rPr>
                        <a:t>Adjusted R-squared: ∼0.974</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Identifies specific factors (Learning Outcomes, Number of Schools) statistically associated with Overall Performance. Model explains a significant portion of variance.</a:t>
                      </a:r>
                    </a:p>
                  </a:txBody>
                  <a:tcPr marL="0" marR="0" marT="1892" marB="1892" anchor="ctr"/>
                </a:tc>
                <a:extLst>
                  <a:ext uri="{0D108BD9-81ED-4DB2-BD59-A6C34878D82A}">
                    <a16:rowId xmlns:a16="http://schemas.microsoft.com/office/drawing/2014/main" val="2145332085"/>
                  </a:ext>
                </a:extLst>
              </a:tr>
              <a:tr h="957294">
                <a:tc>
                  <a:txBody>
                    <a:bodyPr/>
                    <a:lstStyle/>
                    <a:p>
                      <a:pPr algn="ctr" rtl="0" fontAlgn="b">
                        <a:buNone/>
                      </a:pPr>
                      <a:r>
                        <a:rPr lang="en-IN" sz="1100" b="1" dirty="0">
                          <a:effectLst/>
                          <a:latin typeface="Times New Roman" panose="02020603050405020304" pitchFamily="18" charset="0"/>
                          <a:cs typeface="Times New Roman" panose="02020603050405020304" pitchFamily="18" charset="0"/>
                        </a:rPr>
                        <a:t>K-Means Clustering</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Group districts/states into clusters based on performance profiles</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Cluster Centroids, Cluster membership</a:t>
                      </a:r>
                    </a:p>
                  </a:txBody>
                  <a:tcPr marL="2838" marR="2838" marT="1892" marB="1892" anchor="ctr"/>
                </a:tc>
                <a:tc>
                  <a:txBody>
                    <a:bodyPr/>
                    <a:lstStyle/>
                    <a:p>
                      <a:pPr algn="ctr" rtl="0" fontAlgn="b">
                        <a:buNone/>
                      </a:pPr>
                      <a:r>
                        <a:rPr lang="en-US" sz="1100" b="1" dirty="0">
                          <a:effectLst/>
                          <a:latin typeface="Times New Roman" panose="02020603050405020304" pitchFamily="18" charset="0"/>
                          <a:cs typeface="Times New Roman" panose="02020603050405020304" pitchFamily="18" charset="0"/>
                        </a:rPr>
                        <a:t>District Cluster Averages: Revealed distinct cluster profiles in subject averages.</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Identifies natural groupings of districts with similar performance characteristics for customized policy planning.</a:t>
                      </a:r>
                    </a:p>
                  </a:txBody>
                  <a:tcPr marL="0" marR="0" marT="1892" marB="1892" anchor="ctr"/>
                </a:tc>
                <a:extLst>
                  <a:ext uri="{0D108BD9-81ED-4DB2-BD59-A6C34878D82A}">
                    <a16:rowId xmlns:a16="http://schemas.microsoft.com/office/drawing/2014/main" val="219596810"/>
                  </a:ext>
                </a:extLst>
              </a:tr>
              <a:tr h="582701">
                <a:tc>
                  <a:txBody>
                    <a:bodyPr/>
                    <a:lstStyle/>
                    <a:p>
                      <a:pPr algn="ctr" rtl="0" fontAlgn="b">
                        <a:buNone/>
                      </a:pPr>
                      <a:r>
                        <a:rPr lang="en-IN" sz="1100" b="1" dirty="0">
                          <a:effectLst/>
                          <a:latin typeface="Times New Roman" panose="02020603050405020304" pitchFamily="18" charset="0"/>
                          <a:cs typeface="Times New Roman" panose="02020603050405020304" pitchFamily="18" charset="0"/>
                        </a:rPr>
                        <a:t>Logistic Regression</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Classify districts into Performance Categories (Low, Medium, High)</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Accuracy, F1-score</a:t>
                      </a:r>
                    </a:p>
                  </a:txBody>
                  <a:tcPr marL="2838" marR="2838" marT="1892" marB="1892" anchor="ctr"/>
                </a:tc>
                <a:tc>
                  <a:txBody>
                    <a:bodyPr/>
                    <a:lstStyle/>
                    <a:p>
                      <a:pPr algn="ctr" rtl="0" fontAlgn="b">
                        <a:buNone/>
                      </a:pPr>
                      <a:r>
                        <a:rPr lang="en-US" sz="1100" b="1" dirty="0">
                          <a:effectLst/>
                          <a:latin typeface="Times New Roman" panose="02020603050405020304" pitchFamily="18" charset="0"/>
                          <a:cs typeface="Times New Roman" panose="02020603050405020304" pitchFamily="18" charset="0"/>
                        </a:rPr>
                        <a:t>Accuracy: 90.7%</a:t>
                      </a:r>
                      <a:br>
                        <a:rPr lang="en-US" sz="1100" b="1" dirty="0">
                          <a:effectLst/>
                          <a:latin typeface="Times New Roman" panose="02020603050405020304" pitchFamily="18" charset="0"/>
                          <a:cs typeface="Times New Roman" panose="02020603050405020304" pitchFamily="18" charset="0"/>
                        </a:rPr>
                      </a:br>
                      <a:r>
                        <a:rPr lang="en-US" sz="1100" b="1" dirty="0">
                          <a:effectLst/>
                          <a:latin typeface="Times New Roman" panose="02020603050405020304" pitchFamily="18" charset="0"/>
                          <a:cs typeface="Times New Roman" panose="02020603050405020304" pitchFamily="18" charset="0"/>
                        </a:rPr>
                        <a:t>F1-scores: High 94%, Low 93%</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Good overall predictive performance for performance categories, establishing a strong classification baseline.</a:t>
                      </a:r>
                    </a:p>
                  </a:txBody>
                  <a:tcPr marL="0" marR="0" marT="1892" marB="1892" anchor="ctr"/>
                </a:tc>
                <a:extLst>
                  <a:ext uri="{0D108BD9-81ED-4DB2-BD59-A6C34878D82A}">
                    <a16:rowId xmlns:a16="http://schemas.microsoft.com/office/drawing/2014/main" val="1792133322"/>
                  </a:ext>
                </a:extLst>
              </a:tr>
              <a:tr h="752971">
                <a:tc>
                  <a:txBody>
                    <a:bodyPr/>
                    <a:lstStyle/>
                    <a:p>
                      <a:pPr algn="ctr" rtl="0" fontAlgn="b">
                        <a:buNone/>
                      </a:pPr>
                      <a:r>
                        <a:rPr lang="en-IN" sz="1100" b="1" dirty="0">
                          <a:effectLst/>
                          <a:latin typeface="Times New Roman" panose="02020603050405020304" pitchFamily="18" charset="0"/>
                          <a:cs typeface="Times New Roman" panose="02020603050405020304" pitchFamily="18" charset="0"/>
                        </a:rPr>
                        <a:t>Decision Tree Classifier</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Classify districts into Performance Categories (Low, Medium, High)</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Accuracy, Tree Structure (Rules)</a:t>
                      </a:r>
                    </a:p>
                  </a:txBody>
                  <a:tcPr marL="2838" marR="2838" marT="1892" marB="1892" anchor="ctr"/>
                </a:tc>
                <a:tc>
                  <a:txBody>
                    <a:bodyPr/>
                    <a:lstStyle/>
                    <a:p>
                      <a:pPr algn="ctr" rtl="0" fontAlgn="b">
                        <a:buNone/>
                      </a:pPr>
                      <a:r>
                        <a:rPr lang="en-US" sz="1100" b="1" dirty="0">
                          <a:effectLst/>
                          <a:latin typeface="Times New Roman" panose="02020603050405020304" pitchFamily="18" charset="0"/>
                          <a:cs typeface="Times New Roman" panose="02020603050405020304" pitchFamily="18" charset="0"/>
                        </a:rPr>
                        <a:t>Accuracy: 79.5%</a:t>
                      </a:r>
                      <a:br>
                        <a:rPr lang="en-US" sz="1100" b="1" dirty="0">
                          <a:effectLst/>
                          <a:latin typeface="Times New Roman" panose="02020603050405020304" pitchFamily="18" charset="0"/>
                          <a:cs typeface="Times New Roman" panose="02020603050405020304" pitchFamily="18" charset="0"/>
                        </a:rPr>
                      </a:br>
                      <a:r>
                        <a:rPr lang="en-US" sz="1100" b="1" dirty="0">
                          <a:effectLst/>
                          <a:latin typeface="Times New Roman" panose="02020603050405020304" pitchFamily="18" charset="0"/>
                          <a:cs typeface="Times New Roman" panose="02020603050405020304" pitchFamily="18" charset="0"/>
                        </a:rPr>
                        <a:t>F1-scores: High 93%, Low 92%</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Comparable accuracy to Logistic Regression. Provides interpretable decision rules based on feature values for policy implementation.</a:t>
                      </a:r>
                    </a:p>
                  </a:txBody>
                  <a:tcPr marL="0" marR="0" marT="1892" marB="1892" anchor="ctr"/>
                </a:tc>
                <a:extLst>
                  <a:ext uri="{0D108BD9-81ED-4DB2-BD59-A6C34878D82A}">
                    <a16:rowId xmlns:a16="http://schemas.microsoft.com/office/drawing/2014/main" val="3201824653"/>
                  </a:ext>
                </a:extLst>
              </a:tr>
              <a:tr h="582701">
                <a:tc>
                  <a:txBody>
                    <a:bodyPr/>
                    <a:lstStyle/>
                    <a:p>
                      <a:pPr algn="ctr" rtl="0" fontAlgn="b">
                        <a:buNone/>
                      </a:pPr>
                      <a:r>
                        <a:rPr lang="en-IN" sz="1100" b="1" dirty="0">
                          <a:effectLst/>
                          <a:latin typeface="Times New Roman" panose="02020603050405020304" pitchFamily="18" charset="0"/>
                          <a:cs typeface="Times New Roman" panose="02020603050405020304" pitchFamily="18" charset="0"/>
                        </a:rPr>
                        <a:t>Neural Network Classifier</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Classify districts into Performance Categories using a multi-layer perceptron.</a:t>
                      </a:r>
                    </a:p>
                  </a:txBody>
                  <a:tcPr marL="2838" marR="2838" marT="1892" marB="1892" anchor="ctr"/>
                </a:tc>
                <a:tc>
                  <a:txBody>
                    <a:bodyPr/>
                    <a:lstStyle/>
                    <a:p>
                      <a:pPr algn="ctr" rtl="0" fontAlgn="b">
                        <a:buNone/>
                      </a:pPr>
                      <a:r>
                        <a:rPr lang="en-IN" sz="1100" dirty="0">
                          <a:effectLst/>
                          <a:latin typeface="Times New Roman" panose="02020603050405020304" pitchFamily="18" charset="0"/>
                          <a:cs typeface="Times New Roman" panose="02020603050405020304" pitchFamily="18" charset="0"/>
                        </a:rPr>
                        <a:t>Training vs. Validation Loss</a:t>
                      </a:r>
                    </a:p>
                  </a:txBody>
                  <a:tcPr marL="2838" marR="2838" marT="1892" marB="1892" anchor="ctr"/>
                </a:tc>
                <a:tc>
                  <a:txBody>
                    <a:bodyPr/>
                    <a:lstStyle/>
                    <a:p>
                      <a:pPr algn="ctr" rtl="0" fontAlgn="b">
                        <a:buNone/>
                      </a:pPr>
                      <a:r>
                        <a:rPr lang="en-US" sz="1100" b="1" dirty="0">
                          <a:effectLst/>
                          <a:latin typeface="Times New Roman" panose="02020603050405020304" pitchFamily="18" charset="0"/>
                          <a:cs typeface="Times New Roman" panose="02020603050405020304" pitchFamily="18" charset="0"/>
                        </a:rPr>
                        <a:t>Validation Loss diverged from Training Loss after Epoch 10-15. 85% Overall Accuracy</a:t>
                      </a:r>
                    </a:p>
                  </a:txBody>
                  <a:tcPr marL="2838" marR="2838" marT="1892" marB="1892" anchor="ctr"/>
                </a:tc>
                <a:tc>
                  <a:txBody>
                    <a:bodyPr/>
                    <a:lstStyle/>
                    <a:p>
                      <a:pPr algn="ctr" rtl="0" fontAlgn="b">
                        <a:buNone/>
                      </a:pPr>
                      <a:r>
                        <a:rPr lang="en-US" sz="1100" dirty="0">
                          <a:effectLst/>
                          <a:latin typeface="Times New Roman" panose="02020603050405020304" pitchFamily="18" charset="0"/>
                          <a:cs typeface="Times New Roman" panose="02020603050405020304" pitchFamily="18" charset="0"/>
                        </a:rPr>
                        <a:t>Model suffered significant overfitting. Requires Early Stopping or Regularization for reliable generalization.</a:t>
                      </a:r>
                    </a:p>
                  </a:txBody>
                  <a:tcPr marL="0" marR="0" marT="1892" marB="1892" anchor="ctr"/>
                </a:tc>
                <a:extLst>
                  <a:ext uri="{0D108BD9-81ED-4DB2-BD59-A6C34878D82A}">
                    <a16:rowId xmlns:a16="http://schemas.microsoft.com/office/drawing/2014/main" val="4116306593"/>
                  </a:ext>
                </a:extLst>
              </a:tr>
            </a:tbl>
          </a:graphicData>
        </a:graphic>
      </p:graphicFrame>
    </p:spTree>
    <p:extLst>
      <p:ext uri="{BB962C8B-B14F-4D97-AF65-F5344CB8AC3E}">
        <p14:creationId xmlns:p14="http://schemas.microsoft.com/office/powerpoint/2010/main" val="3029761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5E324-298A-0C01-B91C-8F834A4D90D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6BBF856-9049-A5F4-B230-ED6435BA4DE7}"/>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Major Insights and Relationships</a:t>
            </a:r>
          </a:p>
        </p:txBody>
      </p:sp>
      <p:sp>
        <p:nvSpPr>
          <p:cNvPr id="5" name="TextBox 4">
            <a:extLst>
              <a:ext uri="{FF2B5EF4-FFF2-40B4-BE49-F238E27FC236}">
                <a16:creationId xmlns:a16="http://schemas.microsoft.com/office/drawing/2014/main" id="{21E5EAD9-766C-7730-E304-38EFAD2C3911}"/>
              </a:ext>
            </a:extLst>
          </p:cNvPr>
          <p:cNvSpPr txBox="1"/>
          <p:nvPr/>
        </p:nvSpPr>
        <p:spPr>
          <a:xfrm>
            <a:off x="128016" y="887790"/>
            <a:ext cx="5266944" cy="4893647"/>
          </a:xfrm>
          <a:prstGeom prst="rect">
            <a:avLst/>
          </a:prstGeom>
          <a:noFill/>
        </p:spPr>
        <p:txBody>
          <a:bodyPr wrap="square">
            <a:spAutoFit/>
          </a:bodyPr>
          <a:lstStyle/>
          <a:p>
            <a:pPr algn="just">
              <a:buNone/>
            </a:pPr>
            <a:r>
              <a:rPr lang="en-US" sz="1200" b="1" dirty="0">
                <a:latin typeface="Times New Roman" panose="02020603050405020304" pitchFamily="18" charset="0"/>
                <a:cs typeface="Times New Roman" panose="02020603050405020304" pitchFamily="18" charset="0"/>
              </a:rPr>
              <a:t>1. Educational Performance Trends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national average performance</a:t>
            </a:r>
            <a:r>
              <a:rPr lang="en-US" sz="1200" dirty="0">
                <a:latin typeface="Times New Roman" panose="02020603050405020304" pitchFamily="18" charset="0"/>
                <a:cs typeface="Times New Roman" panose="02020603050405020304" pitchFamily="18" charset="0"/>
              </a:rPr>
              <a:t> varies widely across states with some (like Punjab, Chandigarh, and Ladakh) consistently outperforming, while others (like Meghalaya, Assam, and Bihar) lag behind.</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There is a </a:t>
            </a:r>
            <a:r>
              <a:rPr lang="en-US" sz="1200" b="1" dirty="0">
                <a:latin typeface="Times New Roman" panose="02020603050405020304" pitchFamily="18" charset="0"/>
                <a:cs typeface="Times New Roman" panose="02020603050405020304" pitchFamily="18" charset="0"/>
              </a:rPr>
              <a:t>steady decline in overall performance</a:t>
            </a:r>
            <a:r>
              <a:rPr lang="en-US" sz="1200" dirty="0">
                <a:latin typeface="Times New Roman" panose="02020603050405020304" pitchFamily="18" charset="0"/>
                <a:cs typeface="Times New Roman" panose="02020603050405020304" pitchFamily="18" charset="0"/>
              </a:rPr>
              <a:t> between 2017–2021 across most states, suggesting either curricular difficulty, assessment fatigue, or uneven quality of teaching.</a:t>
            </a:r>
          </a:p>
          <a:p>
            <a:pPr algn="just">
              <a:buNone/>
            </a:pPr>
            <a:r>
              <a:rPr lang="en-US" sz="1200" b="1" dirty="0">
                <a:latin typeface="Times New Roman" panose="02020603050405020304" pitchFamily="18" charset="0"/>
                <a:cs typeface="Times New Roman" panose="02020603050405020304" pitchFamily="18" charset="0"/>
              </a:rPr>
              <a:t>2. Subject-Wise Performance Relationships</a:t>
            </a:r>
          </a:p>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Strong positive correlations</a:t>
            </a:r>
            <a:r>
              <a:rPr lang="en-US" sz="1200" dirty="0">
                <a:latin typeface="Times New Roman" panose="02020603050405020304" pitchFamily="18" charset="0"/>
                <a:cs typeface="Times New Roman" panose="02020603050405020304" pitchFamily="18" charset="0"/>
              </a:rPr>
              <a:t> exist between </a:t>
            </a:r>
            <a:r>
              <a:rPr lang="en-US" sz="1200" b="1" dirty="0">
                <a:latin typeface="Times New Roman" panose="02020603050405020304" pitchFamily="18" charset="0"/>
                <a:cs typeface="Times New Roman" panose="02020603050405020304" pitchFamily="18" charset="0"/>
              </a:rPr>
              <a:t>Math, Science, and Social Studies</a:t>
            </a:r>
            <a:r>
              <a:rPr lang="en-US" sz="1200" dirty="0">
                <a:latin typeface="Times New Roman" panose="02020603050405020304" pitchFamily="18" charset="0"/>
                <a:cs typeface="Times New Roman" panose="02020603050405020304" pitchFamily="18" charset="0"/>
              </a:rPr>
              <a:t> performance. Students/districts strong in one subject tend to perform well in others, indicating cross-disciplinary learning quality.</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Language performance shows </a:t>
            </a:r>
            <a:r>
              <a:rPr lang="en-US" sz="1200" b="1" dirty="0">
                <a:latin typeface="Times New Roman" panose="02020603050405020304" pitchFamily="18" charset="0"/>
                <a:cs typeface="Times New Roman" panose="02020603050405020304" pitchFamily="18" charset="0"/>
              </a:rPr>
              <a:t>moderate correlation</a:t>
            </a:r>
            <a:r>
              <a:rPr lang="en-US" sz="1200" dirty="0">
                <a:latin typeface="Times New Roman" panose="02020603050405020304" pitchFamily="18" charset="0"/>
                <a:cs typeface="Times New Roman" panose="02020603050405020304" pitchFamily="18" charset="0"/>
              </a:rPr>
              <a:t> with others, suggesting localized linguistic or medium-of-instruction influences.</a:t>
            </a:r>
          </a:p>
          <a:p>
            <a:pPr algn="just">
              <a:buNone/>
            </a:pPr>
            <a:r>
              <a:rPr lang="en-US" sz="1200" b="1" dirty="0">
                <a:latin typeface="Times New Roman" panose="02020603050405020304" pitchFamily="18" charset="0"/>
                <a:cs typeface="Times New Roman" panose="02020603050405020304" pitchFamily="18" charset="0"/>
              </a:rPr>
              <a:t>3. Learning Outcome Insights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10 lowest-scoring learning outcomes</a:t>
            </a:r>
            <a:r>
              <a:rPr lang="en-US" sz="1200" dirty="0">
                <a:latin typeface="Times New Roman" panose="02020603050405020304" pitchFamily="18" charset="0"/>
                <a:cs typeface="Times New Roman" panose="02020603050405020304" pitchFamily="18" charset="0"/>
              </a:rPr>
              <a:t> reveal the most challenging competencies nationwide mainly in advanced numeracy, scientific reasoning, and inferential comprehension.</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These weak areas are consistent across multiple states, suggesting </a:t>
            </a:r>
            <a:r>
              <a:rPr lang="en-US" sz="1200" b="1" dirty="0">
                <a:latin typeface="Times New Roman" panose="02020603050405020304" pitchFamily="18" charset="0"/>
                <a:cs typeface="Times New Roman" panose="02020603050405020304" pitchFamily="18" charset="0"/>
              </a:rPr>
              <a:t>systemic learning gaps</a:t>
            </a:r>
            <a:r>
              <a:rPr lang="en-US" sz="1200" dirty="0">
                <a:latin typeface="Times New Roman" panose="02020603050405020304" pitchFamily="18" charset="0"/>
                <a:cs typeface="Times New Roman" panose="02020603050405020304" pitchFamily="18" charset="0"/>
              </a:rPr>
              <a:t> rather than localized deficiencies.</a:t>
            </a:r>
          </a:p>
          <a:p>
            <a:pPr algn="just">
              <a:buNone/>
            </a:pPr>
            <a:r>
              <a:rPr lang="en-US" sz="1200" b="1" dirty="0">
                <a:latin typeface="Times New Roman" panose="02020603050405020304" pitchFamily="18" charset="0"/>
                <a:cs typeface="Times New Roman" panose="02020603050405020304" pitchFamily="18" charset="0"/>
              </a:rPr>
              <a:t>4. State and District Disparities</a:t>
            </a:r>
          </a:p>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High intra-state variation</a:t>
            </a:r>
            <a:r>
              <a:rPr lang="en-US" sz="1200" dirty="0">
                <a:latin typeface="Times New Roman" panose="02020603050405020304" pitchFamily="18" charset="0"/>
                <a:cs typeface="Times New Roman" panose="02020603050405020304" pitchFamily="18" charset="0"/>
              </a:rPr>
              <a:t>: Some districts within high-performing states still underperform, highlighting internal inequality.</a:t>
            </a:r>
          </a:p>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“Bright Spot” districts</a:t>
            </a:r>
            <a:r>
              <a:rPr lang="en-US" sz="1200" dirty="0">
                <a:latin typeface="Times New Roman" panose="02020603050405020304" pitchFamily="18" charset="0"/>
                <a:cs typeface="Times New Roman" panose="02020603050405020304" pitchFamily="18" charset="0"/>
              </a:rPr>
              <a:t> were identified where outcomes are significantly above the state average, potential case studies for best practices.</a:t>
            </a:r>
          </a:p>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“Hotspot” districts</a:t>
            </a:r>
            <a:r>
              <a:rPr lang="en-US" sz="1200" dirty="0">
                <a:latin typeface="Times New Roman" panose="02020603050405020304" pitchFamily="18" charset="0"/>
                <a:cs typeface="Times New Roman" panose="02020603050405020304" pitchFamily="18" charset="0"/>
              </a:rPr>
              <a:t> lag far behind, often with low resources, indicating where interventions should be prioritized.</a:t>
            </a:r>
          </a:p>
        </p:txBody>
      </p:sp>
      <p:sp>
        <p:nvSpPr>
          <p:cNvPr id="7" name="TextBox 6">
            <a:extLst>
              <a:ext uri="{FF2B5EF4-FFF2-40B4-BE49-F238E27FC236}">
                <a16:creationId xmlns:a16="http://schemas.microsoft.com/office/drawing/2014/main" id="{E00BA4EE-1C00-7A51-F476-9189D15E532F}"/>
              </a:ext>
            </a:extLst>
          </p:cNvPr>
          <p:cNvSpPr txBox="1"/>
          <p:nvPr/>
        </p:nvSpPr>
        <p:spPr>
          <a:xfrm>
            <a:off x="5532120" y="783205"/>
            <a:ext cx="6364224" cy="6001643"/>
          </a:xfrm>
          <a:prstGeom prst="rect">
            <a:avLst/>
          </a:prstGeom>
          <a:noFill/>
        </p:spPr>
        <p:txBody>
          <a:bodyPr wrap="square">
            <a:spAutoFit/>
          </a:bodyPr>
          <a:lstStyle/>
          <a:p>
            <a:pPr algn="just">
              <a:buNone/>
            </a:pPr>
            <a:r>
              <a:rPr lang="en-US" sz="1200" b="1" dirty="0">
                <a:latin typeface="Times New Roman" panose="02020603050405020304" pitchFamily="18" charset="0"/>
                <a:cs typeface="Times New Roman" panose="02020603050405020304" pitchFamily="18" charset="0"/>
              </a:rPr>
              <a:t>5. Regression Model Findings</a:t>
            </a:r>
          </a:p>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Number of Schools Surveyed</a:t>
            </a:r>
            <a:r>
              <a:rPr lang="en-US" sz="1200" dirty="0">
                <a:latin typeface="Times New Roman" panose="02020603050405020304" pitchFamily="18" charset="0"/>
                <a:cs typeface="Times New Roman" panose="02020603050405020304" pitchFamily="18" charset="0"/>
              </a:rPr>
              <a:t> has a </a:t>
            </a:r>
            <a:r>
              <a:rPr lang="en-US" sz="1200" b="1" dirty="0">
                <a:latin typeface="Times New Roman" panose="02020603050405020304" pitchFamily="18" charset="0"/>
                <a:cs typeface="Times New Roman" panose="02020603050405020304" pitchFamily="18" charset="0"/>
              </a:rPr>
              <a:t>weak or negative relationship</a:t>
            </a:r>
            <a:r>
              <a:rPr lang="en-US" sz="1200" dirty="0">
                <a:latin typeface="Times New Roman" panose="02020603050405020304" pitchFamily="18" charset="0"/>
                <a:cs typeface="Times New Roman" panose="02020603050405020304" pitchFamily="18" charset="0"/>
              </a:rPr>
              <a:t> with performance implying that larger district size or scale doesn’t guarantee better outcomes.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Multiple regression models (using many learning outcomes) achieved </a:t>
            </a:r>
            <a:r>
              <a:rPr lang="en-US" sz="1200" b="1" dirty="0">
                <a:latin typeface="Times New Roman" panose="02020603050405020304" pitchFamily="18" charset="0"/>
                <a:cs typeface="Times New Roman" panose="02020603050405020304" pitchFamily="18" charset="0"/>
              </a:rPr>
              <a:t>high predictive accuracy</a:t>
            </a:r>
            <a:r>
              <a:rPr lang="en-US" sz="1200" dirty="0">
                <a:latin typeface="Times New Roman" panose="02020603050405020304" pitchFamily="18" charset="0"/>
                <a:cs typeface="Times New Roman" panose="02020603050405020304" pitchFamily="18" charset="0"/>
              </a:rPr>
              <a:t>, confirming that subject-wise outcomes strongly predict overall district performance.</a:t>
            </a:r>
          </a:p>
          <a:p>
            <a:pPr algn="just">
              <a:buNone/>
            </a:pPr>
            <a:r>
              <a:rPr lang="en-US" sz="1200" b="1" dirty="0">
                <a:latin typeface="Times New Roman" panose="02020603050405020304" pitchFamily="18" charset="0"/>
                <a:cs typeface="Times New Roman" panose="02020603050405020304" pitchFamily="18" charset="0"/>
              </a:rPr>
              <a:t>6. Clustering Insights (K-Means)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clustering algorithm grouped states into </a:t>
            </a:r>
            <a:r>
              <a:rPr lang="en-US" sz="1200" b="1" dirty="0">
                <a:latin typeface="Times New Roman" panose="02020603050405020304" pitchFamily="18" charset="0"/>
                <a:cs typeface="Times New Roman" panose="02020603050405020304" pitchFamily="18" charset="0"/>
              </a:rPr>
              <a:t>three distinct performance tiers</a:t>
            </a:r>
            <a:r>
              <a:rPr lang="en-US" sz="1200" dirty="0">
                <a:latin typeface="Times New Roman" panose="02020603050405020304" pitchFamily="18" charset="0"/>
                <a:cs typeface="Times New Roman" panose="02020603050405020304" pitchFamily="18" charset="0"/>
              </a:rPr>
              <a:t>:</a:t>
            </a:r>
          </a:p>
          <a:p>
            <a:pPr marL="628650" lvl="1"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Cluster 1</a:t>
            </a:r>
            <a:r>
              <a:rPr lang="en-US" sz="1200" dirty="0">
                <a:latin typeface="Times New Roman" panose="02020603050405020304" pitchFamily="18" charset="0"/>
                <a:cs typeface="Times New Roman" panose="02020603050405020304" pitchFamily="18" charset="0"/>
              </a:rPr>
              <a:t> - High performers (scores in 30 - 40% range).</a:t>
            </a:r>
          </a:p>
          <a:p>
            <a:pPr marL="628650" lvl="1"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Cluster 2</a:t>
            </a:r>
            <a:r>
              <a:rPr lang="en-US" sz="1200" dirty="0">
                <a:latin typeface="Times New Roman" panose="02020603050405020304" pitchFamily="18" charset="0"/>
                <a:cs typeface="Times New Roman" panose="02020603050405020304" pitchFamily="18" charset="0"/>
              </a:rPr>
              <a:t> - Medium performers (high 20s).</a:t>
            </a:r>
          </a:p>
          <a:p>
            <a:pPr marL="628650" lvl="1"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Cluster 0</a:t>
            </a:r>
            <a:r>
              <a:rPr lang="en-US" sz="1200" dirty="0">
                <a:latin typeface="Times New Roman" panose="02020603050405020304" pitchFamily="18" charset="0"/>
                <a:cs typeface="Times New Roman" panose="02020603050405020304" pitchFamily="18" charset="0"/>
              </a:rPr>
              <a:t> - Low performers (below mid-20s).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This segmentation helps policymakers identify </a:t>
            </a:r>
            <a:r>
              <a:rPr lang="en-US" sz="1200" b="1" dirty="0">
                <a:latin typeface="Times New Roman" panose="02020603050405020304" pitchFamily="18" charset="0"/>
                <a:cs typeface="Times New Roman" panose="02020603050405020304" pitchFamily="18" charset="0"/>
              </a:rPr>
              <a:t>region-specific strategies,</a:t>
            </a:r>
            <a:r>
              <a:rPr lang="en-US" sz="1200" dirty="0">
                <a:latin typeface="Times New Roman" panose="02020603050405020304" pitchFamily="18" charset="0"/>
                <a:cs typeface="Times New Roman" panose="02020603050405020304" pitchFamily="18" charset="0"/>
              </a:rPr>
              <a:t> e.g., curriculum reinforcement in Cluster 0, enrichment in Cluster 1.</a:t>
            </a:r>
          </a:p>
          <a:p>
            <a:pPr algn="just">
              <a:buNone/>
            </a:pPr>
            <a:r>
              <a:rPr lang="en-US" sz="1200" b="1" dirty="0">
                <a:latin typeface="Times New Roman" panose="02020603050405020304" pitchFamily="18" charset="0"/>
                <a:cs typeface="Times New Roman" panose="02020603050405020304" pitchFamily="18" charset="0"/>
              </a:rPr>
              <a:t>7. Classification and Predictive Insights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classification task (Hotspot, Normal, Bright Spot) showed that </a:t>
            </a:r>
            <a:r>
              <a:rPr lang="en-US" sz="1200" b="1" dirty="0">
                <a:latin typeface="Times New Roman" panose="02020603050405020304" pitchFamily="18" charset="0"/>
                <a:cs typeface="Times New Roman" panose="02020603050405020304" pitchFamily="18" charset="0"/>
              </a:rPr>
              <a:t>Logistic Regression</a:t>
            </a:r>
            <a:r>
              <a:rPr lang="en-US" sz="1200" dirty="0">
                <a:latin typeface="Times New Roman" panose="02020603050405020304" pitchFamily="18" charset="0"/>
                <a:cs typeface="Times New Roman" panose="02020603050405020304" pitchFamily="18" charset="0"/>
              </a:rPr>
              <a:t> slightly outperformed Decision Tree in </a:t>
            </a:r>
            <a:r>
              <a:rPr lang="en-US" sz="1200" b="1" dirty="0">
                <a:latin typeface="Times New Roman" panose="02020603050405020304" pitchFamily="18" charset="0"/>
                <a:cs typeface="Times New Roman" panose="02020603050405020304" pitchFamily="18" charset="0"/>
              </a:rPr>
              <a:t>accuracy and precision</a:t>
            </a:r>
            <a:r>
              <a:rPr lang="en-US" sz="1200" dirty="0">
                <a:latin typeface="Times New Roman" panose="02020603050405020304" pitchFamily="18" charset="0"/>
                <a:cs typeface="Times New Roman" panose="02020603050405020304" pitchFamily="18" charset="0"/>
              </a:rPr>
              <a:t>, especially for identifying </a:t>
            </a:r>
            <a:r>
              <a:rPr lang="en-US" sz="1200" b="1" dirty="0">
                <a:latin typeface="Times New Roman" panose="02020603050405020304" pitchFamily="18" charset="0"/>
                <a:cs typeface="Times New Roman" panose="02020603050405020304" pitchFamily="18" charset="0"/>
              </a:rPr>
              <a:t>low-performing districts</a:t>
            </a:r>
            <a:r>
              <a:rPr lang="en-US" sz="1200" dirty="0">
                <a:latin typeface="Times New Roman" panose="02020603050405020304" pitchFamily="18" charset="0"/>
                <a:cs typeface="Times New Roman" panose="02020603050405020304" pitchFamily="18" charset="0"/>
              </a:rPr>
              <a:t>.</a:t>
            </a:r>
          </a:p>
          <a:p>
            <a:pPr marL="171450" indent="-171450" algn="jus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Feature importance analysis</a:t>
            </a:r>
            <a:r>
              <a:rPr lang="en-US" sz="1200" dirty="0">
                <a:latin typeface="Times New Roman" panose="02020603050405020304" pitchFamily="18" charset="0"/>
                <a:cs typeface="Times New Roman" panose="02020603050405020304" pitchFamily="18" charset="0"/>
              </a:rPr>
              <a:t> highlighted that a few key learning outcomes dominate prediction power, enabling </a:t>
            </a:r>
            <a:r>
              <a:rPr lang="en-US" sz="1200" b="1" dirty="0">
                <a:latin typeface="Times New Roman" panose="02020603050405020304" pitchFamily="18" charset="0"/>
                <a:cs typeface="Times New Roman" panose="02020603050405020304" pitchFamily="18" charset="0"/>
              </a:rPr>
              <a:t>focused policy improvements</a:t>
            </a:r>
            <a:r>
              <a:rPr lang="en-US" sz="1200" dirty="0">
                <a:latin typeface="Times New Roman" panose="02020603050405020304" pitchFamily="18" charset="0"/>
                <a:cs typeface="Times New Roman" panose="02020603050405020304" pitchFamily="18" charset="0"/>
              </a:rPr>
              <a:t> rather than broad reforms.</a:t>
            </a:r>
          </a:p>
          <a:p>
            <a:pPr algn="just">
              <a:buNone/>
            </a:pPr>
            <a:r>
              <a:rPr lang="en-US" sz="1200" b="1" dirty="0">
                <a:latin typeface="Times New Roman" panose="02020603050405020304" pitchFamily="18" charset="0"/>
                <a:cs typeface="Times New Roman" panose="02020603050405020304" pitchFamily="18" charset="0"/>
              </a:rPr>
              <a:t>8. Deep Learning Model Insights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neural network achieved </a:t>
            </a:r>
            <a:r>
              <a:rPr lang="en-US" sz="1200" b="1" dirty="0">
                <a:latin typeface="Times New Roman" panose="02020603050405020304" pitchFamily="18" charset="0"/>
                <a:cs typeface="Times New Roman" panose="02020603050405020304" pitchFamily="18" charset="0"/>
              </a:rPr>
              <a:t>~87% accuracy</a:t>
            </a:r>
            <a:r>
              <a:rPr lang="en-US" sz="1200" dirty="0">
                <a:latin typeface="Times New Roman" panose="02020603050405020304" pitchFamily="18" charset="0"/>
                <a:cs typeface="Times New Roman" panose="02020603050405020304" pitchFamily="18" charset="0"/>
              </a:rPr>
              <a:t>, showing strong ability to generalize from educational patterns.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However, it </a:t>
            </a:r>
            <a:r>
              <a:rPr lang="en-US" sz="1200" b="1" dirty="0">
                <a:latin typeface="Times New Roman" panose="02020603050405020304" pitchFamily="18" charset="0"/>
                <a:cs typeface="Times New Roman" panose="02020603050405020304" pitchFamily="18" charset="0"/>
              </a:rPr>
              <a:t>overfit after ~10 - 15 epochs</a:t>
            </a:r>
            <a:r>
              <a:rPr lang="en-US" sz="1200" dirty="0">
                <a:latin typeface="Times New Roman" panose="02020603050405020304" pitchFamily="18" charset="0"/>
                <a:cs typeface="Times New Roman" panose="02020603050405020304" pitchFamily="18" charset="0"/>
              </a:rPr>
              <a:t>, suggesting that </a:t>
            </a:r>
            <a:r>
              <a:rPr lang="en-US" sz="1200" b="1" dirty="0">
                <a:latin typeface="Times New Roman" panose="02020603050405020304" pitchFamily="18" charset="0"/>
                <a:cs typeface="Times New Roman" panose="02020603050405020304" pitchFamily="18" charset="0"/>
              </a:rPr>
              <a:t>early stopping and dropout</a:t>
            </a:r>
            <a:r>
              <a:rPr lang="en-US" sz="1200" dirty="0">
                <a:latin typeface="Times New Roman" panose="02020603050405020304" pitchFamily="18" charset="0"/>
                <a:cs typeface="Times New Roman" panose="02020603050405020304" pitchFamily="18" charset="0"/>
              </a:rPr>
              <a:t> would improve generalization.</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The high training accuracy (≈100%) vs. slightly volatile validation accuracy (≈90 - 95%) shows that the model can predict well but needs regularization for long - term reliability.</a:t>
            </a:r>
          </a:p>
          <a:p>
            <a:pPr algn="just">
              <a:buNone/>
            </a:pPr>
            <a:r>
              <a:rPr lang="en-US" sz="1200" b="1" dirty="0">
                <a:latin typeface="Times New Roman" panose="02020603050405020304" pitchFamily="18" charset="0"/>
                <a:cs typeface="Times New Roman" panose="02020603050405020304" pitchFamily="18" charset="0"/>
              </a:rPr>
              <a:t>9. Temporal and Policy Implications</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Declining academic performance despite survey and resource scaling suggests the need for </a:t>
            </a:r>
            <a:r>
              <a:rPr lang="en-US" sz="1200" b="1" dirty="0">
                <a:latin typeface="Times New Roman" panose="02020603050405020304" pitchFamily="18" charset="0"/>
                <a:cs typeface="Times New Roman" panose="02020603050405020304" pitchFamily="18" charset="0"/>
              </a:rPr>
              <a:t>pedagogical quality improvement</a:t>
            </a:r>
            <a:r>
              <a:rPr lang="en-US" sz="1200" dirty="0">
                <a:latin typeface="Times New Roman" panose="02020603050405020304" pitchFamily="18" charset="0"/>
                <a:cs typeface="Times New Roman" panose="02020603050405020304" pitchFamily="18" charset="0"/>
              </a:rPr>
              <a:t>, not just infrastructural investment.</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High correlation across subjects supports the idea of </a:t>
            </a:r>
            <a:r>
              <a:rPr lang="en-US" sz="1200" b="1" dirty="0">
                <a:latin typeface="Times New Roman" panose="02020603050405020304" pitchFamily="18" charset="0"/>
                <a:cs typeface="Times New Roman" panose="02020603050405020304" pitchFamily="18" charset="0"/>
              </a:rPr>
              <a:t>integrated teaching models</a:t>
            </a:r>
            <a:r>
              <a:rPr lang="en-US" sz="1200" dirty="0">
                <a:latin typeface="Times New Roman" panose="02020603050405020304" pitchFamily="18" charset="0"/>
                <a:cs typeface="Times New Roman" panose="02020603050405020304" pitchFamily="18" charset="0"/>
              </a:rPr>
              <a:t> rather than subject-isolated instruction.</a:t>
            </a:r>
          </a:p>
          <a:p>
            <a:pPr marL="171450" indent="-17145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District-level prediction models can help </a:t>
            </a:r>
            <a:r>
              <a:rPr lang="en-US" sz="1200" b="1" dirty="0">
                <a:latin typeface="Times New Roman" panose="02020603050405020304" pitchFamily="18" charset="0"/>
                <a:cs typeface="Times New Roman" panose="02020603050405020304" pitchFamily="18" charset="0"/>
              </a:rPr>
              <a:t>forecast future underperformance</a:t>
            </a:r>
            <a:r>
              <a:rPr lang="en-US" sz="1200" dirty="0">
                <a:latin typeface="Times New Roman" panose="02020603050405020304" pitchFamily="18" charset="0"/>
                <a:cs typeface="Times New Roman" panose="02020603050405020304" pitchFamily="18" charset="0"/>
              </a:rPr>
              <a:t>, guiding </a:t>
            </a:r>
            <a:r>
              <a:rPr lang="en-US" sz="1200" b="1" dirty="0">
                <a:latin typeface="Times New Roman" panose="02020603050405020304" pitchFamily="18" charset="0"/>
                <a:cs typeface="Times New Roman" panose="02020603050405020304" pitchFamily="18" charset="0"/>
              </a:rPr>
              <a:t>data-driven educational policy</a:t>
            </a:r>
            <a:r>
              <a:rPr lang="en-US" sz="1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22392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5AEE2-92A8-423A-60B2-54952A4F95A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252B336-D6A3-4E97-19D6-E8F46D132C43}"/>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Collaborated Dataset Overview</a:t>
            </a:r>
          </a:p>
        </p:txBody>
      </p:sp>
      <p:sp>
        <p:nvSpPr>
          <p:cNvPr id="5" name="TextBox 4">
            <a:extLst>
              <a:ext uri="{FF2B5EF4-FFF2-40B4-BE49-F238E27FC236}">
                <a16:creationId xmlns:a16="http://schemas.microsoft.com/office/drawing/2014/main" id="{752EAC6F-BFE9-9C61-1536-88FEC4AE6DE8}"/>
              </a:ext>
            </a:extLst>
          </p:cNvPr>
          <p:cNvSpPr txBox="1"/>
          <p:nvPr/>
        </p:nvSpPr>
        <p:spPr>
          <a:xfrm>
            <a:off x="500634" y="1289179"/>
            <a:ext cx="11295126" cy="1323439"/>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The dataset being utilized is the "</a:t>
            </a:r>
            <a:r>
              <a:rPr lang="en-US" sz="1600" b="1" dirty="0">
                <a:latin typeface="Times New Roman" panose="02020603050405020304" pitchFamily="18" charset="0"/>
                <a:cs typeface="Times New Roman" panose="02020603050405020304" pitchFamily="18" charset="0"/>
              </a:rPr>
              <a:t>Districtwise SLL Crimes 2017 Onwards</a:t>
            </a:r>
            <a:r>
              <a:rPr lang="en-US" sz="1600" dirty="0">
                <a:latin typeface="Times New Roman" panose="02020603050405020304" pitchFamily="18" charset="0"/>
                <a:cs typeface="Times New Roman" panose="02020603050405020304" pitchFamily="18" charset="0"/>
              </a:rPr>
              <a:t>" which is sourced from the National Crime Records Bureau (NCRB) via the India Data Portal. SLL stands for </a:t>
            </a:r>
            <a:r>
              <a:rPr lang="en-US" sz="1600" b="1" dirty="0">
                <a:latin typeface="Times New Roman" panose="02020603050405020304" pitchFamily="18" charset="0"/>
                <a:cs typeface="Times New Roman" panose="02020603050405020304" pitchFamily="18" charset="0"/>
              </a:rPr>
              <a:t>Special and Local Laws</a:t>
            </a:r>
            <a:r>
              <a:rPr lang="en-US" sz="1600" dirty="0">
                <a:latin typeface="Times New Roman" panose="02020603050405020304" pitchFamily="18" charset="0"/>
                <a:cs typeface="Times New Roman" panose="02020603050405020304" pitchFamily="18" charset="0"/>
              </a:rPr>
              <a:t>, which are acts framed by state governments to address specific issues, distinct from the Indian Penal Code (IPC). The dataset is granular, providing district-wise counts of these crimes from 2017 onwards, and serves as a vital tool for informed lawmaking, effective law enforcement, and guiding resource allocation to combat organized crime and foster community safety.</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DE7DEF0-CCB1-2BA5-A061-5A9080611D8B}"/>
              </a:ext>
            </a:extLst>
          </p:cNvPr>
          <p:cNvSpPr txBox="1"/>
          <p:nvPr/>
        </p:nvSpPr>
        <p:spPr>
          <a:xfrm>
            <a:off x="448437" y="2752344"/>
            <a:ext cx="11295126" cy="2554545"/>
          </a:xfrm>
          <a:prstGeom prst="rect">
            <a:avLst/>
          </a:prstGeom>
          <a:noFill/>
        </p:spPr>
        <p:txBody>
          <a:bodyPr wrap="square">
            <a:spAutoFit/>
          </a:bodyPr>
          <a:lstStyle/>
          <a:p>
            <a:pPr algn="just">
              <a:buNone/>
            </a:pPr>
            <a:r>
              <a:rPr lang="en-US" sz="1600" b="1" dirty="0">
                <a:latin typeface="Times New Roman" panose="02020603050405020304" pitchFamily="18" charset="0"/>
                <a:cs typeface="Times New Roman" panose="02020603050405020304" pitchFamily="18" charset="0"/>
              </a:rPr>
              <a:t>Dataset Overview and Variables:</a:t>
            </a:r>
          </a:p>
          <a:p>
            <a:pPr algn="just">
              <a:buNone/>
            </a:pPr>
            <a:r>
              <a:rPr lang="en-US" sz="1600" dirty="0">
                <a:latin typeface="Times New Roman" panose="02020603050405020304" pitchFamily="18" charset="0"/>
                <a:cs typeface="Times New Roman" panose="02020603050405020304" pitchFamily="18" charset="0"/>
              </a:rPr>
              <a:t>The dataset, with a total count of </a:t>
            </a:r>
            <a:r>
              <a:rPr lang="en-US" sz="1600" b="1" dirty="0">
                <a:latin typeface="Times New Roman" panose="02020603050405020304" pitchFamily="18" charset="0"/>
                <a:cs typeface="Times New Roman" panose="02020603050405020304" pitchFamily="18" charset="0"/>
              </a:rPr>
              <a:t>5321</a:t>
            </a:r>
            <a:r>
              <a:rPr lang="en-US" sz="1600" dirty="0">
                <a:latin typeface="Times New Roman" panose="02020603050405020304" pitchFamily="18" charset="0"/>
                <a:cs typeface="Times New Roman" panose="02020603050405020304" pitchFamily="18" charset="0"/>
              </a:rPr>
              <a:t> entries across the provided summaries, focuses heavily on crimes related to </a:t>
            </a:r>
            <a:r>
              <a:rPr lang="en-US" sz="1600" b="1" dirty="0">
                <a:latin typeface="Times New Roman" panose="02020603050405020304" pitchFamily="18" charset="0"/>
                <a:cs typeface="Times New Roman" panose="02020603050405020304" pitchFamily="18" charset="0"/>
              </a:rPr>
              <a:t>vulnerable populations</a:t>
            </a:r>
            <a:r>
              <a:rPr lang="en-US" sz="1600" dirty="0">
                <a:latin typeface="Times New Roman" panose="02020603050405020304" pitchFamily="18" charset="0"/>
                <a:cs typeface="Times New Roman" panose="02020603050405020304" pitchFamily="18" charset="0"/>
              </a:rPr>
              <a:t> (children, women, and marginalized castes/tribes) and </a:t>
            </a:r>
            <a:r>
              <a:rPr lang="en-US" sz="1600" b="1" dirty="0">
                <a:latin typeface="Times New Roman" panose="02020603050405020304" pitchFamily="18" charset="0"/>
                <a:cs typeface="Times New Roman" panose="02020603050405020304" pitchFamily="18" charset="0"/>
              </a:rPr>
              <a:t>social legislation</a:t>
            </a:r>
            <a:r>
              <a:rPr lang="en-US" sz="1600" dirty="0">
                <a:latin typeface="Times New Roman" panose="02020603050405020304" pitchFamily="18" charset="0"/>
                <a:cs typeface="Times New Roman" panose="02020603050405020304" pitchFamily="18" charset="0"/>
              </a:rPr>
              <a:t>. Key variables in the dataset that we use in our original dataset:</a:t>
            </a:r>
          </a:p>
          <a:p>
            <a:pPr marL="285750" indent="-285750" algn="just">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Protection of Children:</a:t>
            </a:r>
            <a:endParaRPr lang="en-US" sz="1600" dirty="0">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Protection Of Children From Sexual Offence (POCSO)</a:t>
            </a:r>
            <a:r>
              <a:rPr lang="en-US" sz="1600" dirty="0">
                <a:latin typeface="Times New Roman" panose="02020603050405020304" pitchFamily="18" charset="0"/>
                <a:cs typeface="Times New Roman" panose="02020603050405020304" pitchFamily="18" charset="0"/>
              </a:rPr>
              <a:t>, which has the highest maximum count (1319) and mean (53.38) among the listed variables.</a:t>
            </a:r>
          </a:p>
          <a:p>
            <a:pPr marL="742950" lvl="1" indent="-285750" algn="just">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Juvenile Justice Care And Protection Of Children</a:t>
            </a:r>
            <a:endParaRPr lang="en-US" sz="1600" dirty="0">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Prohibition Of Child Marriage</a:t>
            </a:r>
            <a:endParaRPr lang="en-US" sz="1600" dirty="0">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Child Labour Prohibition Regulation</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5042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BCD81-FDDC-9CCD-9841-179544ED2A3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0B8A8C1-F47D-94F8-6338-5BBBC3020632}"/>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Collaborated Dataset Insights</a:t>
            </a:r>
          </a:p>
        </p:txBody>
      </p:sp>
      <p:pic>
        <p:nvPicPr>
          <p:cNvPr id="7170" name="Picture 2">
            <a:extLst>
              <a:ext uri="{FF2B5EF4-FFF2-40B4-BE49-F238E27FC236}">
                <a16:creationId xmlns:a16="http://schemas.microsoft.com/office/drawing/2014/main" id="{C2FBBDEF-E37D-1E04-3D03-11435ADCCB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229" y="3703701"/>
            <a:ext cx="5226747" cy="294526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73C03A63-423F-82C8-36D8-CFB33F41C7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5474" y="872909"/>
            <a:ext cx="7320026" cy="28307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C2B6A2-41ED-F9EF-9A70-EFF327145F79}"/>
              </a:ext>
            </a:extLst>
          </p:cNvPr>
          <p:cNvSpPr txBox="1"/>
          <p:nvPr/>
        </p:nvSpPr>
        <p:spPr>
          <a:xfrm>
            <a:off x="5805042" y="3890810"/>
            <a:ext cx="6176772" cy="2123658"/>
          </a:xfrm>
          <a:prstGeom prst="rect">
            <a:avLst/>
          </a:prstGeom>
          <a:noFill/>
        </p:spPr>
        <p:txBody>
          <a:bodyPr wrap="square">
            <a:spAutoFit/>
          </a:bodyPr>
          <a:lstStyle/>
          <a:p>
            <a:pPr algn="just"/>
            <a:r>
              <a:rPr lang="en-US" sz="1200" dirty="0">
                <a:latin typeface="Times New Roman" panose="02020603050405020304" pitchFamily="18" charset="0"/>
                <a:cs typeface="Times New Roman" panose="02020603050405020304" pitchFamily="18" charset="0"/>
              </a:rPr>
              <a:t>The chart titled </a:t>
            </a:r>
            <a:r>
              <a:rPr lang="en-US" sz="1200" b="1" dirty="0">
                <a:latin typeface="Times New Roman" panose="02020603050405020304" pitchFamily="18" charset="0"/>
                <a:cs typeface="Times New Roman" panose="02020603050405020304" pitchFamily="18" charset="0"/>
              </a:rPr>
              <a:t>"Regional Benchmarking: Education and Crime Combined,"</a:t>
            </a:r>
            <a:r>
              <a:rPr lang="en-US" sz="1200" dirty="0">
                <a:latin typeface="Times New Roman" panose="02020603050405020304" pitchFamily="18" charset="0"/>
                <a:cs typeface="Times New Roman" panose="02020603050405020304" pitchFamily="18" charset="0"/>
              </a:rPr>
              <a:t> presents a comparison of states across two groups: </a:t>
            </a:r>
            <a:r>
              <a:rPr lang="en-US" sz="1200" b="1" dirty="0">
                <a:latin typeface="Times New Roman" panose="02020603050405020304" pitchFamily="18" charset="0"/>
                <a:cs typeface="Times New Roman" panose="02020603050405020304" pitchFamily="18" charset="0"/>
              </a:rPr>
              <a:t>Top 5 Overall Performing States (High Performance &amp; Low Crime)</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Top 5 Challenged States (Low Performance &amp; High Crime)</a:t>
            </a:r>
            <a:r>
              <a:rPr lang="en-US" sz="1200" dirty="0">
                <a:latin typeface="Times New Roman" panose="02020603050405020304" pitchFamily="18" charset="0"/>
                <a:cs typeface="Times New Roman" panose="02020603050405020304" pitchFamily="18" charset="0"/>
              </a:rPr>
              <a:t>. The "Top 5 Performing" states/UTs, like </a:t>
            </a:r>
            <a:r>
              <a:rPr lang="en-US" sz="1200" b="1" dirty="0">
                <a:latin typeface="Times New Roman" panose="02020603050405020304" pitchFamily="18" charset="0"/>
                <a:cs typeface="Times New Roman" panose="02020603050405020304" pitchFamily="18" charset="0"/>
              </a:rPr>
              <a:t>Ladakh</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Chandigarh</a:t>
            </a:r>
            <a:r>
              <a:rPr lang="en-US" sz="1200" dirty="0">
                <a:latin typeface="Times New Roman" panose="02020603050405020304" pitchFamily="18" charset="0"/>
                <a:cs typeface="Times New Roman" panose="02020603050405020304" pitchFamily="18" charset="0"/>
              </a:rPr>
              <a:t>, show high average overall performance percentages (blue bars) coupled with significantly </a:t>
            </a:r>
            <a:r>
              <a:rPr lang="en-US" sz="1200" b="1" dirty="0">
                <a:latin typeface="Times New Roman" panose="02020603050405020304" pitchFamily="18" charset="0"/>
                <a:cs typeface="Times New Roman" panose="02020603050405020304" pitchFamily="18" charset="0"/>
              </a:rPr>
              <a:t>lower Total Crime</a:t>
            </a:r>
            <a:r>
              <a:rPr lang="en-US" sz="1200" dirty="0">
                <a:latin typeface="Times New Roman" panose="02020603050405020304" pitchFamily="18" charset="0"/>
                <a:cs typeface="Times New Roman" panose="02020603050405020304" pitchFamily="18" charset="0"/>
              </a:rPr>
              <a:t> (red dots and line, measured as the sum of districts' crime). This indicates a positive correlation where strong educational performance coexists with lower crime rates in these regions. Conversely, the "Top 5 Challenged" states, such as </a:t>
            </a:r>
            <a:r>
              <a:rPr lang="en-US" sz="1200" b="1" dirty="0">
                <a:latin typeface="Times New Roman" panose="02020603050405020304" pitchFamily="18" charset="0"/>
                <a:cs typeface="Times New Roman" panose="02020603050405020304" pitchFamily="18" charset="0"/>
              </a:rPr>
              <a:t>Kerala</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Maharashtra</a:t>
            </a:r>
            <a:r>
              <a:rPr lang="en-US" sz="1200" dirty="0">
                <a:latin typeface="Times New Roman" panose="02020603050405020304" pitchFamily="18" charset="0"/>
                <a:cs typeface="Times New Roman" panose="02020603050405020304" pitchFamily="18" charset="0"/>
              </a:rPr>
              <a:t>, exhibit lower average overall performance (red bars) paired with extremely </a:t>
            </a:r>
            <a:r>
              <a:rPr lang="en-US" sz="1200" b="1" dirty="0">
                <a:latin typeface="Times New Roman" panose="02020603050405020304" pitchFamily="18" charset="0"/>
                <a:cs typeface="Times New Roman" panose="02020603050405020304" pitchFamily="18" charset="0"/>
              </a:rPr>
              <a:t>high Total Crime</a:t>
            </a:r>
            <a:r>
              <a:rPr lang="en-US" sz="1200" dirty="0">
                <a:latin typeface="Times New Roman" panose="02020603050405020304" pitchFamily="18" charset="0"/>
                <a:cs typeface="Times New Roman" panose="02020603050405020304" pitchFamily="18" charset="0"/>
              </a:rPr>
              <a:t> (blue dots and line), suggesting an inverse relationship in this group, with lower educational performance being associated with much higher crime figures.</a:t>
            </a:r>
            <a:endParaRPr lang="en-IN"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0A1463A-1CBA-E4BB-C179-F6EC17D0D95A}"/>
              </a:ext>
            </a:extLst>
          </p:cNvPr>
          <p:cNvSpPr txBox="1"/>
          <p:nvPr/>
        </p:nvSpPr>
        <p:spPr>
          <a:xfrm>
            <a:off x="208534" y="1281269"/>
            <a:ext cx="4476940" cy="2492990"/>
          </a:xfrm>
          <a:prstGeom prst="rect">
            <a:avLst/>
          </a:prstGeom>
          <a:noFill/>
        </p:spPr>
        <p:txBody>
          <a:bodyPr wrap="square">
            <a:spAutoFit/>
          </a:bodyPr>
          <a:lstStyle/>
          <a:p>
            <a:pPr algn="just"/>
            <a:r>
              <a:rPr lang="en-US" sz="1200" dirty="0">
                <a:latin typeface="Times New Roman" panose="02020603050405020304" pitchFamily="18" charset="0"/>
                <a:cs typeface="Times New Roman" panose="02020603050405020304" pitchFamily="18" charset="0"/>
              </a:rPr>
              <a:t>The chart titled </a:t>
            </a:r>
            <a:r>
              <a:rPr lang="en-US" sz="1200" b="1" dirty="0">
                <a:latin typeface="Times New Roman" panose="02020603050405020304" pitchFamily="18" charset="0"/>
                <a:cs typeface="Times New Roman" panose="02020603050405020304" pitchFamily="18" charset="0"/>
              </a:rPr>
              <a:t>"Top 10 States: Overall Performance vs. Total Child Crimes,"</a:t>
            </a:r>
            <a:r>
              <a:rPr lang="en-US" sz="1200" dirty="0">
                <a:latin typeface="Times New Roman" panose="02020603050405020304" pitchFamily="18" charset="0"/>
                <a:cs typeface="Times New Roman" panose="02020603050405020304" pitchFamily="18" charset="0"/>
              </a:rPr>
              <a:t> focuses on the top 10 states by academic performance (blue bars) and overlays their corresponding </a:t>
            </a:r>
            <a:r>
              <a:rPr lang="en-US" sz="1200" b="1" dirty="0">
                <a:latin typeface="Times New Roman" panose="02020603050405020304" pitchFamily="18" charset="0"/>
                <a:cs typeface="Times New Roman" panose="02020603050405020304" pitchFamily="18" charset="0"/>
              </a:rPr>
              <a:t>Total Child Crime Incidents</a:t>
            </a:r>
            <a:r>
              <a:rPr lang="en-US" sz="1200" dirty="0">
                <a:latin typeface="Times New Roman" panose="02020603050405020304" pitchFamily="18" charset="0"/>
                <a:cs typeface="Times New Roman" panose="02020603050405020304" pitchFamily="18" charset="0"/>
              </a:rPr>
              <a:t> (red line). States like </a:t>
            </a:r>
            <a:r>
              <a:rPr lang="en-US" sz="1200" b="1" dirty="0">
                <a:latin typeface="Times New Roman" panose="02020603050405020304" pitchFamily="18" charset="0"/>
                <a:cs typeface="Times New Roman" panose="02020603050405020304" pitchFamily="18" charset="0"/>
              </a:rPr>
              <a:t>Rajasthan</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Chandigarh</a:t>
            </a:r>
            <a:r>
              <a:rPr lang="en-US" sz="1200" dirty="0">
                <a:latin typeface="Times New Roman" panose="02020603050405020304" pitchFamily="18" charset="0"/>
                <a:cs typeface="Times New Roman" panose="02020603050405020304" pitchFamily="18" charset="0"/>
              </a:rPr>
              <a:t> lead in academic performance, with Rajasthan also having a relatively high number of child crime incidents, while Chandigarh has one of the lowest in this group. </a:t>
            </a:r>
            <a:r>
              <a:rPr lang="en-US" sz="1200" b="1" dirty="0">
                <a:latin typeface="Times New Roman" panose="02020603050405020304" pitchFamily="18" charset="0"/>
                <a:cs typeface="Times New Roman" panose="02020603050405020304" pitchFamily="18" charset="0"/>
              </a:rPr>
              <a:t>Karnataka</a:t>
            </a:r>
            <a:r>
              <a:rPr lang="en-US" sz="1200" dirty="0">
                <a:latin typeface="Times New Roman" panose="02020603050405020304" pitchFamily="18" charset="0"/>
                <a:cs typeface="Times New Roman" panose="02020603050405020304" pitchFamily="18" charset="0"/>
              </a:rPr>
              <a:t> stands out with a moderately high academic performance but the highest number of total child crime incidents among the top 10. The visualization reveals a varied relationship, indicating that while high overall academic performance is the common criterion for selection, it does </a:t>
            </a:r>
            <a:r>
              <a:rPr lang="en-US" sz="1200" b="1" dirty="0">
                <a:latin typeface="Times New Roman" panose="02020603050405020304" pitchFamily="18" charset="0"/>
                <a:cs typeface="Times New Roman" panose="02020603050405020304" pitchFamily="18" charset="0"/>
              </a:rPr>
              <a:t>not consistently correlate</a:t>
            </a:r>
            <a:r>
              <a:rPr lang="en-US" sz="1200" dirty="0">
                <a:latin typeface="Times New Roman" panose="02020603050405020304" pitchFamily="18" charset="0"/>
                <a:cs typeface="Times New Roman" panose="02020603050405020304" pitchFamily="18" charset="0"/>
              </a:rPr>
              <a:t> with low total child crime incidents across these specific top-performing states.</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8942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0DF8A-E0D4-9298-FB3A-853CAFAB27D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67ABB0B-8689-9DFC-311A-C452C420EAE6}"/>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Collaborated Dataset Insights</a:t>
            </a:r>
          </a:p>
        </p:txBody>
      </p:sp>
      <p:pic>
        <p:nvPicPr>
          <p:cNvPr id="8194" name="Picture 2">
            <a:extLst>
              <a:ext uri="{FF2B5EF4-FFF2-40B4-BE49-F238E27FC236}">
                <a16:creationId xmlns:a16="http://schemas.microsoft.com/office/drawing/2014/main" id="{609B9E8C-8604-77CB-A30B-974761F49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5424" y="903398"/>
            <a:ext cx="7473696" cy="270434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E59AE67B-1650-35C9-4A06-E4E7FCEE01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9" y="3777142"/>
            <a:ext cx="5043868" cy="28379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C72CCC5-3087-9B47-D835-BFD8B5BB961B}"/>
              </a:ext>
            </a:extLst>
          </p:cNvPr>
          <p:cNvSpPr txBox="1"/>
          <p:nvPr/>
        </p:nvSpPr>
        <p:spPr>
          <a:xfrm>
            <a:off x="5832348" y="3922419"/>
            <a:ext cx="6176772" cy="2123658"/>
          </a:xfrm>
          <a:prstGeom prst="rect">
            <a:avLst/>
          </a:prstGeom>
          <a:noFill/>
        </p:spPr>
        <p:txBody>
          <a:bodyPr wrap="square">
            <a:spAutoFit/>
          </a:bodyPr>
          <a:lstStyle/>
          <a:p>
            <a:pPr algn="just"/>
            <a:r>
              <a:rPr lang="en-US" sz="1200" dirty="0">
                <a:latin typeface="Times New Roman" panose="02020603050405020304" pitchFamily="18" charset="0"/>
                <a:cs typeface="Times New Roman" panose="02020603050405020304" pitchFamily="18" charset="0"/>
              </a:rPr>
              <a:t>The graph titled </a:t>
            </a:r>
            <a:r>
              <a:rPr lang="en-US" sz="1200" b="1" dirty="0">
                <a:latin typeface="Times New Roman" panose="02020603050405020304" pitchFamily="18" charset="0"/>
                <a:cs typeface="Times New Roman" panose="02020603050405020304" pitchFamily="18" charset="0"/>
              </a:rPr>
              <a:t>"Temporal Trends in Education and Crime,"</a:t>
            </a:r>
            <a:r>
              <a:rPr lang="en-US" sz="1200" dirty="0">
                <a:latin typeface="Times New Roman" panose="02020603050405020304" pitchFamily="18" charset="0"/>
                <a:cs typeface="Times New Roman" panose="02020603050405020304" pitchFamily="18" charset="0"/>
              </a:rPr>
              <a:t> illustrates changes in </a:t>
            </a:r>
            <a:r>
              <a:rPr lang="en-US" sz="1200" b="1" dirty="0">
                <a:latin typeface="Times New Roman" panose="02020603050405020304" pitchFamily="18" charset="0"/>
                <a:cs typeface="Times New Roman" panose="02020603050405020304" pitchFamily="18" charset="0"/>
              </a:rPr>
              <a:t>Overall Performance</a:t>
            </a:r>
            <a:r>
              <a:rPr lang="en-US" sz="1200" dirty="0">
                <a:latin typeface="Times New Roman" panose="02020603050405020304" pitchFamily="18" charset="0"/>
                <a:cs typeface="Times New Roman" panose="02020603050405020304" pitchFamily="18" charset="0"/>
              </a:rPr>
              <a:t> (left chart) and </a:t>
            </a:r>
            <a:r>
              <a:rPr lang="en-US" sz="1200" b="1" dirty="0">
                <a:latin typeface="Times New Roman" panose="02020603050405020304" pitchFamily="18" charset="0"/>
                <a:cs typeface="Times New Roman" panose="02020603050405020304" pitchFamily="18" charset="0"/>
              </a:rPr>
              <a:t>Total Crime</a:t>
            </a:r>
            <a:r>
              <a:rPr lang="en-US" sz="1200" dirty="0">
                <a:latin typeface="Times New Roman" panose="02020603050405020304" pitchFamily="18" charset="0"/>
                <a:cs typeface="Times New Roman" panose="02020603050405020304" pitchFamily="18" charset="0"/>
              </a:rPr>
              <a:t> (right chart) for a selection of top states over a five-year period (2017 to 2021). The left chart shows a </a:t>
            </a:r>
            <a:r>
              <a:rPr lang="en-US" sz="1200" b="1" dirty="0">
                <a:latin typeface="Times New Roman" panose="02020603050405020304" pitchFamily="18" charset="0"/>
                <a:cs typeface="Times New Roman" panose="02020603050405020304" pitchFamily="18" charset="0"/>
              </a:rPr>
              <a:t>universal declining trend</a:t>
            </a:r>
            <a:r>
              <a:rPr lang="en-US" sz="1200" dirty="0">
                <a:latin typeface="Times New Roman" panose="02020603050405020304" pitchFamily="18" charset="0"/>
                <a:cs typeface="Times New Roman" panose="02020603050405020304" pitchFamily="18" charset="0"/>
              </a:rPr>
              <a:t> in the Average Overall Performance percentage for all listed states, with </a:t>
            </a:r>
            <a:r>
              <a:rPr lang="en-US" sz="1200" b="1" dirty="0">
                <a:latin typeface="Times New Roman" panose="02020603050405020304" pitchFamily="18" charset="0"/>
                <a:cs typeface="Times New Roman" panose="02020603050405020304" pitchFamily="18" charset="0"/>
              </a:rPr>
              <a:t>Rajasthan</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Madhya Pradesh</a:t>
            </a:r>
            <a:r>
              <a:rPr lang="en-US" sz="1200" dirty="0">
                <a:latin typeface="Times New Roman" panose="02020603050405020304" pitchFamily="18" charset="0"/>
                <a:cs typeface="Times New Roman" panose="02020603050405020304" pitchFamily="18" charset="0"/>
              </a:rPr>
              <a:t> starting at the highest levels and experiencing significant drops, while </a:t>
            </a:r>
            <a:r>
              <a:rPr lang="en-US" sz="1200" b="1" dirty="0">
                <a:latin typeface="Times New Roman" panose="02020603050405020304" pitchFamily="18" charset="0"/>
                <a:cs typeface="Times New Roman" panose="02020603050405020304" pitchFamily="18" charset="0"/>
              </a:rPr>
              <a:t>Tamil Nadu</a:t>
            </a:r>
            <a:r>
              <a:rPr lang="en-US" sz="1200" dirty="0">
                <a:latin typeface="Times New Roman" panose="02020603050405020304" pitchFamily="18" charset="0"/>
                <a:cs typeface="Times New Roman" panose="02020603050405020304" pitchFamily="18" charset="0"/>
              </a:rPr>
              <a:t> maintains the lowest but most stable performance. Conversely, the right chart, which tracks Total Recorded Crime Incidents, shows a general </a:t>
            </a:r>
            <a:r>
              <a:rPr lang="en-US" sz="1200" b="1" dirty="0">
                <a:latin typeface="Times New Roman" panose="02020603050405020304" pitchFamily="18" charset="0"/>
                <a:cs typeface="Times New Roman" panose="02020603050405020304" pitchFamily="18" charset="0"/>
              </a:rPr>
              <a:t>increasing trend</a:t>
            </a:r>
            <a:r>
              <a:rPr lang="en-US" sz="1200" dirty="0">
                <a:latin typeface="Times New Roman" panose="02020603050405020304" pitchFamily="18" charset="0"/>
                <a:cs typeface="Times New Roman" panose="02020603050405020304" pitchFamily="18" charset="0"/>
              </a:rPr>
              <a:t> or stability for most states. Notably, </a:t>
            </a:r>
            <a:r>
              <a:rPr lang="en-US" sz="1200" b="1" dirty="0">
                <a:latin typeface="Times New Roman" panose="02020603050405020304" pitchFamily="18" charset="0"/>
                <a:cs typeface="Times New Roman" panose="02020603050405020304" pitchFamily="18" charset="0"/>
              </a:rPr>
              <a:t>Madhya Pradesh</a:t>
            </a:r>
            <a:r>
              <a:rPr lang="en-US" sz="1200" dirty="0">
                <a:latin typeface="Times New Roman" panose="02020603050405020304" pitchFamily="18" charset="0"/>
                <a:cs typeface="Times New Roman" panose="02020603050405020304" pitchFamily="18" charset="0"/>
              </a:rPr>
              <a:t> experiences the most dramatic increase in total crime over the period, while states like </a:t>
            </a:r>
            <a:r>
              <a:rPr lang="en-US" sz="1200" b="1" dirty="0">
                <a:latin typeface="Times New Roman" panose="02020603050405020304" pitchFamily="18" charset="0"/>
                <a:cs typeface="Times New Roman" panose="02020603050405020304" pitchFamily="18" charset="0"/>
              </a:rPr>
              <a:t>Assam</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Gujarat</a:t>
            </a:r>
            <a:r>
              <a:rPr lang="en-US" sz="1200" dirty="0">
                <a:latin typeface="Times New Roman" panose="02020603050405020304" pitchFamily="18" charset="0"/>
                <a:cs typeface="Times New Roman" panose="02020603050405020304" pitchFamily="18" charset="0"/>
              </a:rPr>
              <a:t> also show clear increases. This contrast highlights a potential inverse relationship across the analyzed states: as educational performance generally falls, crime rates generally rise or remain high.</a:t>
            </a:r>
            <a:endParaRPr lang="en-IN" sz="1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1991476-036C-62D5-1A37-B612CFD07B90}"/>
              </a:ext>
            </a:extLst>
          </p:cNvPr>
          <p:cNvSpPr txBox="1"/>
          <p:nvPr/>
        </p:nvSpPr>
        <p:spPr>
          <a:xfrm>
            <a:off x="433389" y="903398"/>
            <a:ext cx="4102035" cy="2862322"/>
          </a:xfrm>
          <a:prstGeom prst="rect">
            <a:avLst/>
          </a:prstGeom>
          <a:noFill/>
        </p:spPr>
        <p:txBody>
          <a:bodyPr wrap="square">
            <a:spAutoFit/>
          </a:bodyPr>
          <a:lstStyle/>
          <a:p>
            <a:pPr algn="just"/>
            <a:r>
              <a:rPr lang="en-US" sz="1200" dirty="0">
                <a:latin typeface="Times New Roman" panose="02020603050405020304" pitchFamily="18" charset="0"/>
                <a:cs typeface="Times New Roman" panose="02020603050405020304" pitchFamily="18" charset="0"/>
              </a:rPr>
              <a:t>The second chart, </a:t>
            </a:r>
            <a:r>
              <a:rPr lang="en-US" sz="1200" b="1" dirty="0">
                <a:latin typeface="Times New Roman" panose="02020603050405020304" pitchFamily="18" charset="0"/>
                <a:cs typeface="Times New Roman" panose="02020603050405020304" pitchFamily="18" charset="0"/>
              </a:rPr>
              <a:t>"Top 10 States with Highest Child/Juvenile Crime: Performance vs. Crime,"</a:t>
            </a:r>
            <a:r>
              <a:rPr lang="en-US" sz="1200" dirty="0">
                <a:latin typeface="Times New Roman" panose="02020603050405020304" pitchFamily="18" charset="0"/>
                <a:cs typeface="Times New Roman" panose="02020603050405020304" pitchFamily="18" charset="0"/>
              </a:rPr>
              <a:t> compares the absolute number of </a:t>
            </a:r>
            <a:r>
              <a:rPr lang="en-US" sz="1200" b="1" dirty="0">
                <a:latin typeface="Times New Roman" panose="02020603050405020304" pitchFamily="18" charset="0"/>
                <a:cs typeface="Times New Roman" panose="02020603050405020304" pitchFamily="18" charset="0"/>
              </a:rPr>
              <a:t>Child/Juvenile Crime Incidents</a:t>
            </a:r>
            <a:r>
              <a:rPr lang="en-US" sz="1200" dirty="0">
                <a:latin typeface="Times New Roman" panose="02020603050405020304" pitchFamily="18" charset="0"/>
                <a:cs typeface="Times New Roman" panose="02020603050405020304" pitchFamily="18" charset="0"/>
              </a:rPr>
              <a:t> (red bars, primary y-axis) with the </a:t>
            </a:r>
            <a:r>
              <a:rPr lang="en-US" sz="1200" b="1" dirty="0">
                <a:latin typeface="Times New Roman" panose="02020603050405020304" pitchFamily="18" charset="0"/>
                <a:cs typeface="Times New Roman" panose="02020603050405020304" pitchFamily="18" charset="0"/>
              </a:rPr>
              <a:t>Average Overall Academic Performance</a:t>
            </a:r>
            <a:r>
              <a:rPr lang="en-US" sz="1200" dirty="0">
                <a:latin typeface="Times New Roman" panose="02020603050405020304" pitchFamily="18" charset="0"/>
                <a:cs typeface="Times New Roman" panose="02020603050405020304" pitchFamily="18" charset="0"/>
              </a:rPr>
              <a:t> percentage (blue line, secondary y-axis) for the ten states with the highest child crime. States like </a:t>
            </a:r>
            <a:r>
              <a:rPr lang="en-US" sz="1200" b="1" dirty="0">
                <a:latin typeface="Times New Roman" panose="02020603050405020304" pitchFamily="18" charset="0"/>
                <a:cs typeface="Times New Roman" panose="02020603050405020304" pitchFamily="18" charset="0"/>
              </a:rPr>
              <a:t>Uttar Pradesh</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Maharashtra</a:t>
            </a:r>
            <a:r>
              <a:rPr lang="en-US" sz="1200" dirty="0">
                <a:latin typeface="Times New Roman" panose="02020603050405020304" pitchFamily="18" charset="0"/>
                <a:cs typeface="Times New Roman" panose="02020603050405020304" pitchFamily="18" charset="0"/>
              </a:rPr>
              <a:t> lead in the highest volume of child/juvenile crime incidents. The chart reveals a </a:t>
            </a:r>
            <a:r>
              <a:rPr lang="en-US" sz="1200" b="1" dirty="0">
                <a:latin typeface="Times New Roman" panose="02020603050405020304" pitchFamily="18" charset="0"/>
                <a:cs typeface="Times New Roman" panose="02020603050405020304" pitchFamily="18" charset="0"/>
              </a:rPr>
              <a:t>highly inconsistent relationship</a:t>
            </a:r>
            <a:r>
              <a:rPr lang="en-US" sz="1200" dirty="0">
                <a:latin typeface="Times New Roman" panose="02020603050405020304" pitchFamily="18" charset="0"/>
                <a:cs typeface="Times New Roman" panose="02020603050405020304" pitchFamily="18" charset="0"/>
              </a:rPr>
              <a:t> between the two metrics. For instance, </a:t>
            </a:r>
            <a:r>
              <a:rPr lang="en-US" sz="1200" b="1" dirty="0">
                <a:latin typeface="Times New Roman" panose="02020603050405020304" pitchFamily="18" charset="0"/>
                <a:cs typeface="Times New Roman" panose="02020603050405020304" pitchFamily="18" charset="0"/>
              </a:rPr>
              <a:t>Karnataka</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Gujarat</a:t>
            </a:r>
            <a:r>
              <a:rPr lang="en-US" sz="1200" dirty="0">
                <a:latin typeface="Times New Roman" panose="02020603050405020304" pitchFamily="18" charset="0"/>
                <a:cs typeface="Times New Roman" panose="02020603050405020304" pitchFamily="18" charset="0"/>
              </a:rPr>
              <a:t> show relatively high overall academic performance percentages (peaks in the blue line) despite also being in the top 10 for child crime, with Karnataka's academic performance being the highest. Conversely, </a:t>
            </a:r>
            <a:r>
              <a:rPr lang="en-US" sz="1200" b="1" dirty="0">
                <a:latin typeface="Times New Roman" panose="02020603050405020304" pitchFamily="18" charset="0"/>
                <a:cs typeface="Times New Roman" panose="02020603050405020304" pitchFamily="18" charset="0"/>
              </a:rPr>
              <a:t>Tamil Nadu</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Assam</a:t>
            </a:r>
            <a:r>
              <a:rPr lang="en-US" sz="1200" dirty="0">
                <a:latin typeface="Times New Roman" panose="02020603050405020304" pitchFamily="18" charset="0"/>
                <a:cs typeface="Times New Roman" panose="02020603050405020304" pitchFamily="18" charset="0"/>
              </a:rPr>
              <a:t> have lower academic performance percentages.</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6743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B0481-5C84-DDD4-693B-5F1F4974AF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8CC34F4-72F2-7BCB-47B0-14120E081349}"/>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Collaborated Dataset Insights</a:t>
            </a:r>
          </a:p>
        </p:txBody>
      </p:sp>
      <p:sp>
        <p:nvSpPr>
          <p:cNvPr id="5" name="TextBox 4">
            <a:extLst>
              <a:ext uri="{FF2B5EF4-FFF2-40B4-BE49-F238E27FC236}">
                <a16:creationId xmlns:a16="http://schemas.microsoft.com/office/drawing/2014/main" id="{38EE03E8-74E7-567C-1083-09FF54750FBC}"/>
              </a:ext>
            </a:extLst>
          </p:cNvPr>
          <p:cNvSpPr txBox="1"/>
          <p:nvPr/>
        </p:nvSpPr>
        <p:spPr>
          <a:xfrm>
            <a:off x="403860" y="818477"/>
            <a:ext cx="5914644" cy="6186309"/>
          </a:xfrm>
          <a:prstGeom prst="rect">
            <a:avLst/>
          </a:prstGeom>
          <a:noFill/>
        </p:spPr>
        <p:txBody>
          <a:bodyPr wrap="square">
            <a:spAutoFit/>
          </a:bodyPr>
          <a:lstStyle/>
          <a:p>
            <a:pPr algn="just">
              <a:buNone/>
            </a:pPr>
            <a:r>
              <a:rPr lang="en-US" sz="1200" b="1" dirty="0">
                <a:latin typeface="Times New Roman" panose="02020603050405020304" pitchFamily="18" charset="0"/>
                <a:cs typeface="Times New Roman" panose="02020603050405020304" pitchFamily="18" charset="0"/>
              </a:rPr>
              <a:t>1. Education–Crime Inverse Relationship (Broad Pattern)</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States with </a:t>
            </a:r>
            <a:r>
              <a:rPr lang="en-US" sz="1200" b="1" dirty="0">
                <a:latin typeface="Times New Roman" panose="02020603050405020304" pitchFamily="18" charset="0"/>
                <a:cs typeface="Times New Roman" panose="02020603050405020304" pitchFamily="18" charset="0"/>
              </a:rPr>
              <a:t>higher educational performance</a:t>
            </a:r>
            <a:r>
              <a:rPr lang="en-US" sz="1200" dirty="0">
                <a:latin typeface="Times New Roman" panose="02020603050405020304" pitchFamily="18" charset="0"/>
                <a:cs typeface="Times New Roman" panose="02020603050405020304" pitchFamily="18" charset="0"/>
              </a:rPr>
              <a:t> (e.g., </a:t>
            </a:r>
            <a:r>
              <a:rPr lang="en-US" sz="1200" b="1" dirty="0">
                <a:latin typeface="Times New Roman" panose="02020603050405020304" pitchFamily="18" charset="0"/>
                <a:cs typeface="Times New Roman" panose="02020603050405020304" pitchFamily="18" charset="0"/>
              </a:rPr>
              <a:t>Chandigarh, Ladakh, Punjab</a:t>
            </a:r>
            <a:r>
              <a:rPr lang="en-US" sz="1200" dirty="0">
                <a:latin typeface="Times New Roman" panose="02020603050405020304" pitchFamily="18" charset="0"/>
                <a:cs typeface="Times New Roman" panose="02020603050405020304" pitchFamily="18" charset="0"/>
              </a:rPr>
              <a:t>) tend to show </a:t>
            </a:r>
            <a:r>
              <a:rPr lang="en-US" sz="1200" b="1" dirty="0">
                <a:latin typeface="Times New Roman" panose="02020603050405020304" pitchFamily="18" charset="0"/>
                <a:cs typeface="Times New Roman" panose="02020603050405020304" pitchFamily="18" charset="0"/>
              </a:rPr>
              <a:t>lower total SLL crime rates</a:t>
            </a:r>
            <a:r>
              <a:rPr lang="en-US" sz="1200" dirty="0">
                <a:latin typeface="Times New Roman" panose="02020603050405020304" pitchFamily="18" charset="0"/>
                <a:cs typeface="Times New Roman" panose="02020603050405020304" pitchFamily="18" charset="0"/>
              </a:rPr>
              <a:t>, especially those related to </a:t>
            </a:r>
            <a:r>
              <a:rPr lang="en-US" sz="1200" b="1" dirty="0">
                <a:latin typeface="Times New Roman" panose="02020603050405020304" pitchFamily="18" charset="0"/>
                <a:cs typeface="Times New Roman" panose="02020603050405020304" pitchFamily="18" charset="0"/>
              </a:rPr>
              <a:t>child protection and social laws</a:t>
            </a:r>
            <a:r>
              <a:rPr lang="en-US" sz="1200" dirty="0">
                <a:latin typeface="Times New Roman" panose="02020603050405020304" pitchFamily="18" charset="0"/>
                <a:cs typeface="Times New Roman" panose="02020603050405020304" pitchFamily="18" charset="0"/>
              </a:rPr>
              <a:t>.</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Conversely, </a:t>
            </a:r>
            <a:r>
              <a:rPr lang="en-US" sz="1200" b="1" dirty="0">
                <a:latin typeface="Times New Roman" panose="02020603050405020304" pitchFamily="18" charset="0"/>
                <a:cs typeface="Times New Roman" panose="02020603050405020304" pitchFamily="18" charset="0"/>
              </a:rPr>
              <a:t>low-performing states</a:t>
            </a:r>
            <a:r>
              <a:rPr lang="en-US" sz="1200" dirty="0">
                <a:latin typeface="Times New Roman" panose="02020603050405020304" pitchFamily="18" charset="0"/>
                <a:cs typeface="Times New Roman" panose="02020603050405020304" pitchFamily="18" charset="0"/>
              </a:rPr>
              <a:t> (e.g., </a:t>
            </a:r>
            <a:r>
              <a:rPr lang="en-US" sz="1200" b="1" dirty="0">
                <a:latin typeface="Times New Roman" panose="02020603050405020304" pitchFamily="18" charset="0"/>
                <a:cs typeface="Times New Roman" panose="02020603050405020304" pitchFamily="18" charset="0"/>
              </a:rPr>
              <a:t>Kerala, Maharashtra, Assam</a:t>
            </a:r>
            <a:r>
              <a:rPr lang="en-US" sz="1200" dirty="0">
                <a:latin typeface="Times New Roman" panose="02020603050405020304" pitchFamily="18" charset="0"/>
                <a:cs typeface="Times New Roman" panose="02020603050405020304" pitchFamily="18" charset="0"/>
              </a:rPr>
              <a:t>) generally report </a:t>
            </a:r>
            <a:r>
              <a:rPr lang="en-US" sz="1200" b="1" dirty="0">
                <a:latin typeface="Times New Roman" panose="02020603050405020304" pitchFamily="18" charset="0"/>
                <a:cs typeface="Times New Roman" panose="02020603050405020304" pitchFamily="18" charset="0"/>
              </a:rPr>
              <a:t>higher total SLL crime counts</a:t>
            </a:r>
            <a:r>
              <a:rPr lang="en-US" sz="1200" dirty="0">
                <a:latin typeface="Times New Roman" panose="02020603050405020304" pitchFamily="18" charset="0"/>
                <a:cs typeface="Times New Roman" panose="02020603050405020304" pitchFamily="18" charset="0"/>
              </a:rPr>
              <a:t>, hinting at a </a:t>
            </a:r>
            <a:r>
              <a:rPr lang="en-US" sz="1200" b="1" dirty="0">
                <a:latin typeface="Times New Roman" panose="02020603050405020304" pitchFamily="18" charset="0"/>
                <a:cs typeface="Times New Roman" panose="02020603050405020304" pitchFamily="18" charset="0"/>
              </a:rPr>
              <a:t>negative correlation</a:t>
            </a:r>
            <a:r>
              <a:rPr lang="en-US" sz="1200" dirty="0">
                <a:latin typeface="Times New Roman" panose="02020603050405020304" pitchFamily="18" charset="0"/>
                <a:cs typeface="Times New Roman" panose="02020603050405020304" pitchFamily="18" charset="0"/>
              </a:rPr>
              <a:t> between education and social law violations.</a:t>
            </a:r>
          </a:p>
          <a:p>
            <a:pPr algn="jus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lgn="just">
              <a:buNone/>
            </a:pPr>
            <a:r>
              <a:rPr lang="en-US" sz="1200" b="1" dirty="0">
                <a:latin typeface="Times New Roman" panose="02020603050405020304" pitchFamily="18" charset="0"/>
                <a:cs typeface="Times New Roman" panose="02020603050405020304" pitchFamily="18" charset="0"/>
              </a:rPr>
              <a:t>2. Child-Focused Crimes and Academic Outcomes</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Crimes under </a:t>
            </a:r>
            <a:r>
              <a:rPr lang="en-US" sz="1200" b="1" dirty="0">
                <a:latin typeface="Times New Roman" panose="02020603050405020304" pitchFamily="18" charset="0"/>
                <a:cs typeface="Times New Roman" panose="02020603050405020304" pitchFamily="18" charset="0"/>
              </a:rPr>
              <a:t>POCSO (Protection of Children from Sexual Offences Act)</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Juvenile Justice</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Child Marriage Prohibition</a:t>
            </a:r>
            <a:r>
              <a:rPr lang="en-US" sz="1200" dirty="0">
                <a:latin typeface="Times New Roman" panose="02020603050405020304" pitchFamily="18" charset="0"/>
                <a:cs typeface="Times New Roman" panose="02020603050405020304" pitchFamily="18" charset="0"/>
              </a:rPr>
              <a:t> laws are notably </a:t>
            </a:r>
            <a:r>
              <a:rPr lang="en-US" sz="1200" b="1" dirty="0">
                <a:latin typeface="Times New Roman" panose="02020603050405020304" pitchFamily="18" charset="0"/>
                <a:cs typeface="Times New Roman" panose="02020603050405020304" pitchFamily="18" charset="0"/>
              </a:rPr>
              <a:t>higher</a:t>
            </a:r>
            <a:r>
              <a:rPr lang="en-US" sz="1200" dirty="0">
                <a:latin typeface="Times New Roman" panose="02020603050405020304" pitchFamily="18" charset="0"/>
                <a:cs typeface="Times New Roman" panose="02020603050405020304" pitchFamily="18" charset="0"/>
              </a:rPr>
              <a:t> in states where average learning outcomes are </a:t>
            </a:r>
            <a:r>
              <a:rPr lang="en-US" sz="1200" b="1" dirty="0">
                <a:latin typeface="Times New Roman" panose="02020603050405020304" pitchFamily="18" charset="0"/>
                <a:cs typeface="Times New Roman" panose="02020603050405020304" pitchFamily="18" charset="0"/>
              </a:rPr>
              <a:t>below the national mean</a:t>
            </a:r>
            <a:r>
              <a:rPr lang="en-US" sz="1200" dirty="0">
                <a:latin typeface="Times New Roman" panose="02020603050405020304" pitchFamily="18" charset="0"/>
                <a:cs typeface="Times New Roman" panose="02020603050405020304" pitchFamily="18" charset="0"/>
              </a:rPr>
              <a:t>.</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This suggests that </a:t>
            </a:r>
            <a:r>
              <a:rPr lang="en-US" sz="1200" b="1" dirty="0">
                <a:latin typeface="Times New Roman" panose="02020603050405020304" pitchFamily="18" charset="0"/>
                <a:cs typeface="Times New Roman" panose="02020603050405020304" pitchFamily="18" charset="0"/>
              </a:rPr>
              <a:t>poor educational access and awareness</a:t>
            </a:r>
            <a:r>
              <a:rPr lang="en-US" sz="1200" dirty="0">
                <a:latin typeface="Times New Roman" panose="02020603050405020304" pitchFamily="18" charset="0"/>
                <a:cs typeface="Times New Roman" panose="02020603050405020304" pitchFamily="18" charset="0"/>
              </a:rPr>
              <a:t> might contribute to </a:t>
            </a:r>
            <a:r>
              <a:rPr lang="en-US" sz="1200" b="1" dirty="0">
                <a:latin typeface="Times New Roman" panose="02020603050405020304" pitchFamily="18" charset="0"/>
                <a:cs typeface="Times New Roman" panose="02020603050405020304" pitchFamily="18" charset="0"/>
              </a:rPr>
              <a:t>increased child vulnerability</a:t>
            </a:r>
            <a:r>
              <a:rPr lang="en-US" sz="1200" dirty="0">
                <a:latin typeface="Times New Roman" panose="02020603050405020304" pitchFamily="18" charset="0"/>
                <a:cs typeface="Times New Roman" panose="02020603050405020304" pitchFamily="18" charset="0"/>
              </a:rPr>
              <a:t> and lower community-level safeguarding.</a:t>
            </a:r>
          </a:p>
          <a:p>
            <a:pPr algn="jus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lgn="just">
              <a:buNone/>
            </a:pPr>
            <a:r>
              <a:rPr lang="en-US" sz="1200" b="1" dirty="0">
                <a:latin typeface="Times New Roman" panose="02020603050405020304" pitchFamily="18" charset="0"/>
                <a:cs typeface="Times New Roman" panose="02020603050405020304" pitchFamily="18" charset="0"/>
              </a:rPr>
              <a:t>3. High-Performing States Are Not Always Low-Crime</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In the </a:t>
            </a:r>
            <a:r>
              <a:rPr lang="en-US" sz="1200" b="1" dirty="0">
                <a:latin typeface="Times New Roman" panose="02020603050405020304" pitchFamily="18" charset="0"/>
                <a:cs typeface="Times New Roman" panose="02020603050405020304" pitchFamily="18" charset="0"/>
              </a:rPr>
              <a:t>Top 10 performing states</a:t>
            </a:r>
            <a:r>
              <a:rPr lang="en-US" sz="1200" dirty="0">
                <a:latin typeface="Times New Roman" panose="02020603050405020304" pitchFamily="18" charset="0"/>
                <a:cs typeface="Times New Roman" panose="02020603050405020304" pitchFamily="18" charset="0"/>
              </a:rPr>
              <a:t>, education–crime correlation becomes </a:t>
            </a:r>
            <a:r>
              <a:rPr lang="en-US" sz="1200" b="1" dirty="0">
                <a:latin typeface="Times New Roman" panose="02020603050405020304" pitchFamily="18" charset="0"/>
                <a:cs typeface="Times New Roman" panose="02020603050405020304" pitchFamily="18" charset="0"/>
              </a:rPr>
              <a:t>inconsistent</a:t>
            </a:r>
            <a:r>
              <a:rPr lang="en-US" sz="1200" dirty="0">
                <a:latin typeface="Times New Roman" panose="02020603050405020304" pitchFamily="18" charset="0"/>
                <a:cs typeface="Times New Roman" panose="02020603050405020304" pitchFamily="18" charset="0"/>
              </a:rPr>
              <a:t>.</a:t>
            </a:r>
          </a:p>
          <a:p>
            <a:pPr marL="742950" lvl="1" indent="-2857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Example: </a:t>
            </a:r>
            <a:r>
              <a:rPr lang="en-US" sz="1200" b="1" dirty="0">
                <a:latin typeface="Times New Roman" panose="02020603050405020304" pitchFamily="18" charset="0"/>
                <a:cs typeface="Times New Roman" panose="02020603050405020304" pitchFamily="18" charset="0"/>
              </a:rPr>
              <a:t>Rajasthan</a:t>
            </a:r>
            <a:r>
              <a:rPr lang="en-US" sz="1200" dirty="0">
                <a:latin typeface="Times New Roman" panose="02020603050405020304" pitchFamily="18" charset="0"/>
                <a:cs typeface="Times New Roman" panose="02020603050405020304" pitchFamily="18" charset="0"/>
              </a:rPr>
              <a:t> shows </a:t>
            </a:r>
            <a:r>
              <a:rPr lang="en-US" sz="1200" b="1" dirty="0">
                <a:latin typeface="Times New Roman" panose="02020603050405020304" pitchFamily="18" charset="0"/>
                <a:cs typeface="Times New Roman" panose="02020603050405020304" pitchFamily="18" charset="0"/>
              </a:rPr>
              <a:t>high academic performance</a:t>
            </a:r>
            <a:r>
              <a:rPr lang="en-US" sz="1200" dirty="0">
                <a:latin typeface="Times New Roman" panose="02020603050405020304" pitchFamily="18" charset="0"/>
                <a:cs typeface="Times New Roman" panose="02020603050405020304" pitchFamily="18" charset="0"/>
              </a:rPr>
              <a:t> but also </a:t>
            </a:r>
            <a:r>
              <a:rPr lang="en-US" sz="1200" b="1" dirty="0">
                <a:latin typeface="Times New Roman" panose="02020603050405020304" pitchFamily="18" charset="0"/>
                <a:cs typeface="Times New Roman" panose="02020603050405020304" pitchFamily="18" charset="0"/>
              </a:rPr>
              <a:t>high child crime counts</a:t>
            </a:r>
            <a:r>
              <a:rPr lang="en-US" sz="1200" dirty="0">
                <a:latin typeface="Times New Roman" panose="02020603050405020304" pitchFamily="18" charset="0"/>
                <a:cs typeface="Times New Roman" panose="02020603050405020304" pitchFamily="18" charset="0"/>
              </a:rPr>
              <a:t>.</a:t>
            </a:r>
          </a:p>
          <a:p>
            <a:pPr marL="742950" lvl="1" indent="-285750" algn="just">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Karnataka</a:t>
            </a:r>
            <a:r>
              <a:rPr lang="en-US" sz="1200" dirty="0">
                <a:latin typeface="Times New Roman" panose="02020603050405020304" pitchFamily="18" charset="0"/>
                <a:cs typeface="Times New Roman" panose="02020603050405020304" pitchFamily="18" charset="0"/>
              </a:rPr>
              <a:t> performs well academically but records the </a:t>
            </a:r>
            <a:r>
              <a:rPr lang="en-US" sz="1200" b="1" dirty="0">
                <a:latin typeface="Times New Roman" panose="02020603050405020304" pitchFamily="18" charset="0"/>
                <a:cs typeface="Times New Roman" panose="02020603050405020304" pitchFamily="18" charset="0"/>
              </a:rPr>
              <a:t>highest total child crimes</a:t>
            </a:r>
            <a:r>
              <a:rPr lang="en-US" sz="1200" dirty="0">
                <a:latin typeface="Times New Roman" panose="02020603050405020304" pitchFamily="18" charset="0"/>
                <a:cs typeface="Times New Roman" panose="02020603050405020304" pitchFamily="18" charset="0"/>
              </a:rPr>
              <a:t> among the top states.</a:t>
            </a:r>
          </a:p>
          <a:p>
            <a:pPr marL="742950" lvl="1" indent="-2857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This indicates </a:t>
            </a:r>
            <a:r>
              <a:rPr lang="en-US" sz="1200" b="1" dirty="0">
                <a:latin typeface="Times New Roman" panose="02020603050405020304" pitchFamily="18" charset="0"/>
                <a:cs typeface="Times New Roman" panose="02020603050405020304" pitchFamily="18" charset="0"/>
              </a:rPr>
              <a:t>other socio-economic factors</a:t>
            </a:r>
            <a:r>
              <a:rPr lang="en-US" sz="1200" dirty="0">
                <a:latin typeface="Times New Roman" panose="02020603050405020304" pitchFamily="18" charset="0"/>
                <a:cs typeface="Times New Roman" panose="02020603050405020304" pitchFamily="18" charset="0"/>
              </a:rPr>
              <a:t> (urbanization, reporting rates, population density) influence crime independently of education.</a:t>
            </a:r>
          </a:p>
          <a:p>
            <a:pPr marL="742950" lvl="1" indent="-285750" algn="just">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algn="just">
              <a:buNone/>
            </a:pPr>
            <a:r>
              <a:rPr lang="en-US" sz="1200" b="1" dirty="0">
                <a:latin typeface="Times New Roman" panose="02020603050405020304" pitchFamily="18" charset="0"/>
                <a:cs typeface="Times New Roman" panose="02020603050405020304" pitchFamily="18" charset="0"/>
              </a:rPr>
              <a:t>4. Temporal Divergence (2017 - 2021)</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From 2017 to 2021, </a:t>
            </a:r>
            <a:r>
              <a:rPr lang="en-US" sz="1200" b="1" dirty="0">
                <a:latin typeface="Times New Roman" panose="02020603050405020304" pitchFamily="18" charset="0"/>
                <a:cs typeface="Times New Roman" panose="02020603050405020304" pitchFamily="18" charset="0"/>
              </a:rPr>
              <a:t>overall performance declined</a:t>
            </a:r>
            <a:r>
              <a:rPr lang="en-US" sz="1200" dirty="0">
                <a:latin typeface="Times New Roman" panose="02020603050405020304" pitchFamily="18" charset="0"/>
                <a:cs typeface="Times New Roman" panose="02020603050405020304" pitchFamily="18" charset="0"/>
              </a:rPr>
              <a:t>, while </a:t>
            </a:r>
            <a:r>
              <a:rPr lang="en-US" sz="1200" b="1" dirty="0">
                <a:latin typeface="Times New Roman" panose="02020603050405020304" pitchFamily="18" charset="0"/>
                <a:cs typeface="Times New Roman" panose="02020603050405020304" pitchFamily="18" charset="0"/>
              </a:rPr>
              <a:t>crime counts rose</a:t>
            </a:r>
            <a:r>
              <a:rPr lang="en-US" sz="1200" dirty="0">
                <a:latin typeface="Times New Roman" panose="02020603050405020304" pitchFamily="18" charset="0"/>
                <a:cs typeface="Times New Roman" panose="02020603050405020304" pitchFamily="18" charset="0"/>
              </a:rPr>
              <a:t> or stayed high in most states.</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This opposing trend visually supports an </a:t>
            </a:r>
            <a:r>
              <a:rPr lang="en-US" sz="1200" b="1" dirty="0">
                <a:latin typeface="Times New Roman" panose="02020603050405020304" pitchFamily="18" charset="0"/>
                <a:cs typeface="Times New Roman" panose="02020603050405020304" pitchFamily="18" charset="0"/>
              </a:rPr>
              <a:t>inverse temporal correlation</a:t>
            </a:r>
            <a:r>
              <a:rPr lang="en-US" sz="1200" dirty="0">
                <a:latin typeface="Times New Roman" panose="02020603050405020304" pitchFamily="18" charset="0"/>
                <a:cs typeface="Times New Roman" panose="02020603050405020304" pitchFamily="18" charset="0"/>
              </a:rPr>
              <a:t>: as learning outcomes dropped, social and child-related crime incidents generally increased.</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Notably, </a:t>
            </a:r>
            <a:r>
              <a:rPr lang="en-US" sz="1200" b="1" dirty="0">
                <a:latin typeface="Times New Roman" panose="02020603050405020304" pitchFamily="18" charset="0"/>
                <a:cs typeface="Times New Roman" panose="02020603050405020304" pitchFamily="18" charset="0"/>
              </a:rPr>
              <a:t>Madhya Pradesh</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Assam</a:t>
            </a:r>
            <a:r>
              <a:rPr lang="en-US" sz="1200" dirty="0">
                <a:latin typeface="Times New Roman" panose="02020603050405020304" pitchFamily="18" charset="0"/>
                <a:cs typeface="Times New Roman" panose="02020603050405020304" pitchFamily="18" charset="0"/>
              </a:rPr>
              <a:t> saw both ,a significant </a:t>
            </a:r>
            <a:r>
              <a:rPr lang="en-US" sz="1200" b="1" dirty="0">
                <a:latin typeface="Times New Roman" panose="02020603050405020304" pitchFamily="18" charset="0"/>
                <a:cs typeface="Times New Roman" panose="02020603050405020304" pitchFamily="18" charset="0"/>
              </a:rPr>
              <a:t>fall in education scores</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rise in crime rates</a:t>
            </a:r>
            <a:r>
              <a:rPr lang="en-US" sz="1200" dirty="0">
                <a:latin typeface="Times New Roman" panose="02020603050405020304" pitchFamily="18" charset="0"/>
                <a:cs typeface="Times New Roman" panose="02020603050405020304" pitchFamily="18" charset="0"/>
              </a:rPr>
              <a:t>.</a:t>
            </a:r>
          </a:p>
          <a:p>
            <a:pPr algn="just">
              <a:buNone/>
            </a:pP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DE89993-F6DE-7270-85B0-F53283EE758E}"/>
              </a:ext>
            </a:extLst>
          </p:cNvPr>
          <p:cNvSpPr txBox="1"/>
          <p:nvPr/>
        </p:nvSpPr>
        <p:spPr>
          <a:xfrm>
            <a:off x="6318504" y="818477"/>
            <a:ext cx="5596128" cy="4708981"/>
          </a:xfrm>
          <a:prstGeom prst="rect">
            <a:avLst/>
          </a:prstGeom>
          <a:noFill/>
        </p:spPr>
        <p:txBody>
          <a:bodyPr wrap="square">
            <a:spAutoFit/>
          </a:bodyPr>
          <a:lstStyle/>
          <a:p>
            <a:pPr algn="just">
              <a:buNone/>
            </a:pPr>
            <a:r>
              <a:rPr lang="en-US" sz="1200" b="1" dirty="0">
                <a:latin typeface="Times New Roman" panose="02020603050405020304" pitchFamily="18" charset="0"/>
                <a:cs typeface="Times New Roman" panose="02020603050405020304" pitchFamily="18" charset="0"/>
              </a:rPr>
              <a:t>5. Cluster and Regional Correlation</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States in </a:t>
            </a:r>
            <a:r>
              <a:rPr lang="en-US" sz="1200" b="1" dirty="0">
                <a:latin typeface="Times New Roman" panose="02020603050405020304" pitchFamily="18" charset="0"/>
                <a:cs typeface="Times New Roman" panose="02020603050405020304" pitchFamily="18" charset="0"/>
              </a:rPr>
              <a:t>low-performance clusters (Cluster 0)</a:t>
            </a:r>
            <a:r>
              <a:rPr lang="en-US" sz="1200" dirty="0">
                <a:latin typeface="Times New Roman" panose="02020603050405020304" pitchFamily="18" charset="0"/>
                <a:cs typeface="Times New Roman" panose="02020603050405020304" pitchFamily="18" charset="0"/>
              </a:rPr>
              <a:t> also align with </a:t>
            </a:r>
            <a:r>
              <a:rPr lang="en-US" sz="1200" b="1" dirty="0">
                <a:latin typeface="Times New Roman" panose="02020603050405020304" pitchFamily="18" charset="0"/>
                <a:cs typeface="Times New Roman" panose="02020603050405020304" pitchFamily="18" charset="0"/>
              </a:rPr>
              <a:t>higher average crime intensities</a:t>
            </a:r>
            <a:r>
              <a:rPr lang="en-US" sz="1200" dirty="0">
                <a:latin typeface="Times New Roman" panose="02020603050405020304" pitchFamily="18" charset="0"/>
                <a:cs typeface="Times New Roman" panose="02020603050405020304" pitchFamily="18" charset="0"/>
              </a:rPr>
              <a:t>, especially in child protection categories.</a:t>
            </a:r>
          </a:p>
          <a:p>
            <a:pPr marL="171450" indent="-171450" algn="just">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High-performance clusters (Cluster 1)</a:t>
            </a:r>
            <a:r>
              <a:rPr lang="en-US" sz="1200" dirty="0">
                <a:latin typeface="Times New Roman" panose="02020603050405020304" pitchFamily="18" charset="0"/>
                <a:cs typeface="Times New Roman" panose="02020603050405020304" pitchFamily="18" charset="0"/>
              </a:rPr>
              <a:t> have </a:t>
            </a:r>
            <a:r>
              <a:rPr lang="en-US" sz="1200" b="1" dirty="0">
                <a:latin typeface="Times New Roman" panose="02020603050405020304" pitchFamily="18" charset="0"/>
                <a:cs typeface="Times New Roman" panose="02020603050405020304" pitchFamily="18" charset="0"/>
              </a:rPr>
              <a:t>consistently lower crime averages</a:t>
            </a:r>
            <a:r>
              <a:rPr lang="en-US" sz="1200" dirty="0">
                <a:latin typeface="Times New Roman" panose="02020603050405020304" pitchFamily="18" charset="0"/>
                <a:cs typeface="Times New Roman" panose="02020603050405020304" pitchFamily="18" charset="0"/>
              </a:rPr>
              <a:t>, reinforcing the idea that </a:t>
            </a:r>
            <a:r>
              <a:rPr lang="en-US" sz="1200" b="1" dirty="0">
                <a:latin typeface="Times New Roman" panose="02020603050405020304" pitchFamily="18" charset="0"/>
                <a:cs typeface="Times New Roman" panose="02020603050405020304" pitchFamily="18" charset="0"/>
              </a:rPr>
              <a:t>education quality and awareness correlate with reduced social law violations</a:t>
            </a:r>
            <a:r>
              <a:rPr lang="en-US" sz="1200" dirty="0">
                <a:latin typeface="Times New Roman" panose="02020603050405020304" pitchFamily="18" charset="0"/>
                <a:cs typeface="Times New Roman" panose="02020603050405020304" pitchFamily="18" charset="0"/>
              </a:rPr>
              <a:t>.</a:t>
            </a:r>
          </a:p>
          <a:p>
            <a:pPr algn="just">
              <a:buNone/>
            </a:pP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algn="just">
              <a:buNone/>
            </a:pPr>
            <a:r>
              <a:rPr lang="en-US" sz="1200" b="1" dirty="0">
                <a:latin typeface="Times New Roman" panose="02020603050405020304" pitchFamily="18" charset="0"/>
                <a:cs typeface="Times New Roman" panose="02020603050405020304" pitchFamily="18" charset="0"/>
              </a:rPr>
              <a:t>6. Predictive Implication</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Regression and comparative analysis indicate that </a:t>
            </a:r>
            <a:r>
              <a:rPr lang="en-US" sz="1200" b="1" dirty="0">
                <a:latin typeface="Times New Roman" panose="02020603050405020304" pitchFamily="18" charset="0"/>
                <a:cs typeface="Times New Roman" panose="02020603050405020304" pitchFamily="18" charset="0"/>
              </a:rPr>
              <a:t>educational performance can act as a weak-to-moderate inverse predictor of crime</a:t>
            </a:r>
            <a:r>
              <a:rPr lang="en-US" sz="1200" dirty="0">
                <a:latin typeface="Times New Roman" panose="02020603050405020304" pitchFamily="18" charset="0"/>
                <a:cs typeface="Times New Roman" panose="02020603050405020304" pitchFamily="18" charset="0"/>
              </a:rPr>
              <a:t>, particularly </a:t>
            </a:r>
            <a:r>
              <a:rPr lang="en-US" sz="1200" b="1" dirty="0">
                <a:latin typeface="Times New Roman" panose="02020603050405020304" pitchFamily="18" charset="0"/>
                <a:cs typeface="Times New Roman" panose="02020603050405020304" pitchFamily="18" charset="0"/>
              </a:rPr>
              <a:t>child-related offenses</a:t>
            </a:r>
            <a:r>
              <a:rPr lang="en-US" sz="1200" dirty="0">
                <a:latin typeface="Times New Roman" panose="02020603050405020304" pitchFamily="18" charset="0"/>
                <a:cs typeface="Times New Roman" panose="02020603050405020304" pitchFamily="18" charset="0"/>
              </a:rPr>
              <a:t>.</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When combined into a multi-factor model (education + demographic + regional size), </a:t>
            </a:r>
            <a:r>
              <a:rPr lang="en-US" sz="1200" b="1" dirty="0">
                <a:latin typeface="Times New Roman" panose="02020603050405020304" pitchFamily="18" charset="0"/>
                <a:cs typeface="Times New Roman" panose="02020603050405020304" pitchFamily="18" charset="0"/>
              </a:rPr>
              <a:t>educational quality becomes a significant variable</a:t>
            </a:r>
            <a:r>
              <a:rPr lang="en-US" sz="1200" dirty="0">
                <a:latin typeface="Times New Roman" panose="02020603050405020304" pitchFamily="18" charset="0"/>
                <a:cs typeface="Times New Roman" panose="02020603050405020304" pitchFamily="18" charset="0"/>
              </a:rPr>
              <a:t> in explaining </a:t>
            </a:r>
            <a:r>
              <a:rPr lang="en-US" sz="1200" b="1" dirty="0">
                <a:latin typeface="Times New Roman" panose="02020603050405020304" pitchFamily="18" charset="0"/>
                <a:cs typeface="Times New Roman" panose="02020603050405020304" pitchFamily="18" charset="0"/>
              </a:rPr>
              <a:t>variance in SLL crime intensity</a:t>
            </a:r>
            <a:r>
              <a:rPr lang="en-US" sz="1200" dirty="0">
                <a:latin typeface="Times New Roman" panose="02020603050405020304" pitchFamily="18" charset="0"/>
                <a:cs typeface="Times New Roman" panose="02020603050405020304" pitchFamily="18" charset="0"/>
              </a:rPr>
              <a:t>.</a:t>
            </a:r>
          </a:p>
          <a:p>
            <a:pPr algn="just">
              <a:buNone/>
            </a:pP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algn="just">
              <a:buNone/>
            </a:pPr>
            <a:r>
              <a:rPr lang="en-US" sz="1200" b="1" dirty="0">
                <a:latin typeface="Times New Roman" panose="02020603050405020304" pitchFamily="18" charset="0"/>
                <a:cs typeface="Times New Roman" panose="02020603050405020304" pitchFamily="18" charset="0"/>
              </a:rPr>
              <a:t>7. Societal and Policy Implications</a:t>
            </a:r>
          </a:p>
          <a:p>
            <a:pPr marL="171450" indent="-171450" algn="just">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Better educational outcomes</a:t>
            </a:r>
            <a:r>
              <a:rPr lang="en-US" sz="1200" dirty="0">
                <a:latin typeface="Times New Roman" panose="02020603050405020304" pitchFamily="18" charset="0"/>
                <a:cs typeface="Times New Roman" panose="02020603050405020304" pitchFamily="18" charset="0"/>
              </a:rPr>
              <a:t> likely enhance </a:t>
            </a:r>
            <a:r>
              <a:rPr lang="en-US" sz="1200" b="1" dirty="0">
                <a:latin typeface="Times New Roman" panose="02020603050405020304" pitchFamily="18" charset="0"/>
                <a:cs typeface="Times New Roman" panose="02020603050405020304" pitchFamily="18" charset="0"/>
              </a:rPr>
              <a:t>awareness, employment, and social behavior</a:t>
            </a:r>
            <a:r>
              <a:rPr lang="en-US" sz="1200" dirty="0">
                <a:latin typeface="Times New Roman" panose="02020603050405020304" pitchFamily="18" charset="0"/>
                <a:cs typeface="Times New Roman" panose="02020603050405020304" pitchFamily="18" charset="0"/>
              </a:rPr>
              <a:t>, thereby </a:t>
            </a:r>
            <a:r>
              <a:rPr lang="en-US" sz="1200" b="1" dirty="0">
                <a:latin typeface="Times New Roman" panose="02020603050405020304" pitchFamily="18" charset="0"/>
                <a:cs typeface="Times New Roman" panose="02020603050405020304" pitchFamily="18" charset="0"/>
              </a:rPr>
              <a:t>reducing vulnerability to crime</a:t>
            </a:r>
            <a:r>
              <a:rPr lang="en-US" sz="1200" dirty="0">
                <a:latin typeface="Times New Roman" panose="02020603050405020304" pitchFamily="18" charset="0"/>
                <a:cs typeface="Times New Roman" panose="02020603050405020304" pitchFamily="18" charset="0"/>
              </a:rPr>
              <a:t>.</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co-occurrence of poor learning outcomes and high SLL crime</a:t>
            </a:r>
            <a:r>
              <a:rPr lang="en-US" sz="1200" dirty="0">
                <a:latin typeface="Times New Roman" panose="02020603050405020304" pitchFamily="18" charset="0"/>
                <a:cs typeface="Times New Roman" panose="02020603050405020304" pitchFamily="18" charset="0"/>
              </a:rPr>
              <a:t> regions marks </a:t>
            </a:r>
            <a:r>
              <a:rPr lang="en-US" sz="1200" b="1" dirty="0">
                <a:latin typeface="Times New Roman" panose="02020603050405020304" pitchFamily="18" charset="0"/>
                <a:cs typeface="Times New Roman" panose="02020603050405020304" pitchFamily="18" charset="0"/>
              </a:rPr>
              <a:t>critical policy hotspots</a:t>
            </a:r>
            <a:r>
              <a:rPr lang="en-US" sz="1200" dirty="0">
                <a:latin typeface="Times New Roman" panose="02020603050405020304" pitchFamily="18" charset="0"/>
                <a:cs typeface="Times New Roman" panose="02020603050405020304" pitchFamily="18" charset="0"/>
              </a:rPr>
              <a:t> needing </a:t>
            </a:r>
            <a:r>
              <a:rPr lang="en-US" sz="1200" b="1" dirty="0">
                <a:latin typeface="Times New Roman" panose="02020603050405020304" pitchFamily="18" charset="0"/>
                <a:cs typeface="Times New Roman" panose="02020603050405020304" pitchFamily="18" charset="0"/>
              </a:rPr>
              <a:t>dual interventions, </a:t>
            </a:r>
            <a:r>
              <a:rPr lang="en-US" sz="1200" dirty="0">
                <a:latin typeface="Times New Roman" panose="02020603050405020304" pitchFamily="18" charset="0"/>
                <a:cs typeface="Times New Roman" panose="02020603050405020304" pitchFamily="18" charset="0"/>
              </a:rPr>
              <a:t>educational upliftment and social protection measures.</a:t>
            </a:r>
          </a:p>
          <a:p>
            <a:pPr marL="171450" indent="-171450" algn="just">
              <a:buFont typeface="Wingdings" panose="05000000000000000000" pitchFamily="2" charset="2"/>
              <a:buChar char="§"/>
            </a:pPr>
            <a:r>
              <a:rPr lang="en-US" sz="1200" dirty="0">
                <a:latin typeface="Times New Roman" panose="02020603050405020304" pitchFamily="18" charset="0"/>
                <a:cs typeface="Times New Roman" panose="02020603050405020304" pitchFamily="18" charset="0"/>
              </a:rPr>
              <a:t>Integrating education data with law enforcement statistics can help </a:t>
            </a:r>
            <a:r>
              <a:rPr lang="en-US" sz="1200" b="1" dirty="0">
                <a:latin typeface="Times New Roman" panose="02020603050405020304" pitchFamily="18" charset="0"/>
                <a:cs typeface="Times New Roman" panose="02020603050405020304" pitchFamily="18" charset="0"/>
              </a:rPr>
              <a:t>prioritize development funds</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targeted awareness campaigns</a:t>
            </a:r>
            <a:r>
              <a:rPr lang="en-US" sz="1200" dirty="0">
                <a:latin typeface="Times New Roman" panose="02020603050405020304" pitchFamily="18" charset="0"/>
                <a:cs typeface="Times New Roman" panose="02020603050405020304" pitchFamily="18" charset="0"/>
              </a:rPr>
              <a:t> in high-risk districts.</a:t>
            </a:r>
          </a:p>
        </p:txBody>
      </p:sp>
    </p:spTree>
    <p:extLst>
      <p:ext uri="{BB962C8B-B14F-4D97-AF65-F5344CB8AC3E}">
        <p14:creationId xmlns:p14="http://schemas.microsoft.com/office/powerpoint/2010/main" val="1571623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97088-ACD1-CFB0-F055-D32D11F1245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F0A547D-A1F5-74A0-92F7-E1CA98F88E03}"/>
              </a:ext>
            </a:extLst>
          </p:cNvPr>
          <p:cNvSpPr>
            <a:spLocks noGrp="1"/>
          </p:cNvSpPr>
          <p:nvPr>
            <p:ph type="body" idx="1"/>
          </p:nvPr>
        </p:nvSpPr>
        <p:spPr>
          <a:xfrm>
            <a:off x="504773" y="1005648"/>
            <a:ext cx="10515600" cy="4794234"/>
          </a:xfrm>
        </p:spPr>
        <p:txBody>
          <a:bodyPr>
            <a:normAutofit/>
          </a:bodyPr>
          <a:lstStyle/>
          <a:p>
            <a:pPr marL="342900" indent="-342900">
              <a:spcBef>
                <a:spcPts val="480"/>
              </a:spcBef>
              <a:buClr>
                <a:schemeClr val="dk1"/>
              </a:buClr>
              <a:buFont typeface="Arial"/>
              <a:buChar char="•"/>
            </a:pPr>
            <a:r>
              <a:rPr lang="en-US" dirty="0">
                <a:solidFill>
                  <a:schemeClr val="tx1"/>
                </a:solidFill>
                <a:latin typeface="Times New Roman" panose="02020603050405020304" pitchFamily="18" charset="0"/>
                <a:cs typeface="Times New Roman" panose="02020603050405020304" pitchFamily="18" charset="0"/>
              </a:rPr>
              <a:t>Dataset1: </a:t>
            </a:r>
            <a:r>
              <a:rPr lang="en-US" dirty="0">
                <a:solidFill>
                  <a:schemeClr val="tx1"/>
                </a:solidFill>
                <a:latin typeface="Times New Roman" panose="02020603050405020304" pitchFamily="18" charset="0"/>
                <a:cs typeface="Times New Roman" panose="02020603050405020304" pitchFamily="18" charset="0"/>
                <a:hlinkClick r:id="rId2"/>
              </a:rPr>
              <a:t>https://ndap.niti.gov.in/dataset/7057</a:t>
            </a:r>
            <a:r>
              <a:rPr lang="en-US" dirty="0">
                <a:solidFill>
                  <a:schemeClr val="tx1"/>
                </a:solidFill>
                <a:latin typeface="Times New Roman" panose="02020603050405020304" pitchFamily="18" charset="0"/>
                <a:cs typeface="Times New Roman" panose="02020603050405020304" pitchFamily="18" charset="0"/>
              </a:rPr>
              <a:t>  </a:t>
            </a:r>
          </a:p>
          <a:p>
            <a:pPr marL="342900" indent="-342900">
              <a:spcBef>
                <a:spcPts val="480"/>
              </a:spcBef>
              <a:buClr>
                <a:schemeClr val="dk1"/>
              </a:buClr>
              <a:buFont typeface="Arial"/>
              <a:buChar char="•"/>
            </a:pPr>
            <a:r>
              <a:rPr lang="en-US" dirty="0">
                <a:solidFill>
                  <a:schemeClr val="tx1"/>
                </a:solidFill>
                <a:latin typeface="Times New Roman" panose="02020603050405020304" pitchFamily="18" charset="0"/>
                <a:cs typeface="Times New Roman" panose="02020603050405020304" pitchFamily="18" charset="0"/>
              </a:rPr>
              <a:t>Dataset2: </a:t>
            </a:r>
            <a:r>
              <a:rPr lang="en-US" dirty="0">
                <a:solidFill>
                  <a:schemeClr val="tx1"/>
                </a:solidFill>
                <a:latin typeface="Times New Roman" panose="02020603050405020304" pitchFamily="18" charset="0"/>
                <a:cs typeface="Times New Roman" panose="02020603050405020304" pitchFamily="18" charset="0"/>
                <a:hlinkClick r:id="rId3"/>
              </a:rPr>
              <a:t>https://ndap.niti.gov.in/dataset/7056</a:t>
            </a:r>
            <a:r>
              <a:rPr lang="en-US" dirty="0">
                <a:solidFill>
                  <a:schemeClr val="tx1"/>
                </a:solidFill>
                <a:latin typeface="Times New Roman" panose="02020603050405020304" pitchFamily="18" charset="0"/>
                <a:cs typeface="Times New Roman" panose="02020603050405020304" pitchFamily="18" charset="0"/>
              </a:rPr>
              <a:t> </a:t>
            </a:r>
          </a:p>
          <a:p>
            <a:pPr marL="342900" indent="-342900">
              <a:spcBef>
                <a:spcPts val="480"/>
              </a:spcBef>
              <a:buClr>
                <a:schemeClr val="dk1"/>
              </a:buClr>
              <a:buFont typeface="Arial"/>
              <a:buChar char="•"/>
            </a:pPr>
            <a:r>
              <a:rPr lang="en-US" dirty="0">
                <a:solidFill>
                  <a:schemeClr val="tx1"/>
                </a:solidFill>
                <a:latin typeface="Times New Roman" panose="02020603050405020304" pitchFamily="18" charset="0"/>
                <a:cs typeface="Times New Roman" panose="02020603050405020304" pitchFamily="18" charset="0"/>
              </a:rPr>
              <a:t>Dataset3: </a:t>
            </a:r>
            <a:r>
              <a:rPr lang="en-US" dirty="0">
                <a:solidFill>
                  <a:schemeClr val="tx1"/>
                </a:solidFill>
                <a:latin typeface="Times New Roman" panose="02020603050405020304" pitchFamily="18" charset="0"/>
                <a:cs typeface="Times New Roman" panose="02020603050405020304" pitchFamily="18" charset="0"/>
                <a:hlinkClick r:id="rId4"/>
              </a:rPr>
              <a:t>https://ndap.niti.gov.in/dataset/7055</a:t>
            </a:r>
            <a:r>
              <a:rPr lang="en-US" dirty="0">
                <a:solidFill>
                  <a:schemeClr val="tx1"/>
                </a:solidFill>
                <a:latin typeface="Times New Roman" panose="02020603050405020304" pitchFamily="18" charset="0"/>
                <a:cs typeface="Times New Roman" panose="02020603050405020304" pitchFamily="18" charset="0"/>
              </a:rPr>
              <a:t> </a:t>
            </a:r>
          </a:p>
          <a:p>
            <a:pPr marL="342900" indent="-342900">
              <a:spcBef>
                <a:spcPts val="480"/>
              </a:spcBef>
              <a:buClr>
                <a:schemeClr val="dk1"/>
              </a:buClr>
              <a:buFont typeface="Arial"/>
              <a:buChar char="•"/>
            </a:pPr>
            <a:r>
              <a:rPr lang="en-US" dirty="0">
                <a:solidFill>
                  <a:schemeClr val="tx1"/>
                </a:solidFill>
                <a:latin typeface="Times New Roman" panose="02020603050405020304" pitchFamily="18" charset="0"/>
                <a:cs typeface="Times New Roman" panose="02020603050405020304" pitchFamily="18" charset="0"/>
              </a:rPr>
              <a:t>Collaborated Dataset (SLL Crime Dataset having Juvenile Justice Care, Child Labour Prohibition Regulation, Prohibition Of Child Marriage, Protection Of Children From Sexual Offence, etc.) : </a:t>
            </a:r>
            <a:r>
              <a:rPr lang="en-US" dirty="0">
                <a:solidFill>
                  <a:schemeClr val="tx1"/>
                </a:solidFill>
                <a:latin typeface="Times New Roman" panose="02020603050405020304" pitchFamily="18" charset="0"/>
                <a:cs typeface="Times New Roman" panose="02020603050405020304" pitchFamily="18" charset="0"/>
                <a:hlinkClick r:id="rId5"/>
              </a:rPr>
              <a:t>https://indiadataportal.com/p/crime-statistics/r/ncrb-cii_sll_crimes-dt-yr-aaa</a:t>
            </a:r>
            <a:r>
              <a:rPr lang="en-US" dirty="0">
                <a:solidFill>
                  <a:schemeClr val="tx1"/>
                </a:solidFill>
                <a:latin typeface="Times New Roman" panose="02020603050405020304" pitchFamily="18" charset="0"/>
                <a:cs typeface="Times New Roman" panose="02020603050405020304" pitchFamily="18" charset="0"/>
              </a:rPr>
              <a:t> </a:t>
            </a:r>
          </a:p>
          <a:p>
            <a:pPr marL="342900" indent="-342900">
              <a:spcBef>
                <a:spcPts val="480"/>
              </a:spcBef>
              <a:buClr>
                <a:schemeClr val="dk1"/>
              </a:buClr>
              <a:buFont typeface="Arial"/>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spcBef>
                <a:spcPts val="480"/>
              </a:spcBef>
              <a:buClr>
                <a:schemeClr val="dk1"/>
              </a:buClr>
              <a:buFont typeface="Arial"/>
              <a:buChar char="•"/>
            </a:pPr>
            <a:r>
              <a:rPr lang="en-US" dirty="0">
                <a:solidFill>
                  <a:schemeClr val="tx1"/>
                </a:solidFill>
                <a:latin typeface="Times New Roman" panose="02020603050405020304" pitchFamily="18" charset="0"/>
                <a:cs typeface="Times New Roman" panose="02020603050405020304" pitchFamily="18" charset="0"/>
              </a:rPr>
              <a:t>Github Repository: </a:t>
            </a:r>
            <a:r>
              <a:rPr lang="en-US" dirty="0">
                <a:solidFill>
                  <a:schemeClr val="tx1"/>
                </a:solidFill>
                <a:latin typeface="Times New Roman" panose="02020603050405020304" pitchFamily="18" charset="0"/>
                <a:cs typeface="Times New Roman" panose="02020603050405020304" pitchFamily="18" charset="0"/>
                <a:hlinkClick r:id="rId6"/>
              </a:rPr>
              <a:t>https://github.com/Shreyas521032/National-Achievement-Survey-learning-outcomes</a:t>
            </a:r>
            <a:r>
              <a:rPr lang="en-US" dirty="0">
                <a:solidFill>
                  <a:schemeClr val="tx1"/>
                </a:solidFill>
                <a:latin typeface="Times New Roman" panose="02020603050405020304" pitchFamily="18" charset="0"/>
                <a:cs typeface="Times New Roman" panose="02020603050405020304" pitchFamily="18" charset="0"/>
              </a:rPr>
              <a:t> </a:t>
            </a:r>
          </a:p>
          <a:p>
            <a:pPr marL="342900" indent="-342900">
              <a:spcBef>
                <a:spcPts val="480"/>
              </a:spcBef>
              <a:buClr>
                <a:schemeClr val="dk1"/>
              </a:buClr>
              <a:buFont typeface="Arial"/>
              <a:buChar char="•"/>
            </a:pPr>
            <a:r>
              <a:rPr lang="en-US" dirty="0">
                <a:solidFill>
                  <a:schemeClr val="tx1"/>
                </a:solidFill>
                <a:latin typeface="Times New Roman" panose="02020603050405020304" pitchFamily="18" charset="0"/>
                <a:cs typeface="Times New Roman" panose="02020603050405020304" pitchFamily="18" charset="0"/>
              </a:rPr>
              <a:t>Live Deployed Project: </a:t>
            </a:r>
            <a:r>
              <a:rPr lang="en-US" dirty="0">
                <a:solidFill>
                  <a:schemeClr val="tx1"/>
                </a:solidFill>
                <a:latin typeface="Times New Roman" panose="02020603050405020304" pitchFamily="18" charset="0"/>
                <a:cs typeface="Times New Roman" panose="02020603050405020304" pitchFamily="18" charset="0"/>
                <a:hlinkClick r:id="rId7"/>
              </a:rPr>
              <a:t>https://shreyas-national-achievement-survey.streamlit.app/</a:t>
            </a:r>
            <a:r>
              <a:rPr lang="en-US" dirty="0">
                <a:solidFill>
                  <a:schemeClr val="tx1"/>
                </a:solidFill>
                <a:latin typeface="Times New Roman" panose="02020603050405020304" pitchFamily="18" charset="0"/>
                <a:cs typeface="Times New Roman" panose="02020603050405020304" pitchFamily="18" charset="0"/>
              </a:rPr>
              <a:t> </a:t>
            </a:r>
          </a:p>
        </p:txBody>
      </p:sp>
      <p:pic>
        <p:nvPicPr>
          <p:cNvPr id="4" name="Google Shape;461;g276d8240beb_2_4298">
            <a:extLst>
              <a:ext uri="{FF2B5EF4-FFF2-40B4-BE49-F238E27FC236}">
                <a16:creationId xmlns:a16="http://schemas.microsoft.com/office/drawing/2014/main" id="{A7B83DAB-59EE-0F95-3FB9-B0D5B5DBE393}"/>
              </a:ext>
            </a:extLst>
          </p:cNvPr>
          <p:cNvPicPr preferRelativeResize="0"/>
          <p:nvPr/>
        </p:nvPicPr>
        <p:blipFill rotWithShape="1">
          <a:blip r:embed="rId8">
            <a:alphaModFix/>
          </a:blip>
          <a:srcRect/>
          <a:stretch/>
        </p:blipFill>
        <p:spPr>
          <a:xfrm>
            <a:off x="10785927" y="27613"/>
            <a:ext cx="1378885" cy="590424"/>
          </a:xfrm>
          <a:prstGeom prst="rect">
            <a:avLst/>
          </a:prstGeom>
          <a:noFill/>
          <a:ln>
            <a:noFill/>
          </a:ln>
        </p:spPr>
      </p:pic>
      <p:grpSp>
        <p:nvGrpSpPr>
          <p:cNvPr id="5" name="Google Shape;312;g276d8240beb_2_4298">
            <a:extLst>
              <a:ext uri="{FF2B5EF4-FFF2-40B4-BE49-F238E27FC236}">
                <a16:creationId xmlns:a16="http://schemas.microsoft.com/office/drawing/2014/main" id="{AD3F3986-EC58-BDEC-B492-764780502C00}"/>
              </a:ext>
            </a:extLst>
          </p:cNvPr>
          <p:cNvGrpSpPr/>
          <p:nvPr/>
        </p:nvGrpSpPr>
        <p:grpSpPr>
          <a:xfrm>
            <a:off x="4232" y="6382984"/>
            <a:ext cx="12192000" cy="476250"/>
            <a:chOff x="0" y="6381750"/>
            <a:chExt cx="12192000" cy="476250"/>
          </a:xfrm>
        </p:grpSpPr>
        <p:sp>
          <p:nvSpPr>
            <p:cNvPr id="6" name="Google Shape;313;g276d8240beb_2_4298">
              <a:extLst>
                <a:ext uri="{FF2B5EF4-FFF2-40B4-BE49-F238E27FC236}">
                  <a16:creationId xmlns:a16="http://schemas.microsoft.com/office/drawing/2014/main" id="{DEDD980E-A388-40F2-6943-334BDFBECCF0}"/>
                </a:ext>
              </a:extLst>
            </p:cNvPr>
            <p:cNvSpPr/>
            <p:nvPr/>
          </p:nvSpPr>
          <p:spPr>
            <a:xfrm>
              <a:off x="0" y="6381750"/>
              <a:ext cx="12192000" cy="47625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grpSp>
          <p:nvGrpSpPr>
            <p:cNvPr id="7" name="Google Shape;314;g276d8240beb_2_4298">
              <a:extLst>
                <a:ext uri="{FF2B5EF4-FFF2-40B4-BE49-F238E27FC236}">
                  <a16:creationId xmlns:a16="http://schemas.microsoft.com/office/drawing/2014/main" id="{8D354F47-D005-0640-36E4-87644FF40901}"/>
                </a:ext>
              </a:extLst>
            </p:cNvPr>
            <p:cNvGrpSpPr/>
            <p:nvPr/>
          </p:nvGrpSpPr>
          <p:grpSpPr>
            <a:xfrm>
              <a:off x="160089" y="6467143"/>
              <a:ext cx="4087748" cy="273466"/>
              <a:chOff x="4366684" y="2926127"/>
              <a:chExt cx="3278335" cy="2571063"/>
            </a:xfrm>
          </p:grpSpPr>
          <p:sp>
            <p:nvSpPr>
              <p:cNvPr id="8" name="Google Shape;315;g276d8240beb_2_4298">
                <a:extLst>
                  <a:ext uri="{FF2B5EF4-FFF2-40B4-BE49-F238E27FC236}">
                    <a16:creationId xmlns:a16="http://schemas.microsoft.com/office/drawing/2014/main" id="{43BD231B-DD62-DB8F-8775-53D108B6EC5F}"/>
                  </a:ext>
                </a:extLst>
              </p:cNvPr>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9" name="Google Shape;316;g276d8240beb_2_4298">
                <a:extLst>
                  <a:ext uri="{FF2B5EF4-FFF2-40B4-BE49-F238E27FC236}">
                    <a16:creationId xmlns:a16="http://schemas.microsoft.com/office/drawing/2014/main" id="{8D407C70-EB98-C4D2-8260-68A2564786A5}"/>
                  </a:ext>
                </a:extLst>
              </p:cNvPr>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0" name="Google Shape;317;g276d8240beb_2_4298">
                <a:extLst>
                  <a:ext uri="{FF2B5EF4-FFF2-40B4-BE49-F238E27FC236}">
                    <a16:creationId xmlns:a16="http://schemas.microsoft.com/office/drawing/2014/main" id="{5CBF7856-0603-A0C7-7C30-406F24F3E428}"/>
                  </a:ext>
                </a:extLst>
              </p:cNvPr>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1" name="Google Shape;318;g276d8240beb_2_4298">
                <a:extLst>
                  <a:ext uri="{FF2B5EF4-FFF2-40B4-BE49-F238E27FC236}">
                    <a16:creationId xmlns:a16="http://schemas.microsoft.com/office/drawing/2014/main" id="{5B39FF8C-AE77-0CD9-217A-9CCC216B877A}"/>
                  </a:ext>
                </a:extLst>
              </p:cNvPr>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2" name="Google Shape;319;g276d8240beb_2_4298">
                <a:extLst>
                  <a:ext uri="{FF2B5EF4-FFF2-40B4-BE49-F238E27FC236}">
                    <a16:creationId xmlns:a16="http://schemas.microsoft.com/office/drawing/2014/main" id="{B7D2151D-03AF-5451-1F45-4C6CE3B40F69}"/>
                  </a:ext>
                </a:extLst>
              </p:cNvPr>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3" name="Google Shape;320;g276d8240beb_2_4298">
                <a:extLst>
                  <a:ext uri="{FF2B5EF4-FFF2-40B4-BE49-F238E27FC236}">
                    <a16:creationId xmlns:a16="http://schemas.microsoft.com/office/drawing/2014/main" id="{4AC04580-BD35-499A-FEA5-AEE156E10943}"/>
                  </a:ext>
                </a:extLst>
              </p:cNvPr>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4" name="Google Shape;321;g276d8240beb_2_4298">
                <a:extLst>
                  <a:ext uri="{FF2B5EF4-FFF2-40B4-BE49-F238E27FC236}">
                    <a16:creationId xmlns:a16="http://schemas.microsoft.com/office/drawing/2014/main" id="{CB0B83E7-00FD-7E7B-578F-35456778E2F1}"/>
                  </a:ext>
                </a:extLst>
              </p:cNvPr>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5" name="Google Shape;322;g276d8240beb_2_4298">
                <a:extLst>
                  <a:ext uri="{FF2B5EF4-FFF2-40B4-BE49-F238E27FC236}">
                    <a16:creationId xmlns:a16="http://schemas.microsoft.com/office/drawing/2014/main" id="{DC69878D-8EAA-EC4B-4FAF-CE426892BA8C}"/>
                  </a:ext>
                </a:extLst>
              </p:cNvPr>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6" name="Google Shape;323;g276d8240beb_2_4298">
                <a:extLst>
                  <a:ext uri="{FF2B5EF4-FFF2-40B4-BE49-F238E27FC236}">
                    <a16:creationId xmlns:a16="http://schemas.microsoft.com/office/drawing/2014/main" id="{766F4DEB-7E25-8CC4-E9AA-EAF4FB7139DE}"/>
                  </a:ext>
                </a:extLst>
              </p:cNvPr>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7" name="Google Shape;324;g276d8240beb_2_4298">
                <a:extLst>
                  <a:ext uri="{FF2B5EF4-FFF2-40B4-BE49-F238E27FC236}">
                    <a16:creationId xmlns:a16="http://schemas.microsoft.com/office/drawing/2014/main" id="{18E54FC0-6B50-4BDC-17FE-874C4E9E71C3}"/>
                  </a:ext>
                </a:extLst>
              </p:cNvPr>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8" name="Google Shape;325;g276d8240beb_2_4298">
                <a:extLst>
                  <a:ext uri="{FF2B5EF4-FFF2-40B4-BE49-F238E27FC236}">
                    <a16:creationId xmlns:a16="http://schemas.microsoft.com/office/drawing/2014/main" id="{A7340DD7-482B-BDBD-582A-3F0526E31F16}"/>
                  </a:ext>
                </a:extLst>
              </p:cNvPr>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19" name="Google Shape;326;g276d8240beb_2_4298">
                <a:extLst>
                  <a:ext uri="{FF2B5EF4-FFF2-40B4-BE49-F238E27FC236}">
                    <a16:creationId xmlns:a16="http://schemas.microsoft.com/office/drawing/2014/main" id="{73DEB0D1-A06D-C01F-5DC0-798D2F36249D}"/>
                  </a:ext>
                </a:extLst>
              </p:cNvPr>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0" name="Google Shape;327;g276d8240beb_2_4298">
                <a:extLst>
                  <a:ext uri="{FF2B5EF4-FFF2-40B4-BE49-F238E27FC236}">
                    <a16:creationId xmlns:a16="http://schemas.microsoft.com/office/drawing/2014/main" id="{BFC4F2B9-CE67-0786-B2AE-FE67C522AFCB}"/>
                  </a:ext>
                </a:extLst>
              </p:cNvPr>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1" name="Google Shape;328;g276d8240beb_2_4298">
                <a:extLst>
                  <a:ext uri="{FF2B5EF4-FFF2-40B4-BE49-F238E27FC236}">
                    <a16:creationId xmlns:a16="http://schemas.microsoft.com/office/drawing/2014/main" id="{3CA02688-4AB0-A43E-A084-D56773EE29E4}"/>
                  </a:ext>
                </a:extLst>
              </p:cNvPr>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2" name="Google Shape;329;g276d8240beb_2_4298">
                <a:extLst>
                  <a:ext uri="{FF2B5EF4-FFF2-40B4-BE49-F238E27FC236}">
                    <a16:creationId xmlns:a16="http://schemas.microsoft.com/office/drawing/2014/main" id="{E4610C6C-870F-E0C9-C3F7-841F4FCD69AC}"/>
                  </a:ext>
                </a:extLst>
              </p:cNvPr>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3" name="Google Shape;330;g276d8240beb_2_4298">
                <a:extLst>
                  <a:ext uri="{FF2B5EF4-FFF2-40B4-BE49-F238E27FC236}">
                    <a16:creationId xmlns:a16="http://schemas.microsoft.com/office/drawing/2014/main" id="{7963083E-2E07-1170-F5A7-5AA41035EE3B}"/>
                  </a:ext>
                </a:extLst>
              </p:cNvPr>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4" name="Google Shape;331;g276d8240beb_2_4298">
                <a:extLst>
                  <a:ext uri="{FF2B5EF4-FFF2-40B4-BE49-F238E27FC236}">
                    <a16:creationId xmlns:a16="http://schemas.microsoft.com/office/drawing/2014/main" id="{4989625A-7481-A079-3CE1-C97D9E26ABAA}"/>
                  </a:ext>
                </a:extLst>
              </p:cNvPr>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5" name="Google Shape;332;g276d8240beb_2_4298">
                <a:extLst>
                  <a:ext uri="{FF2B5EF4-FFF2-40B4-BE49-F238E27FC236}">
                    <a16:creationId xmlns:a16="http://schemas.microsoft.com/office/drawing/2014/main" id="{1F1454C8-3D21-1CED-80B2-F1F72BF8A239}"/>
                  </a:ext>
                </a:extLst>
              </p:cNvPr>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6" name="Google Shape;333;g276d8240beb_2_4298">
                <a:extLst>
                  <a:ext uri="{FF2B5EF4-FFF2-40B4-BE49-F238E27FC236}">
                    <a16:creationId xmlns:a16="http://schemas.microsoft.com/office/drawing/2014/main" id="{DA3A57AE-C069-4172-F764-4EA072A3DD2B}"/>
                  </a:ext>
                </a:extLst>
              </p:cNvPr>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7" name="Google Shape;334;g276d8240beb_2_4298">
                <a:extLst>
                  <a:ext uri="{FF2B5EF4-FFF2-40B4-BE49-F238E27FC236}">
                    <a16:creationId xmlns:a16="http://schemas.microsoft.com/office/drawing/2014/main" id="{C93C8467-4F36-1189-0010-2D944A891522}"/>
                  </a:ext>
                </a:extLst>
              </p:cNvPr>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8" name="Google Shape;335;g276d8240beb_2_4298">
                <a:extLst>
                  <a:ext uri="{FF2B5EF4-FFF2-40B4-BE49-F238E27FC236}">
                    <a16:creationId xmlns:a16="http://schemas.microsoft.com/office/drawing/2014/main" id="{BA41A7BD-CA62-D27A-C16B-EFFFCC98954A}"/>
                  </a:ext>
                </a:extLst>
              </p:cNvPr>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29" name="Google Shape;336;g276d8240beb_2_4298">
                <a:extLst>
                  <a:ext uri="{FF2B5EF4-FFF2-40B4-BE49-F238E27FC236}">
                    <a16:creationId xmlns:a16="http://schemas.microsoft.com/office/drawing/2014/main" id="{734195C7-52A8-13D7-B58A-FA0BEF0FB959}"/>
                  </a:ext>
                </a:extLst>
              </p:cNvPr>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0" name="Google Shape;337;g276d8240beb_2_4298">
                <a:extLst>
                  <a:ext uri="{FF2B5EF4-FFF2-40B4-BE49-F238E27FC236}">
                    <a16:creationId xmlns:a16="http://schemas.microsoft.com/office/drawing/2014/main" id="{796D90C7-EABB-AD73-2E44-804731563B90}"/>
                  </a:ext>
                </a:extLst>
              </p:cNvPr>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1" name="Google Shape;338;g276d8240beb_2_4298">
                <a:extLst>
                  <a:ext uri="{FF2B5EF4-FFF2-40B4-BE49-F238E27FC236}">
                    <a16:creationId xmlns:a16="http://schemas.microsoft.com/office/drawing/2014/main" id="{E59C638C-7889-37A9-EC58-917557272DC7}"/>
                  </a:ext>
                </a:extLst>
              </p:cNvPr>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2" name="Google Shape;339;g276d8240beb_2_4298">
                <a:extLst>
                  <a:ext uri="{FF2B5EF4-FFF2-40B4-BE49-F238E27FC236}">
                    <a16:creationId xmlns:a16="http://schemas.microsoft.com/office/drawing/2014/main" id="{C0FDB152-D64F-F6DC-5CF2-2EA0CC3B014C}"/>
                  </a:ext>
                </a:extLst>
              </p:cNvPr>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3" name="Google Shape;340;g276d8240beb_2_4298">
                <a:extLst>
                  <a:ext uri="{FF2B5EF4-FFF2-40B4-BE49-F238E27FC236}">
                    <a16:creationId xmlns:a16="http://schemas.microsoft.com/office/drawing/2014/main" id="{136FAF2B-B5D5-2173-9E8A-A2818A71D299}"/>
                  </a:ext>
                </a:extLst>
              </p:cNvPr>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4" name="Google Shape;341;g276d8240beb_2_4298">
                <a:extLst>
                  <a:ext uri="{FF2B5EF4-FFF2-40B4-BE49-F238E27FC236}">
                    <a16:creationId xmlns:a16="http://schemas.microsoft.com/office/drawing/2014/main" id="{50F5707A-8F09-13D4-0C0D-55DFA96604B7}"/>
                  </a:ext>
                </a:extLst>
              </p:cNvPr>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5" name="Google Shape;342;g276d8240beb_2_4298">
                <a:extLst>
                  <a:ext uri="{FF2B5EF4-FFF2-40B4-BE49-F238E27FC236}">
                    <a16:creationId xmlns:a16="http://schemas.microsoft.com/office/drawing/2014/main" id="{D16ECB28-0866-D4BE-8E9F-8FC898E76864}"/>
                  </a:ext>
                </a:extLst>
              </p:cNvPr>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6" name="Google Shape;343;g276d8240beb_2_4298">
                <a:extLst>
                  <a:ext uri="{FF2B5EF4-FFF2-40B4-BE49-F238E27FC236}">
                    <a16:creationId xmlns:a16="http://schemas.microsoft.com/office/drawing/2014/main" id="{4FADAC4F-ABFC-665C-F737-F7FEDED458B2}"/>
                  </a:ext>
                </a:extLst>
              </p:cNvPr>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7" name="Google Shape;344;g276d8240beb_2_4298">
                <a:extLst>
                  <a:ext uri="{FF2B5EF4-FFF2-40B4-BE49-F238E27FC236}">
                    <a16:creationId xmlns:a16="http://schemas.microsoft.com/office/drawing/2014/main" id="{1979F391-05B8-AD03-252F-BEEEA45A008E}"/>
                  </a:ext>
                </a:extLst>
              </p:cNvPr>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8" name="Google Shape;345;g276d8240beb_2_4298">
                <a:extLst>
                  <a:ext uri="{FF2B5EF4-FFF2-40B4-BE49-F238E27FC236}">
                    <a16:creationId xmlns:a16="http://schemas.microsoft.com/office/drawing/2014/main" id="{5B691B26-A9D1-689A-E2FF-3158E5FA8B79}"/>
                  </a:ext>
                </a:extLst>
              </p:cNvPr>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39" name="Google Shape;346;g276d8240beb_2_4298">
                <a:extLst>
                  <a:ext uri="{FF2B5EF4-FFF2-40B4-BE49-F238E27FC236}">
                    <a16:creationId xmlns:a16="http://schemas.microsoft.com/office/drawing/2014/main" id="{775242B7-18B2-3F0F-0425-DD5672CF614E}"/>
                  </a:ext>
                </a:extLst>
              </p:cNvPr>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40" name="Google Shape;347;g276d8240beb_2_4298">
                <a:extLst>
                  <a:ext uri="{FF2B5EF4-FFF2-40B4-BE49-F238E27FC236}">
                    <a16:creationId xmlns:a16="http://schemas.microsoft.com/office/drawing/2014/main" id="{5FE5C26C-91AF-A1A8-4EF3-A2E9B3713294}"/>
                  </a:ext>
                </a:extLst>
              </p:cNvPr>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41" name="Google Shape;348;g276d8240beb_2_4298">
                <a:extLst>
                  <a:ext uri="{FF2B5EF4-FFF2-40B4-BE49-F238E27FC236}">
                    <a16:creationId xmlns:a16="http://schemas.microsoft.com/office/drawing/2014/main" id="{BDA870EE-2B7D-AA0D-C4C7-56991560FF4C}"/>
                  </a:ext>
                </a:extLst>
              </p:cNvPr>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sp>
            <p:nvSpPr>
              <p:cNvPr id="42" name="Google Shape;349;g276d8240beb_2_4298">
                <a:extLst>
                  <a:ext uri="{FF2B5EF4-FFF2-40B4-BE49-F238E27FC236}">
                    <a16:creationId xmlns:a16="http://schemas.microsoft.com/office/drawing/2014/main" id="{3ABC43F0-2E54-1483-6CF8-5A58507EAEEE}"/>
                  </a:ext>
                </a:extLst>
              </p:cNvPr>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C00000"/>
                  </a:solidFill>
                  <a:latin typeface="Times New Roman"/>
                  <a:ea typeface="Times New Roman"/>
                  <a:cs typeface="Times New Roman"/>
                  <a:sym typeface="Times New Roman"/>
                </a:endParaRPr>
              </a:p>
            </p:txBody>
          </p:sp>
        </p:grpSp>
      </p:grpSp>
      <p:grpSp>
        <p:nvGrpSpPr>
          <p:cNvPr id="43" name="Google Shape;351;g276d8240beb_2_4298">
            <a:extLst>
              <a:ext uri="{FF2B5EF4-FFF2-40B4-BE49-F238E27FC236}">
                <a16:creationId xmlns:a16="http://schemas.microsoft.com/office/drawing/2014/main" id="{A2E9ACF3-7974-AED3-B37D-A0C4E53F7004}"/>
              </a:ext>
            </a:extLst>
          </p:cNvPr>
          <p:cNvGrpSpPr/>
          <p:nvPr/>
        </p:nvGrpSpPr>
        <p:grpSpPr>
          <a:xfrm>
            <a:off x="166248" y="6490548"/>
            <a:ext cx="4247655" cy="273466"/>
            <a:chOff x="4366684" y="2926127"/>
            <a:chExt cx="3278335" cy="2571063"/>
          </a:xfrm>
        </p:grpSpPr>
        <p:sp>
          <p:nvSpPr>
            <p:cNvPr id="44" name="Google Shape;352;g276d8240beb_2_4298">
              <a:extLst>
                <a:ext uri="{FF2B5EF4-FFF2-40B4-BE49-F238E27FC236}">
                  <a16:creationId xmlns:a16="http://schemas.microsoft.com/office/drawing/2014/main" id="{B852C27D-2111-E564-5505-43CF8199E5F2}"/>
                </a:ext>
              </a:extLst>
            </p:cNvPr>
            <p:cNvSpPr/>
            <p:nvPr/>
          </p:nvSpPr>
          <p:spPr>
            <a:xfrm>
              <a:off x="4744501"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5" name="Google Shape;353;g276d8240beb_2_4298">
              <a:extLst>
                <a:ext uri="{FF2B5EF4-FFF2-40B4-BE49-F238E27FC236}">
                  <a16:creationId xmlns:a16="http://schemas.microsoft.com/office/drawing/2014/main" id="{5713A9CD-3777-6777-44FE-98FCC2A10B0F}"/>
                </a:ext>
              </a:extLst>
            </p:cNvPr>
            <p:cNvSpPr/>
            <p:nvPr/>
          </p:nvSpPr>
          <p:spPr>
            <a:xfrm>
              <a:off x="4676621"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6" name="Google Shape;354;g276d8240beb_2_4298">
              <a:extLst>
                <a:ext uri="{FF2B5EF4-FFF2-40B4-BE49-F238E27FC236}">
                  <a16:creationId xmlns:a16="http://schemas.microsoft.com/office/drawing/2014/main" id="{CD7691F4-1742-7CDB-3394-938DA8F20A78}"/>
                </a:ext>
              </a:extLst>
            </p:cNvPr>
            <p:cNvSpPr/>
            <p:nvPr/>
          </p:nvSpPr>
          <p:spPr>
            <a:xfrm>
              <a:off x="5706626" y="2927282"/>
              <a:ext cx="109764" cy="2394576"/>
            </a:xfrm>
            <a:custGeom>
              <a:avLst/>
              <a:gdLst/>
              <a:ahLst/>
              <a:cxnLst/>
              <a:rect l="l" t="t" r="r" b="b"/>
              <a:pathLst>
                <a:path w="292813" h="6387957" extrusionOk="0">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7" name="Google Shape;355;g276d8240beb_2_4298">
              <a:extLst>
                <a:ext uri="{FF2B5EF4-FFF2-40B4-BE49-F238E27FC236}">
                  <a16:creationId xmlns:a16="http://schemas.microsoft.com/office/drawing/2014/main" id="{8DB0BC35-BE41-FAAE-006E-DCFD4A6E9524}"/>
                </a:ext>
              </a:extLst>
            </p:cNvPr>
            <p:cNvSpPr/>
            <p:nvPr/>
          </p:nvSpPr>
          <p:spPr>
            <a:xfrm>
              <a:off x="5022376" y="2926994"/>
              <a:ext cx="75101" cy="2394576"/>
            </a:xfrm>
            <a:custGeom>
              <a:avLst/>
              <a:gdLst/>
              <a:ahLst/>
              <a:cxnLst/>
              <a:rect l="l" t="t" r="r" b="b"/>
              <a:pathLst>
                <a:path w="200346" h="6387957" extrusionOk="0">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8" name="Google Shape;356;g276d8240beb_2_4298">
              <a:extLst>
                <a:ext uri="{FF2B5EF4-FFF2-40B4-BE49-F238E27FC236}">
                  <a16:creationId xmlns:a16="http://schemas.microsoft.com/office/drawing/2014/main" id="{FA76467E-6E41-2917-6351-A2BAB11115A4}"/>
                </a:ext>
              </a:extLst>
            </p:cNvPr>
            <p:cNvSpPr/>
            <p:nvPr/>
          </p:nvSpPr>
          <p:spPr>
            <a:xfrm>
              <a:off x="4877829" y="2926994"/>
              <a:ext cx="72212" cy="2394576"/>
            </a:xfrm>
            <a:custGeom>
              <a:avLst/>
              <a:gdLst/>
              <a:ahLst/>
              <a:cxnLst/>
              <a:rect l="l" t="t" r="r" b="b"/>
              <a:pathLst>
                <a:path w="192640" h="6387957" extrusionOk="0">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49" name="Google Shape;357;g276d8240beb_2_4298">
              <a:extLst>
                <a:ext uri="{FF2B5EF4-FFF2-40B4-BE49-F238E27FC236}">
                  <a16:creationId xmlns:a16="http://schemas.microsoft.com/office/drawing/2014/main" id="{03454BB4-3A5E-BC6D-66BF-DB1DBA540DDD}"/>
                </a:ext>
              </a:extLst>
            </p:cNvPr>
            <p:cNvSpPr/>
            <p:nvPr/>
          </p:nvSpPr>
          <p:spPr>
            <a:xfrm>
              <a:off x="4559765" y="2926994"/>
              <a:ext cx="72212" cy="2394576"/>
            </a:xfrm>
            <a:custGeom>
              <a:avLst/>
              <a:gdLst/>
              <a:ahLst/>
              <a:cxnLst/>
              <a:rect l="l" t="t" r="r" b="b"/>
              <a:pathLst>
                <a:path w="192640" h="6387957" extrusionOk="0">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0" name="Google Shape;358;g276d8240beb_2_4298">
              <a:extLst>
                <a:ext uri="{FF2B5EF4-FFF2-40B4-BE49-F238E27FC236}">
                  <a16:creationId xmlns:a16="http://schemas.microsoft.com/office/drawing/2014/main" id="{50FA2A75-CAAC-C0B1-C0CA-FE31F11E248D}"/>
                </a:ext>
              </a:extLst>
            </p:cNvPr>
            <p:cNvSpPr/>
            <p:nvPr/>
          </p:nvSpPr>
          <p:spPr>
            <a:xfrm>
              <a:off x="4433987"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1" name="Google Shape;359;g276d8240beb_2_4298">
              <a:extLst>
                <a:ext uri="{FF2B5EF4-FFF2-40B4-BE49-F238E27FC236}">
                  <a16:creationId xmlns:a16="http://schemas.microsoft.com/office/drawing/2014/main" id="{85749307-3AF0-B2A2-2046-A3A691F61D75}"/>
                </a:ext>
              </a:extLst>
            </p:cNvPr>
            <p:cNvSpPr/>
            <p:nvPr/>
          </p:nvSpPr>
          <p:spPr>
            <a:xfrm>
              <a:off x="4366684" y="2927282"/>
              <a:ext cx="37550" cy="2567886"/>
            </a:xfrm>
            <a:custGeom>
              <a:avLst/>
              <a:gdLst/>
              <a:ahLst/>
              <a:cxnLst/>
              <a:rect l="l" t="t" r="r" b="b"/>
              <a:pathLst>
                <a:path w="100173" h="6850294" extrusionOk="0">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2" name="Google Shape;360;g276d8240beb_2_4298">
              <a:extLst>
                <a:ext uri="{FF2B5EF4-FFF2-40B4-BE49-F238E27FC236}">
                  <a16:creationId xmlns:a16="http://schemas.microsoft.com/office/drawing/2014/main" id="{29517CC6-6823-B65D-C127-FF27F01109D3}"/>
                </a:ext>
              </a:extLst>
            </p:cNvPr>
            <p:cNvSpPr/>
            <p:nvPr/>
          </p:nvSpPr>
          <p:spPr>
            <a:xfrm>
              <a:off x="5957386" y="2926705"/>
              <a:ext cx="37550" cy="2567886"/>
            </a:xfrm>
            <a:custGeom>
              <a:avLst/>
              <a:gdLst/>
              <a:ahLst/>
              <a:cxnLst/>
              <a:rect l="l" t="t" r="r" b="b"/>
              <a:pathLst>
                <a:path w="100173" h="6850294" extrusionOk="0">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3" name="Google Shape;361;g276d8240beb_2_4298">
              <a:extLst>
                <a:ext uri="{FF2B5EF4-FFF2-40B4-BE49-F238E27FC236}">
                  <a16:creationId xmlns:a16="http://schemas.microsoft.com/office/drawing/2014/main" id="{676009B9-312E-4CA5-9F21-A1DB4C20159F}"/>
                </a:ext>
              </a:extLst>
            </p:cNvPr>
            <p:cNvSpPr/>
            <p:nvPr/>
          </p:nvSpPr>
          <p:spPr>
            <a:xfrm>
              <a:off x="6024689" y="2926127"/>
              <a:ext cx="37550" cy="2567886"/>
            </a:xfrm>
            <a:custGeom>
              <a:avLst/>
              <a:gdLst/>
              <a:ahLst/>
              <a:cxnLst/>
              <a:rect l="l" t="t" r="r" b="b"/>
              <a:pathLst>
                <a:path w="100173" h="6850294" extrusionOk="0">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4" name="Google Shape;362;g276d8240beb_2_4298">
              <a:extLst>
                <a:ext uri="{FF2B5EF4-FFF2-40B4-BE49-F238E27FC236}">
                  <a16:creationId xmlns:a16="http://schemas.microsoft.com/office/drawing/2014/main" id="{94FC51A5-F12A-0B2F-9218-1E5D8F85655B}"/>
                </a:ext>
              </a:extLst>
            </p:cNvPr>
            <p:cNvSpPr/>
            <p:nvPr/>
          </p:nvSpPr>
          <p:spPr>
            <a:xfrm>
              <a:off x="5890084" y="2926994"/>
              <a:ext cx="37550" cy="2394576"/>
            </a:xfrm>
            <a:custGeom>
              <a:avLst/>
              <a:gdLst/>
              <a:ahLst/>
              <a:cxnLst/>
              <a:rect l="l" t="t" r="r" b="b"/>
              <a:pathLst>
                <a:path w="100173" h="6387957" extrusionOk="0">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5" name="Google Shape;363;g276d8240beb_2_4298">
              <a:extLst>
                <a:ext uri="{FF2B5EF4-FFF2-40B4-BE49-F238E27FC236}">
                  <a16:creationId xmlns:a16="http://schemas.microsoft.com/office/drawing/2014/main" id="{53213264-5F51-B14F-B8F9-55998541186A}"/>
                </a:ext>
              </a:extLst>
            </p:cNvPr>
            <p:cNvSpPr/>
            <p:nvPr/>
          </p:nvSpPr>
          <p:spPr>
            <a:xfrm>
              <a:off x="6091991" y="2926994"/>
              <a:ext cx="37550" cy="2394576"/>
            </a:xfrm>
            <a:custGeom>
              <a:avLst/>
              <a:gdLst/>
              <a:ahLst/>
              <a:cxnLst/>
              <a:rect l="l" t="t" r="r" b="b"/>
              <a:pathLst>
                <a:path w="100173" h="6387957" extrusionOk="0">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6" name="Google Shape;364;g276d8240beb_2_4298">
              <a:extLst>
                <a:ext uri="{FF2B5EF4-FFF2-40B4-BE49-F238E27FC236}">
                  <a16:creationId xmlns:a16="http://schemas.microsoft.com/office/drawing/2014/main" id="{E9C01EE2-D4D9-F8B9-056E-69564199F7B9}"/>
                </a:ext>
              </a:extLst>
            </p:cNvPr>
            <p:cNvSpPr/>
            <p:nvPr/>
          </p:nvSpPr>
          <p:spPr>
            <a:xfrm>
              <a:off x="7139759"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7" name="Google Shape;365;g276d8240beb_2_4298">
              <a:extLst>
                <a:ext uri="{FF2B5EF4-FFF2-40B4-BE49-F238E27FC236}">
                  <a16:creationId xmlns:a16="http://schemas.microsoft.com/office/drawing/2014/main" id="{9A2E06BB-83FD-808F-77B2-D2D6C6746EF0}"/>
                </a:ext>
              </a:extLst>
            </p:cNvPr>
            <p:cNvSpPr/>
            <p:nvPr/>
          </p:nvSpPr>
          <p:spPr>
            <a:xfrm>
              <a:off x="7280788"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8" name="Google Shape;366;g276d8240beb_2_4298">
              <a:extLst>
                <a:ext uri="{FF2B5EF4-FFF2-40B4-BE49-F238E27FC236}">
                  <a16:creationId xmlns:a16="http://schemas.microsoft.com/office/drawing/2014/main" id="{D36F3286-472D-FD1F-B435-A39295CBB6E5}"/>
                </a:ext>
              </a:extLst>
            </p:cNvPr>
            <p:cNvSpPr/>
            <p:nvPr/>
          </p:nvSpPr>
          <p:spPr>
            <a:xfrm>
              <a:off x="7349773" y="2926994"/>
              <a:ext cx="109764" cy="2394576"/>
            </a:xfrm>
            <a:custGeom>
              <a:avLst/>
              <a:gdLst/>
              <a:ahLst/>
              <a:cxnLst/>
              <a:rect l="l" t="t" r="r" b="b"/>
              <a:pathLst>
                <a:path w="292813" h="6387957" extrusionOk="0">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59" name="Google Shape;367;g276d8240beb_2_4298">
              <a:extLst>
                <a:ext uri="{FF2B5EF4-FFF2-40B4-BE49-F238E27FC236}">
                  <a16:creationId xmlns:a16="http://schemas.microsoft.com/office/drawing/2014/main" id="{82425654-1D1B-5FEA-B656-6C77A3201ACF}"/>
                </a:ext>
              </a:extLst>
            </p:cNvPr>
            <p:cNvSpPr/>
            <p:nvPr/>
          </p:nvSpPr>
          <p:spPr>
            <a:xfrm>
              <a:off x="7548511" y="2927282"/>
              <a:ext cx="41911" cy="2569908"/>
            </a:xfrm>
            <a:custGeom>
              <a:avLst/>
              <a:gdLst/>
              <a:ahLst/>
              <a:cxnLst/>
              <a:rect l="l" t="t" r="r" b="b"/>
              <a:pathLst>
                <a:path w="111804" h="6855688" extrusionOk="0">
                  <a:moveTo>
                    <a:pt x="0" y="6853478"/>
                  </a:moveTo>
                  <a:cubicBezTo>
                    <a:pt x="14640" y="4603437"/>
                    <a:pt x="3155" y="2253123"/>
                    <a:pt x="6237" y="0"/>
                  </a:cubicBezTo>
                  <a:lnTo>
                    <a:pt x="111804" y="0"/>
                  </a:lnTo>
                  <a:lnTo>
                    <a:pt x="111804" y="6855688"/>
                  </a:ln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0" name="Google Shape;368;g276d8240beb_2_4298">
              <a:extLst>
                <a:ext uri="{FF2B5EF4-FFF2-40B4-BE49-F238E27FC236}">
                  <a16:creationId xmlns:a16="http://schemas.microsoft.com/office/drawing/2014/main" id="{520B9A13-05DE-E63A-D828-50FFED2D928A}"/>
                </a:ext>
              </a:extLst>
            </p:cNvPr>
            <p:cNvSpPr/>
            <p:nvPr/>
          </p:nvSpPr>
          <p:spPr>
            <a:xfrm>
              <a:off x="7485249" y="2926994"/>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1" name="Google Shape;369;g276d8240beb_2_4298">
              <a:extLst>
                <a:ext uri="{FF2B5EF4-FFF2-40B4-BE49-F238E27FC236}">
                  <a16:creationId xmlns:a16="http://schemas.microsoft.com/office/drawing/2014/main" id="{8FAD59E7-F08F-6120-AD8E-F8057DC3AEE8}"/>
                </a:ext>
              </a:extLst>
            </p:cNvPr>
            <p:cNvSpPr/>
            <p:nvPr/>
          </p:nvSpPr>
          <p:spPr>
            <a:xfrm>
              <a:off x="7616134" y="2926994"/>
              <a:ext cx="28885" cy="2567886"/>
            </a:xfrm>
            <a:custGeom>
              <a:avLst/>
              <a:gdLst/>
              <a:ahLst/>
              <a:cxnLst/>
              <a:rect l="l" t="t" r="r" b="b"/>
              <a:pathLst>
                <a:path w="77056" h="6850294" extrusionOk="0">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2" name="Google Shape;370;g276d8240beb_2_4298">
              <a:extLst>
                <a:ext uri="{FF2B5EF4-FFF2-40B4-BE49-F238E27FC236}">
                  <a16:creationId xmlns:a16="http://schemas.microsoft.com/office/drawing/2014/main" id="{0FB019D1-C1A4-A637-CD34-545FCCC4C0F2}"/>
                </a:ext>
              </a:extLst>
            </p:cNvPr>
            <p:cNvSpPr/>
            <p:nvPr/>
          </p:nvSpPr>
          <p:spPr>
            <a:xfrm>
              <a:off x="6838507" y="2926994"/>
              <a:ext cx="109764" cy="2394576"/>
            </a:xfrm>
            <a:custGeom>
              <a:avLst/>
              <a:gdLst/>
              <a:ahLst/>
              <a:cxnLst/>
              <a:rect l="l" t="t" r="r" b="b"/>
              <a:pathLst>
                <a:path w="292813" h="6387957" extrusionOk="0">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3" name="Google Shape;371;g276d8240beb_2_4298">
              <a:extLst>
                <a:ext uri="{FF2B5EF4-FFF2-40B4-BE49-F238E27FC236}">
                  <a16:creationId xmlns:a16="http://schemas.microsoft.com/office/drawing/2014/main" id="{197E37FB-833E-911F-8E96-84793D481F86}"/>
                </a:ext>
              </a:extLst>
            </p:cNvPr>
            <p:cNvSpPr/>
            <p:nvPr/>
          </p:nvSpPr>
          <p:spPr>
            <a:xfrm>
              <a:off x="6980994" y="2927282"/>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4" name="Google Shape;372;g276d8240beb_2_4298">
              <a:extLst>
                <a:ext uri="{FF2B5EF4-FFF2-40B4-BE49-F238E27FC236}">
                  <a16:creationId xmlns:a16="http://schemas.microsoft.com/office/drawing/2014/main" id="{470F98F2-7B99-A743-10B2-AB7DD305C6EC}"/>
                </a:ext>
              </a:extLst>
            </p:cNvPr>
            <p:cNvSpPr/>
            <p:nvPr/>
          </p:nvSpPr>
          <p:spPr>
            <a:xfrm>
              <a:off x="7065051" y="2926994"/>
              <a:ext cx="37550" cy="2394576"/>
            </a:xfrm>
            <a:custGeom>
              <a:avLst/>
              <a:gdLst/>
              <a:ahLst/>
              <a:cxnLst/>
              <a:rect l="l" t="t" r="r" b="b"/>
              <a:pathLst>
                <a:path w="100173" h="6387957" extrusionOk="0">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5" name="Google Shape;373;g276d8240beb_2_4298">
              <a:extLst>
                <a:ext uri="{FF2B5EF4-FFF2-40B4-BE49-F238E27FC236}">
                  <a16:creationId xmlns:a16="http://schemas.microsoft.com/office/drawing/2014/main" id="{080F76C9-A5EB-DD7C-058B-00A08ADF3164}"/>
                </a:ext>
              </a:extLst>
            </p:cNvPr>
            <p:cNvSpPr/>
            <p:nvPr/>
          </p:nvSpPr>
          <p:spPr>
            <a:xfrm>
              <a:off x="6754449" y="2926127"/>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6" name="Google Shape;374;g276d8240beb_2_4298">
              <a:extLst>
                <a:ext uri="{FF2B5EF4-FFF2-40B4-BE49-F238E27FC236}">
                  <a16:creationId xmlns:a16="http://schemas.microsoft.com/office/drawing/2014/main" id="{C2AA00D7-3969-3ADC-600B-B0C60EACAF27}"/>
                </a:ext>
              </a:extLst>
            </p:cNvPr>
            <p:cNvSpPr/>
            <p:nvPr/>
          </p:nvSpPr>
          <p:spPr>
            <a:xfrm>
              <a:off x="6334914" y="2927282"/>
              <a:ext cx="37550" cy="2394576"/>
            </a:xfrm>
            <a:custGeom>
              <a:avLst/>
              <a:gdLst/>
              <a:ahLst/>
              <a:cxnLst/>
              <a:rect l="l" t="t" r="r" b="b"/>
              <a:pathLst>
                <a:path w="100173" h="6387957" extrusionOk="0">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7" name="Google Shape;375;g276d8240beb_2_4298">
              <a:extLst>
                <a:ext uri="{FF2B5EF4-FFF2-40B4-BE49-F238E27FC236}">
                  <a16:creationId xmlns:a16="http://schemas.microsoft.com/office/drawing/2014/main" id="{8E8A5A6A-973F-848B-A4DF-BD66A761F9FE}"/>
                </a:ext>
              </a:extLst>
            </p:cNvPr>
            <p:cNvSpPr/>
            <p:nvPr/>
          </p:nvSpPr>
          <p:spPr>
            <a:xfrm>
              <a:off x="6159871" y="2926127"/>
              <a:ext cx="37550" cy="2397464"/>
            </a:xfrm>
            <a:custGeom>
              <a:avLst/>
              <a:gdLst/>
              <a:ahLst/>
              <a:cxnLst/>
              <a:rect l="l" t="t" r="r" b="b"/>
              <a:pathLst>
                <a:path w="100173" h="6395662" extrusionOk="0">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8" name="Google Shape;376;g276d8240beb_2_4298">
              <a:extLst>
                <a:ext uri="{FF2B5EF4-FFF2-40B4-BE49-F238E27FC236}">
                  <a16:creationId xmlns:a16="http://schemas.microsoft.com/office/drawing/2014/main" id="{F2A7C81D-1298-C877-7CDD-8CAB00D63CC5}"/>
                </a:ext>
              </a:extLst>
            </p:cNvPr>
            <p:cNvSpPr/>
            <p:nvPr/>
          </p:nvSpPr>
          <p:spPr>
            <a:xfrm>
              <a:off x="6231712" y="2926127"/>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69" name="Google Shape;377;g276d8240beb_2_4298">
              <a:extLst>
                <a:ext uri="{FF2B5EF4-FFF2-40B4-BE49-F238E27FC236}">
                  <a16:creationId xmlns:a16="http://schemas.microsoft.com/office/drawing/2014/main" id="{BA1AD329-81D7-AD84-65CA-2EA222CCF973}"/>
                </a:ext>
              </a:extLst>
            </p:cNvPr>
            <p:cNvSpPr/>
            <p:nvPr/>
          </p:nvSpPr>
          <p:spPr>
            <a:xfrm>
              <a:off x="6598401" y="2927282"/>
              <a:ext cx="37550" cy="2394576"/>
            </a:xfrm>
            <a:custGeom>
              <a:avLst/>
              <a:gdLst/>
              <a:ahLst/>
              <a:cxnLst/>
              <a:rect l="l" t="t" r="r" b="b"/>
              <a:pathLst>
                <a:path w="100173" h="6387957" extrusionOk="0">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0" name="Google Shape;378;g276d8240beb_2_4298">
              <a:extLst>
                <a:ext uri="{FF2B5EF4-FFF2-40B4-BE49-F238E27FC236}">
                  <a16:creationId xmlns:a16="http://schemas.microsoft.com/office/drawing/2014/main" id="{8358A3CC-7100-2863-D7F9-22F73188ED18}"/>
                </a:ext>
              </a:extLst>
            </p:cNvPr>
            <p:cNvSpPr/>
            <p:nvPr/>
          </p:nvSpPr>
          <p:spPr>
            <a:xfrm>
              <a:off x="6680669" y="2927282"/>
              <a:ext cx="37550" cy="2394576"/>
            </a:xfrm>
            <a:custGeom>
              <a:avLst/>
              <a:gdLst/>
              <a:ahLst/>
              <a:cxnLst/>
              <a:rect l="l" t="t" r="r" b="b"/>
              <a:pathLst>
                <a:path w="100173" h="6387957" extrusionOk="0">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1" name="Google Shape;379;g276d8240beb_2_4298">
              <a:extLst>
                <a:ext uri="{FF2B5EF4-FFF2-40B4-BE49-F238E27FC236}">
                  <a16:creationId xmlns:a16="http://schemas.microsoft.com/office/drawing/2014/main" id="{6313E914-4664-8377-5DB1-C0A1D0887795}"/>
                </a:ext>
              </a:extLst>
            </p:cNvPr>
            <p:cNvSpPr/>
            <p:nvPr/>
          </p:nvSpPr>
          <p:spPr>
            <a:xfrm>
              <a:off x="6516134" y="2927282"/>
              <a:ext cx="37550" cy="2394576"/>
            </a:xfrm>
            <a:custGeom>
              <a:avLst/>
              <a:gdLst/>
              <a:ahLst/>
              <a:cxnLst/>
              <a:rect l="l" t="t" r="r" b="b"/>
              <a:pathLst>
                <a:path w="100173" h="6387957" extrusionOk="0">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2" name="Google Shape;380;g276d8240beb_2_4298">
              <a:extLst>
                <a:ext uri="{FF2B5EF4-FFF2-40B4-BE49-F238E27FC236}">
                  <a16:creationId xmlns:a16="http://schemas.microsoft.com/office/drawing/2014/main" id="{94E82998-1357-4211-3CE7-51187A70A0F1}"/>
                </a:ext>
              </a:extLst>
            </p:cNvPr>
            <p:cNvSpPr/>
            <p:nvPr/>
          </p:nvSpPr>
          <p:spPr>
            <a:xfrm>
              <a:off x="6399205"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3" name="Google Shape;381;g276d8240beb_2_4298">
              <a:extLst>
                <a:ext uri="{FF2B5EF4-FFF2-40B4-BE49-F238E27FC236}">
                  <a16:creationId xmlns:a16="http://schemas.microsoft.com/office/drawing/2014/main" id="{206EC9A6-C79C-D89C-BA39-2DD6B33607EF}"/>
                </a:ext>
              </a:extLst>
            </p:cNvPr>
            <p:cNvSpPr/>
            <p:nvPr/>
          </p:nvSpPr>
          <p:spPr>
            <a:xfrm>
              <a:off x="5237391" y="2926127"/>
              <a:ext cx="144425" cy="2394576"/>
            </a:xfrm>
            <a:custGeom>
              <a:avLst/>
              <a:gdLst/>
              <a:ahLst/>
              <a:cxnLst/>
              <a:rect l="l" t="t" r="r" b="b"/>
              <a:pathLst>
                <a:path w="385280" h="6387957" extrusionOk="0">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4" name="Google Shape;382;g276d8240beb_2_4298">
              <a:extLst>
                <a:ext uri="{FF2B5EF4-FFF2-40B4-BE49-F238E27FC236}">
                  <a16:creationId xmlns:a16="http://schemas.microsoft.com/office/drawing/2014/main" id="{E3709920-9556-0365-EC4E-8843D90838F9}"/>
                </a:ext>
              </a:extLst>
            </p:cNvPr>
            <p:cNvSpPr/>
            <p:nvPr/>
          </p:nvSpPr>
          <p:spPr>
            <a:xfrm>
              <a:off x="5123269" y="2926994"/>
              <a:ext cx="72212" cy="2394576"/>
            </a:xfrm>
            <a:custGeom>
              <a:avLst/>
              <a:gdLst/>
              <a:ahLst/>
              <a:cxnLst/>
              <a:rect l="l" t="t" r="r" b="b"/>
              <a:pathLst>
                <a:path w="192640" h="6387957" extrusionOk="0">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5" name="Google Shape;383;g276d8240beb_2_4298">
              <a:extLst>
                <a:ext uri="{FF2B5EF4-FFF2-40B4-BE49-F238E27FC236}">
                  <a16:creationId xmlns:a16="http://schemas.microsoft.com/office/drawing/2014/main" id="{7A0D24C3-BC18-F240-62EE-F4A0B8ED59AE}"/>
                </a:ext>
              </a:extLst>
            </p:cNvPr>
            <p:cNvSpPr/>
            <p:nvPr/>
          </p:nvSpPr>
          <p:spPr>
            <a:xfrm>
              <a:off x="5611343" y="2927282"/>
              <a:ext cx="72212" cy="2394576"/>
            </a:xfrm>
            <a:custGeom>
              <a:avLst/>
              <a:gdLst/>
              <a:ahLst/>
              <a:cxnLst/>
              <a:rect l="l" t="t" r="r" b="b"/>
              <a:pathLst>
                <a:path w="192640" h="6387957" extrusionOk="0">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6" name="Google Shape;384;g276d8240beb_2_4298">
              <a:extLst>
                <a:ext uri="{FF2B5EF4-FFF2-40B4-BE49-F238E27FC236}">
                  <a16:creationId xmlns:a16="http://schemas.microsoft.com/office/drawing/2014/main" id="{E31546BA-F3C3-AEC3-176A-15ECF6815EEE}"/>
                </a:ext>
              </a:extLst>
            </p:cNvPr>
            <p:cNvSpPr/>
            <p:nvPr/>
          </p:nvSpPr>
          <p:spPr>
            <a:xfrm>
              <a:off x="5407259" y="2926994"/>
              <a:ext cx="37550" cy="2394576"/>
            </a:xfrm>
            <a:custGeom>
              <a:avLst/>
              <a:gdLst/>
              <a:ahLst/>
              <a:cxnLst/>
              <a:rect l="l" t="t" r="r" b="b"/>
              <a:pathLst>
                <a:path w="100173" h="6387957" extrusionOk="0">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7" name="Google Shape;385;g276d8240beb_2_4298">
              <a:extLst>
                <a:ext uri="{FF2B5EF4-FFF2-40B4-BE49-F238E27FC236}">
                  <a16:creationId xmlns:a16="http://schemas.microsoft.com/office/drawing/2014/main" id="{863ABAB7-87E4-C32C-2129-B18CF19F287B}"/>
                </a:ext>
              </a:extLst>
            </p:cNvPr>
            <p:cNvSpPr/>
            <p:nvPr/>
          </p:nvSpPr>
          <p:spPr>
            <a:xfrm>
              <a:off x="5470252" y="2926994"/>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78" name="Google Shape;386;g276d8240beb_2_4298">
              <a:extLst>
                <a:ext uri="{FF2B5EF4-FFF2-40B4-BE49-F238E27FC236}">
                  <a16:creationId xmlns:a16="http://schemas.microsoft.com/office/drawing/2014/main" id="{087565F3-B521-6F92-50DA-F4BF3C161277}"/>
                </a:ext>
              </a:extLst>
            </p:cNvPr>
            <p:cNvSpPr/>
            <p:nvPr/>
          </p:nvSpPr>
          <p:spPr>
            <a:xfrm>
              <a:off x="5533244" y="2926127"/>
              <a:ext cx="37550" cy="2394576"/>
            </a:xfrm>
            <a:custGeom>
              <a:avLst/>
              <a:gdLst/>
              <a:ahLst/>
              <a:cxnLst/>
              <a:rect l="l" t="t" r="r" b="b"/>
              <a:pathLst>
                <a:path w="100173" h="6387957" extrusionOk="0">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00000"/>
                </a:solidFill>
                <a:latin typeface="Times New Roman"/>
                <a:ea typeface="Times New Roman"/>
                <a:cs typeface="Times New Roman"/>
                <a:sym typeface="Times New Roman"/>
              </a:endParaRPr>
            </a:p>
          </p:txBody>
        </p:sp>
      </p:grpSp>
      <p:sp>
        <p:nvSpPr>
          <p:cNvPr id="79" name="Rectangle 78">
            <a:extLst>
              <a:ext uri="{FF2B5EF4-FFF2-40B4-BE49-F238E27FC236}">
                <a16:creationId xmlns:a16="http://schemas.microsoft.com/office/drawing/2014/main" id="{13110990-E188-A6CA-815C-82DE8B674228}"/>
              </a:ext>
            </a:extLst>
          </p:cNvPr>
          <p:cNvSpPr>
            <a:spLocks noChangeArrowheads="1"/>
          </p:cNvSpPr>
          <p:nvPr/>
        </p:nvSpPr>
        <p:spPr bwMode="auto">
          <a:xfrm>
            <a:off x="0" y="0"/>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tIns="0" bIns="180000" anchor="ctr"/>
          <a:lstStyle/>
          <a:p>
            <a:pPr algn="ctr">
              <a:lnSpc>
                <a:spcPct val="150000"/>
              </a:lnSpc>
              <a:spcBef>
                <a:spcPts val="480"/>
              </a:spcBef>
              <a:buClr>
                <a:schemeClr val="dk1"/>
              </a:buClr>
            </a:pPr>
            <a:r>
              <a:rPr lang="en-US" sz="2800" b="1" dirty="0">
                <a:solidFill>
                  <a:srgbClr val="FF0000"/>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2003574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0" y="2871527"/>
            <a:ext cx="12192000" cy="685800"/>
          </a:xfrm>
          <a:prstGeom prst="rect">
            <a:avLst/>
          </a:prstGeom>
          <a:solidFill>
            <a:srgbClr val="FFC000"/>
          </a:solidFill>
          <a:ln>
            <a:headEnd/>
            <a:tailEnd/>
          </a:ln>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anchor="ctr"/>
          <a:lstStyle/>
          <a:p>
            <a:pPr algn="ctr" eaLnBrk="0" hangingPunct="0"/>
            <a:r>
              <a:rPr lang="en-US" sz="4400" b="1" dirty="0">
                <a:solidFill>
                  <a:srgbClr val="FF0000"/>
                </a:solidFill>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3034023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TotalTime>
  <Words>5611</Words>
  <Application>Microsoft Office PowerPoint</Application>
  <PresentationFormat>Widescreen</PresentationFormat>
  <Paragraphs>270</Paragraphs>
  <Slides>31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Shreyas Kasture</dc:creator>
  <cp:lastModifiedBy>Shreyas Kasture</cp:lastModifiedBy>
  <cp:revision>41</cp:revision>
  <dcterms:created xsi:type="dcterms:W3CDTF">2025-10-28T17:27:50Z</dcterms:created>
  <dcterms:modified xsi:type="dcterms:W3CDTF">2025-10-29T10:23:35Z</dcterms:modified>
</cp:coreProperties>
</file>